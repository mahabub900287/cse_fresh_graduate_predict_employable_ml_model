
<file path=[Content_Types].xml><?xml version="1.0" encoding="utf-8"?>
<Types xmlns="http://schemas.openxmlformats.org/package/2006/content-types">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2.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3.xml" ContentType="application/vnd.openxmlformats-officedocument.drawingml.chart+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0" d="100"/>
          <a:sy n="70" d="100"/>
        </p:scale>
        <p:origin x="512"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1"/>
  <c:style val="2"/>
  <c:chart>
    <c:autoTitleDeleted val="1"/>
    <c:plotArea>
      <c:layout/>
      <c:doughnutChart>
        <c:varyColors val="1"/>
        <c:ser>
          <c:idx val="0"/>
          <c:order val="0"/>
          <c:tx>
            <c:strRef>
              <c:f>Sheet1!$B$1</c:f>
              <c:strCache>
                <c:ptCount val="1"/>
                <c:pt idx="0">
                  <c:v>Class</c:v>
                </c:pt>
              </c:strCache>
            </c:strRef>
          </c:tx>
          <c:spPr>
            <a:solidFill>
              <a:schemeClr val="accent1"/>
            </a:solidFill>
            <a:ln w="9525" cap="flat">
              <a:solidFill>
                <a:srgbClr val="F9F9F9"/>
              </a:solidFill>
              <a:prstDash val="solid"/>
              <a:round/>
            </a:ln>
            <a:effectLst/>
          </c:spPr>
          <c:dPt>
            <c:idx val="0"/>
            <c:bubble3D val="0"/>
            <c:spPr>
              <a:solidFill>
                <a:srgbClr val="6F9FCB"/>
              </a:solidFill>
              <a:ln w="12700" cap="flat">
                <a:solidFill>
                  <a:srgbClr val="F4F6F8"/>
                </a:solidFill>
                <a:prstDash val="solid"/>
                <a:round/>
              </a:ln>
              <a:effectLst/>
            </c:spPr>
          </c:dPt>
          <c:dPt>
            <c:idx val="1"/>
            <c:bubble3D val="0"/>
            <c:spPr>
              <a:solidFill>
                <a:srgbClr val="F2A56B"/>
              </a:solidFill>
              <a:ln w="12700" cap="flat">
                <a:solidFill>
                  <a:srgbClr val="F4F6F8"/>
                </a:solidFill>
                <a:prstDash val="solid"/>
                <a:round/>
              </a:ln>
              <a:effectLst/>
            </c:spPr>
          </c:dPt>
          <c:cat>
            <c:strRef>
              <c:f>Sheet1!$A$2:$A$3</c:f>
              <c:strCache>
                <c:ptCount val="2"/>
                <c:pt idx="0">
                  <c:v>Employable: 78.08% (39,040)</c:v>
                </c:pt>
                <c:pt idx="1">
                  <c:v>Not Employable: 21.92% (10,960)</c:v>
                </c:pt>
              </c:strCache>
            </c:strRef>
          </c:cat>
          <c:val>
            <c:numRef>
              <c:f>Sheet1!$B$2:$B$3</c:f>
              <c:numCache>
                <c:formatCode>General</c:formatCode>
                <c:ptCount val="2"/>
                <c:pt idx="0">
                  <c:v>78.08</c:v>
                </c:pt>
                <c:pt idx="1">
                  <c:v>21.92</c:v>
                </c:pt>
              </c:numCache>
            </c:numRef>
          </c:val>
        </c:ser>
        <c:dLbls>
          <c:showLegendKey val="0"/>
          <c:showVal val="0"/>
          <c:showCatName val="0"/>
          <c:showSerName val="0"/>
          <c:showPercent val="0"/>
          <c:showBubbleSize val="0"/>
          <c:showLeaderLines val="0"/>
        </c:dLbls>
        <c:firstSliceAng val="0"/>
        <c:holeSize val="58"/>
      </c:doughnutChart>
      <c:spPr>
        <a:noFill/>
        <a:ln>
          <a:noFill/>
        </a:ln>
        <a:effectLst/>
      </c:spPr>
    </c:plotArea>
    <c:legend>
      <c:legendPos val="b"/>
      <c:layout/>
      <c:overlay val="0"/>
      <c:txPr>
        <a:bodyPr/>
        <a:lstStyle/>
        <a:p>
          <a:pPr>
            <a:defRPr sz="1400">
              <a:solidFill>
                <a:srgbClr val="000000"/>
              </a:solidFill>
              <a:latin typeface="Times New Roman"/>
              <a:cs typeface="Times New Roman"/>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en-US"/>
  <c:roundedCorners val="1"/>
  <c:style val="2"/>
  <c:chart>
    <c:autoTitleDeleted val="1"/>
    <c:plotArea>
      <c:layout/>
      <c:barChart>
        <c:barDir val="col"/>
        <c:grouping val="clustered"/>
        <c:varyColors val="0"/>
        <c:ser>
          <c:idx val="0"/>
          <c:order val="0"/>
          <c:tx>
            <c:strRef>
              <c:f>Sheet1!$B$1</c:f>
              <c:strCache>
                <c:ptCount val="1"/>
                <c:pt idx="0">
                  <c:v>Accuracy</c:v>
                </c:pt>
              </c:strCache>
            </c:strRef>
          </c:tx>
          <c:spPr>
            <a:solidFill>
              <a:srgbClr val="6F9FCB"/>
            </a:solidFill>
            <a:ln w="9525" cap="flat">
              <a:solidFill>
                <a:srgbClr val="9DB7D3"/>
              </a:solidFill>
              <a:prstDash val="solid"/>
              <a:round/>
            </a:ln>
            <a:effectLst/>
          </c:spPr>
          <c:invertIfNegative val="0"/>
          <c:dLbls>
            <c:numFmt formatCode="0.0" sourceLinked="0"/>
            <c:spPr>
              <a:noFill/>
              <a:ln>
                <a:noFill/>
              </a:ln>
              <a:effectLst/>
            </c:spPr>
            <c:txPr>
              <a:bodyPr/>
              <a:lstStyle/>
              <a:p>
                <a:pPr>
                  <a:defRPr sz="1200" b="0" i="0" u="none" strike="noStrike">
                    <a:solidFill>
                      <a:srgbClr val="000000"/>
                    </a:solidFill>
                    <a:latin typeface="Times New Roman"/>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Sheet1!$A$2:$A$4</c:f>
              <c:strCache>
                <c:ptCount val="3"/>
                <c:pt idx="0">
                  <c:v>SMOTE + 0.35</c:v>
                </c:pt>
                <c:pt idx="1">
                  <c:v>Cut-off 0.50</c:v>
                </c:pt>
                <c:pt idx="2">
                  <c:v>Cut-off 0.300</c:v>
                </c:pt>
              </c:strCache>
            </c:strRef>
          </c:cat>
          <c:val>
            <c:numRef>
              <c:f>Sheet1!$B$2:$B$4</c:f>
              <c:numCache>
                <c:formatCode>General</c:formatCode>
                <c:ptCount val="3"/>
                <c:pt idx="0">
                  <c:v>63.8</c:v>
                </c:pt>
                <c:pt idx="1">
                  <c:v>81.7</c:v>
                </c:pt>
                <c:pt idx="2">
                  <c:v>78.7</c:v>
                </c:pt>
              </c:numCache>
            </c:numRef>
          </c:val>
        </c:ser>
        <c:ser>
          <c:idx val="1"/>
          <c:order val="1"/>
          <c:tx>
            <c:strRef>
              <c:f>Sheet1!$C$1</c:f>
              <c:strCache>
                <c:ptCount val="1"/>
                <c:pt idx="0">
                  <c:v>At-risk recall</c:v>
                </c:pt>
              </c:strCache>
            </c:strRef>
          </c:tx>
          <c:spPr>
            <a:solidFill>
              <a:srgbClr val="F2A56B"/>
            </a:solidFill>
            <a:ln w="9525" cap="flat">
              <a:solidFill>
                <a:srgbClr val="9DB7D3"/>
              </a:solidFill>
              <a:prstDash val="solid"/>
              <a:round/>
            </a:ln>
            <a:effectLst/>
          </c:spPr>
          <c:invertIfNegative val="0"/>
          <c:dLbls>
            <c:numFmt formatCode="0.0" sourceLinked="0"/>
            <c:spPr>
              <a:noFill/>
              <a:ln>
                <a:noFill/>
              </a:ln>
              <a:effectLst/>
            </c:spPr>
            <c:txPr>
              <a:bodyPr/>
              <a:lstStyle/>
              <a:p>
                <a:pPr>
                  <a:defRPr sz="1200" b="0" i="0" u="none" strike="noStrike">
                    <a:solidFill>
                      <a:srgbClr val="000000"/>
                    </a:solidFill>
                    <a:latin typeface="Times New Roman"/>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Sheet1!$A$2:$A$4</c:f>
              <c:strCache>
                <c:ptCount val="3"/>
                <c:pt idx="0">
                  <c:v>SMOTE + 0.35</c:v>
                </c:pt>
                <c:pt idx="1">
                  <c:v>Cut-off 0.50</c:v>
                </c:pt>
                <c:pt idx="2">
                  <c:v>Cut-off 0.300</c:v>
                </c:pt>
              </c:strCache>
            </c:strRef>
          </c:cat>
          <c:val>
            <c:numRef>
              <c:f>Sheet1!$C$2:$C$4</c:f>
              <c:numCache>
                <c:formatCode>General</c:formatCode>
                <c:ptCount val="3"/>
                <c:pt idx="0">
                  <c:v>85.3</c:v>
                </c:pt>
                <c:pt idx="1">
                  <c:v>35.5</c:v>
                </c:pt>
                <c:pt idx="2">
                  <c:v>63.4</c:v>
                </c:pt>
              </c:numCache>
            </c:numRef>
          </c:val>
        </c:ser>
        <c:ser>
          <c:idx val="2"/>
          <c:order val="2"/>
          <c:tx>
            <c:strRef>
              <c:f>Sheet1!$D$1</c:f>
              <c:strCache>
                <c:ptCount val="1"/>
                <c:pt idx="0">
                  <c:v>At-risk precision</c:v>
                </c:pt>
              </c:strCache>
            </c:strRef>
          </c:tx>
          <c:spPr>
            <a:solidFill>
              <a:srgbClr val="C9DDF0"/>
            </a:solidFill>
            <a:ln w="9525" cap="flat">
              <a:solidFill>
                <a:srgbClr val="9DB7D3"/>
              </a:solidFill>
              <a:prstDash val="solid"/>
              <a:round/>
            </a:ln>
            <a:effectLst/>
          </c:spPr>
          <c:invertIfNegative val="0"/>
          <c:dLbls>
            <c:numFmt formatCode="0.0" sourceLinked="0"/>
            <c:spPr>
              <a:noFill/>
              <a:ln>
                <a:noFill/>
              </a:ln>
              <a:effectLst/>
            </c:spPr>
            <c:txPr>
              <a:bodyPr/>
              <a:lstStyle/>
              <a:p>
                <a:pPr>
                  <a:defRPr sz="1200" b="0" i="0" u="none" strike="noStrike">
                    <a:solidFill>
                      <a:srgbClr val="000000"/>
                    </a:solidFill>
                    <a:latin typeface="Times New Roman"/>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Sheet1!$A$2:$A$4</c:f>
              <c:strCache>
                <c:ptCount val="3"/>
                <c:pt idx="0">
                  <c:v>SMOTE + 0.35</c:v>
                </c:pt>
                <c:pt idx="1">
                  <c:v>Cut-off 0.50</c:v>
                </c:pt>
                <c:pt idx="2">
                  <c:v>Cut-off 0.300</c:v>
                </c:pt>
              </c:strCache>
            </c:strRef>
          </c:cat>
          <c:val>
            <c:numRef>
              <c:f>Sheet1!$D$2:$D$4</c:f>
              <c:numCache>
                <c:formatCode>General</c:formatCode>
                <c:ptCount val="3"/>
                <c:pt idx="0">
                  <c:v>36</c:v>
                </c:pt>
                <c:pt idx="1">
                  <c:v>65.099999999999994</c:v>
                </c:pt>
                <c:pt idx="2">
                  <c:v>51.1</c:v>
                </c:pt>
              </c:numCache>
            </c:numRef>
          </c:val>
        </c:ser>
        <c:dLbls>
          <c:showLegendKey val="0"/>
          <c:showVal val="1"/>
          <c:showCatName val="0"/>
          <c:showSerName val="0"/>
          <c:showPercent val="0"/>
          <c:showBubbleSize val="0"/>
        </c:dLbls>
        <c:gapWidth val="60"/>
        <c:axId val="-1373918144"/>
        <c:axId val="-1373918688"/>
      </c:barChart>
      <c:catAx>
        <c:axId val="-137391814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000000"/>
                </a:solidFill>
                <a:latin typeface="Times New Roman"/>
              </a:defRPr>
            </a:pPr>
            <a:endParaRPr lang="en-US"/>
          </a:p>
        </c:txPr>
        <c:crossAx val="-1373918688"/>
        <c:crosses val="autoZero"/>
        <c:auto val="1"/>
        <c:lblAlgn val="ctr"/>
        <c:lblOffset val="100"/>
        <c:noMultiLvlLbl val="1"/>
      </c:catAx>
      <c:valAx>
        <c:axId val="-1373918688"/>
        <c:scaling>
          <c:orientation val="minMax"/>
          <c:max val="100"/>
          <c:min val="0"/>
        </c:scaling>
        <c:delete val="1"/>
        <c:axPos val="l"/>
        <c:numFmt formatCode="General" sourceLinked="0"/>
        <c:majorTickMark val="out"/>
        <c:minorTickMark val="none"/>
        <c:tickLblPos val="nextTo"/>
        <c:crossAx val="-1373918144"/>
        <c:crosses val="autoZero"/>
        <c:crossBetween val="between"/>
      </c:valAx>
      <c:spPr>
        <a:noFill/>
        <a:ln>
          <a:noFill/>
        </a:ln>
        <a:effectLst/>
      </c:spPr>
    </c:plotArea>
    <c:legend>
      <c:legendPos val="b"/>
      <c:layout/>
      <c:overlay val="0"/>
      <c:txPr>
        <a:bodyPr/>
        <a:lstStyle/>
        <a:p>
          <a:pPr>
            <a:defRPr sz="1400">
              <a:solidFill>
                <a:srgbClr val="000000"/>
              </a:solidFill>
              <a:latin typeface="Times New Roman"/>
              <a:cs typeface="Times New Roman"/>
            </a:defRPr>
          </a:pPr>
          <a:endParaRPr lang="en-US"/>
        </a:p>
      </c:txPr>
    </c:legend>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en-US"/>
  <c:roundedCorners val="1"/>
  <c:style val="2"/>
  <c:chart>
    <c:autoTitleDeleted val="1"/>
    <c:plotArea>
      <c:layout/>
      <c:barChart>
        <c:barDir val="bar"/>
        <c:grouping val="clustered"/>
        <c:varyColors val="0"/>
        <c:ser>
          <c:idx val="0"/>
          <c:order val="0"/>
          <c:tx>
            <c:strRef>
              <c:f>Sheet1!$B$1</c:f>
              <c:strCache>
                <c:ptCount val="1"/>
                <c:pt idx="0">
                  <c:v>Importance (%)</c:v>
                </c:pt>
              </c:strCache>
            </c:strRef>
          </c:tx>
          <c:spPr>
            <a:solidFill>
              <a:srgbClr val="6F9FCB"/>
            </a:solidFill>
            <a:effectLst/>
          </c:spPr>
          <c:invertIfNegative val="0"/>
          <c:dPt>
            <c:idx val="0"/>
            <c:invertIfNegative val="0"/>
            <c:bubble3D val="0"/>
          </c:dPt>
          <c:dPt>
            <c:idx val="1"/>
            <c:invertIfNegative val="0"/>
            <c:bubble3D val="0"/>
            <c:spPr>
              <a:solidFill>
                <a:srgbClr val="7DA8D0"/>
              </a:solidFill>
              <a:effectLst/>
            </c:spPr>
          </c:dPt>
          <c:dPt>
            <c:idx val="2"/>
            <c:invertIfNegative val="0"/>
            <c:bubble3D val="0"/>
            <c:spPr>
              <a:solidFill>
                <a:srgbClr val="8BB3D7"/>
              </a:solidFill>
              <a:effectLst/>
            </c:spPr>
          </c:dPt>
          <c:dPt>
            <c:idx val="3"/>
            <c:invertIfNegative val="0"/>
            <c:bubble3D val="0"/>
            <c:spPr>
              <a:solidFill>
                <a:srgbClr val="99BDDE"/>
              </a:solidFill>
              <a:effectLst/>
            </c:spPr>
          </c:dPt>
          <c:dPt>
            <c:idx val="4"/>
            <c:invertIfNegative val="0"/>
            <c:bubble3D val="0"/>
            <c:spPr>
              <a:solidFill>
                <a:srgbClr val="A7C7E4"/>
              </a:solidFill>
              <a:effectLst/>
            </c:spPr>
          </c:dPt>
          <c:dPt>
            <c:idx val="5"/>
            <c:invertIfNegative val="0"/>
            <c:bubble3D val="0"/>
            <c:spPr>
              <a:solidFill>
                <a:srgbClr val="B4D0E9"/>
              </a:solidFill>
              <a:effectLst/>
            </c:spPr>
          </c:dPt>
          <c:dPt>
            <c:idx val="6"/>
            <c:invertIfNegative val="0"/>
            <c:bubble3D val="0"/>
            <c:spPr>
              <a:solidFill>
                <a:srgbClr val="C0D8EE"/>
              </a:solidFill>
              <a:effectLst/>
            </c:spPr>
          </c:dPt>
          <c:dPt>
            <c:idx val="7"/>
            <c:invertIfNegative val="0"/>
            <c:bubble3D val="0"/>
            <c:spPr>
              <a:solidFill>
                <a:srgbClr val="CCE0F2"/>
              </a:solidFill>
              <a:effectLst/>
            </c:spPr>
          </c:dPt>
          <c:dPt>
            <c:idx val="8"/>
            <c:invertIfNegative val="0"/>
            <c:bubble3D val="0"/>
            <c:spPr>
              <a:solidFill>
                <a:srgbClr val="D8E8F5"/>
              </a:solidFill>
              <a:effectLst/>
            </c:spPr>
          </c:dPt>
          <c:dPt>
            <c:idx val="9"/>
            <c:invertIfNegative val="0"/>
            <c:bubble3D val="0"/>
            <c:spPr>
              <a:solidFill>
                <a:srgbClr val="E3EEF8"/>
              </a:solidFill>
              <a:effectLst/>
            </c:spPr>
          </c:dPt>
          <c:dLbls>
            <c:numFmt formatCode="0.0" sourceLinked="0"/>
            <c:spPr>
              <a:noFill/>
              <a:ln>
                <a:noFill/>
              </a:ln>
              <a:effectLst/>
            </c:spPr>
            <c:txPr>
              <a:bodyPr/>
              <a:lstStyle/>
              <a:p>
                <a:pPr>
                  <a:defRPr sz="1400" b="0" i="0" u="none" strike="noStrike">
                    <a:solidFill>
                      <a:srgbClr val="000000"/>
                    </a:solidFill>
                    <a:latin typeface="Times New Roman"/>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Sheet1!$A$2:$A$11</c:f>
              <c:strCache>
                <c:ptCount val="10"/>
                <c:pt idx="0">
                  <c:v>Resume_Score</c:v>
                </c:pt>
                <c:pt idx="1">
                  <c:v>Overall_Preparedness_Index</c:v>
                </c:pt>
                <c:pt idx="2">
                  <c:v>Programming_Skill</c:v>
                </c:pt>
                <c:pt idx="3">
                  <c:v>Internships</c:v>
                </c:pt>
                <c:pt idx="4">
                  <c:v>Problem_Solving</c:v>
                </c:pt>
                <c:pt idx="5">
                  <c:v>English_Proficiency</c:v>
                </c:pt>
                <c:pt idx="6">
                  <c:v>CGPA</c:v>
                </c:pt>
                <c:pt idx="7">
                  <c:v>Projects_Completed</c:v>
                </c:pt>
                <c:pt idx="8">
                  <c:v>Communication_Skills</c:v>
                </c:pt>
                <c:pt idx="9">
                  <c:v>Interview_Score</c:v>
                </c:pt>
              </c:strCache>
            </c:strRef>
          </c:cat>
          <c:val>
            <c:numRef>
              <c:f>Sheet1!$B$2:$B$11</c:f>
              <c:numCache>
                <c:formatCode>General</c:formatCode>
                <c:ptCount val="10"/>
                <c:pt idx="0">
                  <c:v>33.299999999999997</c:v>
                </c:pt>
                <c:pt idx="1">
                  <c:v>20.9</c:v>
                </c:pt>
                <c:pt idx="2">
                  <c:v>10.6</c:v>
                </c:pt>
                <c:pt idx="3">
                  <c:v>9.9</c:v>
                </c:pt>
                <c:pt idx="4">
                  <c:v>7.9</c:v>
                </c:pt>
                <c:pt idx="5">
                  <c:v>4.2</c:v>
                </c:pt>
                <c:pt idx="6">
                  <c:v>2.9</c:v>
                </c:pt>
                <c:pt idx="7">
                  <c:v>2.2999999999999998</c:v>
                </c:pt>
                <c:pt idx="8">
                  <c:v>1.9</c:v>
                </c:pt>
                <c:pt idx="9">
                  <c:v>1.1000000000000001</c:v>
                </c:pt>
              </c:numCache>
            </c:numRef>
          </c:val>
        </c:ser>
        <c:dLbls>
          <c:showLegendKey val="0"/>
          <c:showVal val="1"/>
          <c:showCatName val="0"/>
          <c:showSerName val="0"/>
          <c:showPercent val="0"/>
          <c:showBubbleSize val="0"/>
        </c:dLbls>
        <c:gapWidth val="35"/>
        <c:axId val="-1373922496"/>
        <c:axId val="-1373921952"/>
      </c:barChart>
      <c:catAx>
        <c:axId val="-1373922496"/>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400" b="0" i="0" u="none" strike="noStrike">
                <a:solidFill>
                  <a:srgbClr val="000000"/>
                </a:solidFill>
                <a:latin typeface="Times New Roman"/>
              </a:defRPr>
            </a:pPr>
            <a:endParaRPr lang="en-US"/>
          </a:p>
        </c:txPr>
        <c:crossAx val="-1373921952"/>
        <c:crosses val="autoZero"/>
        <c:auto val="1"/>
        <c:lblAlgn val="ctr"/>
        <c:lblOffset val="100"/>
        <c:noMultiLvlLbl val="1"/>
      </c:catAx>
      <c:valAx>
        <c:axId val="-1373921952"/>
        <c:scaling>
          <c:orientation val="minMax"/>
          <c:max val="40"/>
          <c:min val="0"/>
        </c:scaling>
        <c:delete val="1"/>
        <c:axPos val="t"/>
        <c:numFmt formatCode="General" sourceLinked="0"/>
        <c:majorTickMark val="out"/>
        <c:minorTickMark val="none"/>
        <c:tickLblPos val="low"/>
        <c:crossAx val="-1373922496"/>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317711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Team of three: Md. Mahabub Alam, Md. Al-Amin Miah, Subir Sarker Saurav; supervised by Kazi Hassan Robin, Department of CSE, World University of Bangladesh.</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Introduction slide: background (employability is multidimensional; computing skills age quickly; employers recruit on demonstrated capability), problem statement (strong ICT demand, yet graduates have the highest unemployment, 13.5%), why it matters (evidence arrives late and is not CSE-specific), motivation (an early, explainable signal), main objectives and scope (supervised classification, 50,000 Kaggle records, ICT role within 12 months). Thesis Sections 1.1-1.6.</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Bangladesh has a paradox: strong ICT demand but 13.5% unemployment among university graduates (BBS 2025), the highest of any education level. Statistics are not disaggregated by discipline, tracer studies report one to two years after graduation, and existing Bangladeshi research is perception-based. 885,000 / 2,620,000 = about 33.8% of the unemployed hold tertiary degrees. (Thesis Sections 1.1-1.2)</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objectives and four research questions. RQ1 maps to Objective 1, RQ2 and RQ3 to Objective 2, RQ4 to Objective 3 (Table 1.1). Scope (Table 1.2): fresh CSE graduates, a secondary Kaggle dataset of 50,000 records, a binary employment outcome, supervised classification with an interpretability layer. Later slides return to each RQ; slide 13 reports how far each was answered.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Reviewed studies: Group A single classifiers on narrow academic records; Group B ensembles with strong methods but no interpretability or Bangladeshi focus; Group C Bangladeshi studies that predict a different construct. Baffa 2023 reports ~98% on 218 records without class distribution, a sign of weak evaluation. Five gaps in Table 2.2: context-specific evidence, feature coverage, evaluation practice, interpretability, fairness. Note: this thesis addresses fairness only partially (audit by Major, slide 14). (Sections 2.5-2.7)</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Kaggle Student Career Success Prediction Dataset: 50,000 records, 23 columns. It is a secondary dataset, not Bangladesh-specific; features were chosen because they map onto six employability dimensions from the literature. Six demographic/contextual attributes were deliberately excluded so the model learns modifiable preparation rather than group membership. Two composites were engineered: Overall_Preparedness_Index = 0.7 x Interview_Score + 0.3 x Internships, and Skills_per_Project = Programming_Skill / (Projects_Completed + 1). Class balance is 78.08 : 21.92 (about 3.56 : 1). (Sections 5.1-5.4)</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Development followed an incremental model with five increments (Chapter 3). The executed pipeline: load and deduplicate, engineer two composites, drop the target and six excluded attributes, stratified 80:20 split BEFORE any transformation is fitted, then a ColumnTransformer plus XGBClassifier in a single pipeline. Hyperparameters chosen by RandomizedSearchCV (15 candidates, 3-fold): 200 rounds, learning rate 0.05, max depth 3. Final fit took 0.77 s. Note: the workflow differs from a SMOTE-based sequence because SMOTE was tested and removed (next slide). (Sections 3.3, 4.2, 5.6)</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defence point: SMOTE was implemented and tested but is NOT in the final pipeline. An earlier configuration combined SMOTE, scale_pos_weight (~3.56) and a 0.35 threshold: minority recall 85.3% but accuracy only 63.84% (below the 78.08% majority-class floor) and minority precision 0.36. The three levers compounded and over-corrected. The final model uses cross-validated hyperparameters and a threshold sweep: default 0.50 gives 81.70% accuracy but only 35.5% minority recall; 0.300 gives 78.69% accuracy with 63.4% recall. Raw data had zero missing values and zero duplicates; imputation and deduplication are still implemented in the pipeline. (Sections 5.3-5.7)</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four models were trained on the identical stratified 80:20 split with the same 18 features and compared at the default 0.50 threshold (Table 5.6). XGBoost: 200 rounds, learning rate 0.05, max depth 3, trained in 0.77 s. XGBoost was retained for its native feature-importance output and capacity for non-linear feature engineering, not because it won on accuracy. SVM was deliberately excluded for computational cost and is stated as a limitation. (Sections 5.6, 5.8)</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 5.6. Honest reading: four algorithms cluster within two percentage points on accuracy (81.09-81.96%) and 0.05 on minority recall (0.312-0.358). Tuned Logistic Regression is marginally higher than XGBoost on accuracy (0.8196 vs 0.8170) and AUC (0.8094 vs 0.8068). So this thesis does NOT claim XGBoost is the most accurate; this answers RQ3 in a qualified way. AUC for Decision Tree and Random Forest is not reported in the thesis table. Random Forest reaches 100% training accuracy (18.6 pp train-test gap), i.e. it memorises the training data. If asked why 0.50 here but 0.300 on the next slide: the comparison table uses the default threshold for all models; the deployed XGBoost operating point is 0.300. (Sections 5.7.1, 5.8)</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 5.5 / Figure 5.8. Deployment threshold 0.300, no SMOTE. Per-class: Employable precision 0.8899, recall 0.8298, F1 0.8588; Not Employable precision 0.5112, recall 0.6341, F1 0.5661. Accuracy 0.7869 = (6,479 + 1,390) / 10,000. Weighted F1 0.7946, macro F1 0.7124. ROC-AUC 0.8068 is moderate, not strong discrimination. Robustness: 5-fold CV accuracy 0.7851 +/- 0.0040, AUC 0.8075 +/- 0.0062; four seeds span 0.7838-0.7869 accuracy; training accuracy 0.7895 vs test 0.7869. Be ready to explain the trade-off: the default threshold misses 1,413 at-risk graduates, 0.300 misses 802. (Sections 5.7, 5.7.1)</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SHAP is NOT in the executed pipeline, so this slide uses XGBoost's native feature_importances_ (one-hot columns mapped back to raw attributes, normalised to sum to 1). Table 5.7: Resume_Score 0.333, Overall_Preparedness_Index 0.209, Programming_Skill 0.106, Internships 0.099, Problem_Solving 0.079, English_Proficiency 0.042, CGPA 0.029. Caveat 1: Overall_Preparedness_Index (0.7 x Interview_Score + 0.3 x Internships) ranks 2nd because depth-3 trees use it as a proxy for Interview_Score; it is not new information. Caveat 2: permutation importance (ROC-AUC drop on held-out data) gives Overall_Preparedness_Index 0.0134, Internships 0.0081, Resume_Score 0.0077, so Resume_Score does not dominate alone. Z-test (13 numeric attributes, all p &lt; 0.0001): strongest differentiators Resume_Score z = 47.18, Interview_Score 44.69, Internships 42.42. Importance is associational, not causal. (Section 5.10, 5.11)</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finding is tied to an objective and research question (Section 5.13). RQ1 addressed; RQ2 addressed with a bounded answer (AUC 0.81 is the ceiling); RQ3 addressed but qualified (no dominant algorithm, SVM not run); RQ4 only partially addressed because per-student SHAP attribution is not implemented. Fairness (gap G5) is not resolved: an audit-only check shows accuracy varies by Major. Practical caution: at precision 0.51, use the model only for low-stakes routing of students to optional guidance. (Sections 5.12, 5.13)</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Limitations come from Sections 5.14 and 6.2; future work from Section 6.3 and Table 6.1. The Major disparity (71.3% Business Analytics, 71.9% Electrical Engineering vs 86.0-86.8% AI and Software Engineering) comes from an audit-only analysis; Major was excluded from training but errors still differ by Major. Error analysis also shows false negatives have higher Resume_Score (mean 95.8 vs 79.6) and Interview_Score (74.3 vs 56.0): the model is misled by strong-looking profiles. Cohen's d effect sizes for the Z-tests are still outstanding.</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Conclusion (Chapter 6). Principal finding: the top four features (Resume_Score, Overall_Preparedness_Index, Programming_Skill, Internships) account for 74.6% of decision weight; CGPA ranks 7th. Performance conclusions are deliberately qualified: moderate predictability (AUC 0.81) and an accuracy/recall trade-off. Contribution is the interpretable, evaluated pipeline and the explicit boundaries of what it can claim. Recommended use: low-stakes routing of students to optional guidance, not allocation decisions.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for questions. Likely panel questions: why SMOTE was removed; why XGBoost if Logistic Regression is equal; why threshold 0.300; dataset is not Bangladeshi; no SHAP yet; Resume_Score vs permutation ranking; fairness by Major.</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658368"/>
            <a:ext cx="11091672" cy="640080"/>
          </a:xfrm>
          <a:prstGeom prst="rect">
            <a:avLst/>
          </a:prstGeom>
          <a:noFill/>
          <a:ln/>
        </p:spPr>
        <p:txBody>
          <a:bodyPr wrap="square" rtlCol="0"/>
          <a:lstStyle>
            <a:lvl1pPr marL="0" indent="0" algn="l">
              <a:buNone/>
              <a:defRPr lang="en-US" sz="2800" b="1" dirty="0">
                <a:solidFill>
                  <a:srgbClr val="000000"/>
                </a:solidFill>
                <a:latin typeface="Times New Roman" pitchFamily="34" charset="0"/>
                <a:ea typeface="Times New Roman" pitchFamily="34" charset="-122"/>
                <a:cs typeface="Times New Roman" pitchFamily="34" charset="-120"/>
              </a:defRPr>
            </a:lvl1pPr>
          </a:lstStyle>
          <a:p>
            <a:pPr marL="0" indent="0" algn="l">
              <a:buNone/>
            </a:pPr>
            <a:endParaRPr lang="en-US" sz="2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B6B7C"/>
                </a:solidFill>
                <a:latin typeface="Times New Roman"/>
                <a:ea typeface="Times New Roman"/>
                <a:cs typeface="Times New Roman"/>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B6B7C"/>
                </a:solidFill>
                <a:latin typeface="Times New Roman"/>
                <a:ea typeface="Times New Roman"/>
                <a:cs typeface="Times New Roman"/>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Times New Roman"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Times New Roman"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Times New Roman"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Times New Roman"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Times New Roman"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Times New Roman"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Times New Roman"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Times New Roman"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Times New Roman"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1097280" y="548640"/>
            <a:ext cx="9994392" cy="320040"/>
          </a:xfrm>
          <a:prstGeom prst="rect">
            <a:avLst/>
          </a:prstGeom>
          <a:noFill/>
          <a:ln/>
        </p:spPr>
        <p:txBody>
          <a:bodyPr wrap="square" lIns="0" tIns="0" rIns="0" bIns="0" rtlCol="0" anchor="t"/>
          <a:lstStyle/>
          <a:p>
            <a:pPr marL="0" indent="0" algn="ctr">
              <a:buNone/>
            </a:pPr>
            <a:r>
              <a:rPr lang="en-US" sz="1400" b="1" kern="0" spc="300" dirty="0">
                <a:solidFill>
                  <a:srgbClr val="000000"/>
                </a:solidFill>
                <a:latin typeface="Times New Roman" pitchFamily="34" charset="0"/>
                <a:ea typeface="Times New Roman" pitchFamily="34" charset="-122"/>
                <a:cs typeface="Times New Roman" pitchFamily="34" charset="-120"/>
              </a:rPr>
              <a:t>FINAL THESIS DEFENSE</a:t>
            </a:r>
            <a:endParaRPr lang="en-US" sz="1400" dirty="0"/>
          </a:p>
        </p:txBody>
      </p:sp>
      <p:sp>
        <p:nvSpPr>
          <p:cNvPr id="3" name="Text 1"/>
          <p:cNvSpPr txBox="1"/>
          <p:nvPr/>
        </p:nvSpPr>
        <p:spPr>
          <a:xfrm>
            <a:off x="1097280" y="1005840"/>
            <a:ext cx="9994392" cy="1737360"/>
          </a:xfrm>
          <a:prstGeom prst="rect">
            <a:avLst/>
          </a:prstGeom>
          <a:noFill/>
          <a:ln/>
        </p:spPr>
        <p:txBody>
          <a:bodyPr wrap="square" lIns="0" tIns="0" rIns="0" bIns="0" rtlCol="0" anchor="ctr"/>
          <a:lstStyle/>
          <a:p>
            <a:pPr marL="0" indent="0" algn="ctr">
              <a:buNone/>
            </a:pPr>
            <a:r>
              <a:rPr lang="en-US" sz="3200" b="1" dirty="0">
                <a:solidFill>
                  <a:srgbClr val="000000"/>
                </a:solidFill>
                <a:latin typeface="Times New Roman" pitchFamily="34" charset="0"/>
                <a:ea typeface="Times New Roman" pitchFamily="34" charset="-122"/>
                <a:cs typeface="Times New Roman" pitchFamily="34" charset="-120"/>
              </a:rPr>
              <a:t>“Predicting Employability of CSE Fresh Graduates in Bangladesh Using Machine Learning”</a:t>
            </a:r>
            <a:endParaRPr lang="en-US" sz="3200" dirty="0"/>
          </a:p>
        </p:txBody>
      </p:sp>
      <p:sp>
        <p:nvSpPr>
          <p:cNvPr id="4" name="Shape 2"/>
          <p:cNvSpPr/>
          <p:nvPr/>
        </p:nvSpPr>
        <p:spPr>
          <a:xfrm>
            <a:off x="1280160" y="3108960"/>
            <a:ext cx="9628632" cy="3154680"/>
          </a:xfrm>
          <a:prstGeom prst="roundRect">
            <a:avLst>
              <a:gd name="adj" fmla="val 2029"/>
            </a:avLst>
          </a:prstGeom>
          <a:solidFill>
            <a:srgbClr val="F4F6F8"/>
          </a:solidFill>
          <a:ln w="12700">
            <a:solidFill>
              <a:srgbClr val="D7DCE1"/>
            </a:solidFill>
            <a:prstDash val="solid"/>
          </a:ln>
        </p:spPr>
      </p:sp>
      <p:sp>
        <p:nvSpPr>
          <p:cNvPr id="5" name="Text 3"/>
          <p:cNvSpPr txBox="1"/>
          <p:nvPr/>
        </p:nvSpPr>
        <p:spPr>
          <a:xfrm>
            <a:off x="1737360" y="3429000"/>
            <a:ext cx="4114800" cy="320040"/>
          </a:xfrm>
          <a:prstGeom prst="rect">
            <a:avLst/>
          </a:prstGeom>
          <a:noFill/>
          <a:ln/>
        </p:spPr>
        <p:txBody>
          <a:bodyPr wrap="square" lIns="0" tIns="0" rIns="0" bIns="0" rtlCol="0" anchor="t"/>
          <a:lstStyle/>
          <a:p>
            <a:pPr marL="0" indent="0">
              <a:buNone/>
            </a:pPr>
            <a:r>
              <a:rPr lang="en-US" sz="1400" b="1" kern="0" spc="300" dirty="0">
                <a:solidFill>
                  <a:srgbClr val="000000"/>
                </a:solidFill>
                <a:latin typeface="Times New Roman" pitchFamily="34" charset="0"/>
                <a:ea typeface="Times New Roman" pitchFamily="34" charset="-122"/>
                <a:cs typeface="Times New Roman" pitchFamily="34" charset="-120"/>
              </a:rPr>
              <a:t>SUBMITTED BY</a:t>
            </a:r>
            <a:endParaRPr lang="en-US" sz="1400" dirty="0"/>
          </a:p>
        </p:txBody>
      </p:sp>
      <p:sp>
        <p:nvSpPr>
          <p:cNvPr id="6" name="Text 4"/>
          <p:cNvSpPr txBox="1"/>
          <p:nvPr/>
        </p:nvSpPr>
        <p:spPr>
          <a:xfrm>
            <a:off x="1737360" y="3931920"/>
            <a:ext cx="4114800" cy="365760"/>
          </a:xfrm>
          <a:prstGeom prst="rect">
            <a:avLst/>
          </a:prstGeom>
          <a:noFill/>
          <a:ln/>
        </p:spPr>
        <p:txBody>
          <a:bodyPr wrap="square" lIns="0" tIns="0" rIns="0" bIns="0" rtlCol="0" anchor="t"/>
          <a:lstStyle/>
          <a:p>
            <a:pPr marL="0" indent="0">
              <a:buNone/>
            </a:pPr>
            <a:r>
              <a:rPr lang="en-US" sz="2000" b="1" dirty="0">
                <a:solidFill>
                  <a:srgbClr val="000000"/>
                </a:solidFill>
                <a:latin typeface="Times New Roman" pitchFamily="34" charset="0"/>
                <a:ea typeface="Times New Roman" pitchFamily="34" charset="-122"/>
                <a:cs typeface="Times New Roman" pitchFamily="34" charset="-120"/>
              </a:rPr>
              <a:t>Md. Mahabub Alam</a:t>
            </a:r>
            <a:endParaRPr lang="en-US" sz="2000" dirty="0"/>
          </a:p>
        </p:txBody>
      </p:sp>
      <p:sp>
        <p:nvSpPr>
          <p:cNvPr id="7" name="Text 5"/>
          <p:cNvSpPr txBox="1"/>
          <p:nvPr/>
        </p:nvSpPr>
        <p:spPr>
          <a:xfrm>
            <a:off x="1737360" y="4297680"/>
            <a:ext cx="4114800" cy="292608"/>
          </a:xfrm>
          <a:prstGeom prst="rect">
            <a:avLst/>
          </a:prstGeom>
          <a:noFill/>
          <a:ln/>
        </p:spPr>
        <p:txBody>
          <a:bodyPr wrap="square" lIns="0" tIns="0" rIns="0" bIns="0" rtlCol="0" anchor="t"/>
          <a:lstStyle/>
          <a:p>
            <a:pPr marL="0" indent="0">
              <a:buNone/>
            </a:pPr>
            <a:r>
              <a:rPr lang="en-US" sz="1600" dirty="0">
                <a:solidFill>
                  <a:srgbClr val="5B6B7C"/>
                </a:solidFill>
                <a:latin typeface="Times New Roman" pitchFamily="34" charset="0"/>
                <a:ea typeface="Times New Roman" pitchFamily="34" charset="-122"/>
                <a:cs typeface="Times New Roman" pitchFamily="34" charset="-120"/>
              </a:rPr>
              <a:t>WUB 03/23/64/3835</a:t>
            </a:r>
            <a:endParaRPr lang="en-US" sz="1600" dirty="0"/>
          </a:p>
        </p:txBody>
      </p:sp>
      <p:sp>
        <p:nvSpPr>
          <p:cNvPr id="8" name="Text 6"/>
          <p:cNvSpPr txBox="1"/>
          <p:nvPr/>
        </p:nvSpPr>
        <p:spPr>
          <a:xfrm>
            <a:off x="1737360" y="4709160"/>
            <a:ext cx="4114800" cy="365760"/>
          </a:xfrm>
          <a:prstGeom prst="rect">
            <a:avLst/>
          </a:prstGeom>
          <a:noFill/>
          <a:ln/>
        </p:spPr>
        <p:txBody>
          <a:bodyPr wrap="square" lIns="0" tIns="0" rIns="0" bIns="0" rtlCol="0" anchor="t"/>
          <a:lstStyle/>
          <a:p>
            <a:pPr marL="0" indent="0">
              <a:buNone/>
            </a:pPr>
            <a:r>
              <a:rPr lang="en-US" sz="2000" b="1" dirty="0">
                <a:solidFill>
                  <a:srgbClr val="000000"/>
                </a:solidFill>
                <a:latin typeface="Times New Roman" pitchFamily="34" charset="0"/>
                <a:ea typeface="Times New Roman" pitchFamily="34" charset="-122"/>
                <a:cs typeface="Times New Roman" pitchFamily="34" charset="-120"/>
              </a:rPr>
              <a:t>Md. Al-Amin Miah</a:t>
            </a:r>
            <a:endParaRPr lang="en-US" sz="2000" dirty="0"/>
          </a:p>
        </p:txBody>
      </p:sp>
      <p:sp>
        <p:nvSpPr>
          <p:cNvPr id="9" name="Text 7"/>
          <p:cNvSpPr txBox="1"/>
          <p:nvPr/>
        </p:nvSpPr>
        <p:spPr>
          <a:xfrm>
            <a:off x="1737360" y="5074920"/>
            <a:ext cx="4114800" cy="292608"/>
          </a:xfrm>
          <a:prstGeom prst="rect">
            <a:avLst/>
          </a:prstGeom>
          <a:noFill/>
          <a:ln/>
        </p:spPr>
        <p:txBody>
          <a:bodyPr wrap="square" lIns="0" tIns="0" rIns="0" bIns="0" rtlCol="0" anchor="t"/>
          <a:lstStyle/>
          <a:p>
            <a:pPr marL="0" indent="0">
              <a:buNone/>
            </a:pPr>
            <a:r>
              <a:rPr lang="en-US" sz="1600" dirty="0">
                <a:solidFill>
                  <a:srgbClr val="5B6B7C"/>
                </a:solidFill>
                <a:latin typeface="Times New Roman" pitchFamily="34" charset="0"/>
                <a:ea typeface="Times New Roman" pitchFamily="34" charset="-122"/>
                <a:cs typeface="Times New Roman" pitchFamily="34" charset="-120"/>
              </a:rPr>
              <a:t>WUB 03/23/64/3829</a:t>
            </a:r>
            <a:endParaRPr lang="en-US" sz="1600" dirty="0"/>
          </a:p>
        </p:txBody>
      </p:sp>
      <p:sp>
        <p:nvSpPr>
          <p:cNvPr id="10" name="Text 8"/>
          <p:cNvSpPr txBox="1"/>
          <p:nvPr/>
        </p:nvSpPr>
        <p:spPr>
          <a:xfrm>
            <a:off x="1737360" y="5486400"/>
            <a:ext cx="4114800" cy="365760"/>
          </a:xfrm>
          <a:prstGeom prst="rect">
            <a:avLst/>
          </a:prstGeom>
          <a:noFill/>
          <a:ln/>
        </p:spPr>
        <p:txBody>
          <a:bodyPr wrap="square" lIns="0" tIns="0" rIns="0" bIns="0" rtlCol="0" anchor="t"/>
          <a:lstStyle/>
          <a:p>
            <a:pPr marL="0" indent="0">
              <a:buNone/>
            </a:pPr>
            <a:r>
              <a:rPr lang="en-US" sz="2000" b="1" dirty="0">
                <a:solidFill>
                  <a:srgbClr val="000000"/>
                </a:solidFill>
                <a:latin typeface="Times New Roman" pitchFamily="34" charset="0"/>
                <a:ea typeface="Times New Roman" pitchFamily="34" charset="-122"/>
                <a:cs typeface="Times New Roman" pitchFamily="34" charset="-120"/>
              </a:rPr>
              <a:t>Subir Sarker Saurav</a:t>
            </a:r>
            <a:endParaRPr lang="en-US" sz="2000" dirty="0"/>
          </a:p>
        </p:txBody>
      </p:sp>
      <p:sp>
        <p:nvSpPr>
          <p:cNvPr id="11" name="Text 9"/>
          <p:cNvSpPr txBox="1"/>
          <p:nvPr/>
        </p:nvSpPr>
        <p:spPr>
          <a:xfrm>
            <a:off x="1737360" y="5852160"/>
            <a:ext cx="4114800" cy="292608"/>
          </a:xfrm>
          <a:prstGeom prst="rect">
            <a:avLst/>
          </a:prstGeom>
          <a:noFill/>
          <a:ln/>
        </p:spPr>
        <p:txBody>
          <a:bodyPr wrap="square" lIns="0" tIns="0" rIns="0" bIns="0" rtlCol="0" anchor="t"/>
          <a:lstStyle/>
          <a:p>
            <a:pPr marL="0" indent="0">
              <a:buNone/>
            </a:pPr>
            <a:r>
              <a:rPr lang="en-US" sz="1600" dirty="0">
                <a:solidFill>
                  <a:srgbClr val="5B6B7C"/>
                </a:solidFill>
                <a:latin typeface="Times New Roman" pitchFamily="34" charset="0"/>
                <a:ea typeface="Times New Roman" pitchFamily="34" charset="-122"/>
                <a:cs typeface="Times New Roman" pitchFamily="34" charset="-120"/>
              </a:rPr>
              <a:t>WUB 03/23/64/3840</a:t>
            </a:r>
            <a:endParaRPr lang="en-US" sz="1600" dirty="0"/>
          </a:p>
        </p:txBody>
      </p:sp>
      <p:sp>
        <p:nvSpPr>
          <p:cNvPr id="12" name="Shape 10"/>
          <p:cNvSpPr/>
          <p:nvPr/>
        </p:nvSpPr>
        <p:spPr>
          <a:xfrm>
            <a:off x="6099048" y="3840480"/>
            <a:ext cx="0" cy="2148840"/>
          </a:xfrm>
          <a:prstGeom prst="line">
            <a:avLst/>
          </a:prstGeom>
          <a:noFill/>
          <a:ln w="38100">
            <a:solidFill>
              <a:srgbClr val="8C97A3"/>
            </a:solidFill>
            <a:prstDash val="sysDot"/>
          </a:ln>
        </p:spPr>
      </p:sp>
      <p:sp>
        <p:nvSpPr>
          <p:cNvPr id="13" name="Text 11"/>
          <p:cNvSpPr txBox="1"/>
          <p:nvPr/>
        </p:nvSpPr>
        <p:spPr>
          <a:xfrm>
            <a:off x="6492240" y="3429000"/>
            <a:ext cx="4114800" cy="320040"/>
          </a:xfrm>
          <a:prstGeom prst="rect">
            <a:avLst/>
          </a:prstGeom>
          <a:noFill/>
          <a:ln/>
        </p:spPr>
        <p:txBody>
          <a:bodyPr wrap="square" lIns="0" tIns="0" rIns="0" bIns="0" rtlCol="0" anchor="t"/>
          <a:lstStyle/>
          <a:p>
            <a:pPr marL="0" indent="0">
              <a:buNone/>
            </a:pPr>
            <a:r>
              <a:rPr lang="en-US" sz="1400" b="1" kern="0" spc="300" dirty="0">
                <a:solidFill>
                  <a:srgbClr val="000000"/>
                </a:solidFill>
                <a:latin typeface="Times New Roman" pitchFamily="34" charset="0"/>
                <a:ea typeface="Times New Roman" pitchFamily="34" charset="-122"/>
                <a:cs typeface="Times New Roman" pitchFamily="34" charset="-120"/>
              </a:rPr>
              <a:t>SUPERVISED BY</a:t>
            </a:r>
            <a:endParaRPr lang="en-US" sz="1400" dirty="0"/>
          </a:p>
        </p:txBody>
      </p:sp>
      <p:sp>
        <p:nvSpPr>
          <p:cNvPr id="14" name="Text 12"/>
          <p:cNvSpPr txBox="1"/>
          <p:nvPr/>
        </p:nvSpPr>
        <p:spPr>
          <a:xfrm>
            <a:off x="6492240" y="3931920"/>
            <a:ext cx="4297680" cy="365760"/>
          </a:xfrm>
          <a:prstGeom prst="rect">
            <a:avLst/>
          </a:prstGeom>
          <a:noFill/>
          <a:ln/>
        </p:spPr>
        <p:txBody>
          <a:bodyPr wrap="square" lIns="0" tIns="0" rIns="0" bIns="0" rtlCol="0" anchor="t"/>
          <a:lstStyle/>
          <a:p>
            <a:pPr marL="0" indent="0">
              <a:buNone/>
            </a:pPr>
            <a:r>
              <a:rPr lang="en-US" sz="2000" b="1" dirty="0">
                <a:solidFill>
                  <a:srgbClr val="000000"/>
                </a:solidFill>
                <a:latin typeface="Times New Roman" pitchFamily="34" charset="0"/>
                <a:ea typeface="Times New Roman" pitchFamily="34" charset="-122"/>
                <a:cs typeface="Times New Roman" pitchFamily="34" charset="-120"/>
              </a:rPr>
              <a:t>Kazi Hassan Robin</a:t>
            </a:r>
            <a:endParaRPr lang="en-US" sz="2000" dirty="0"/>
          </a:p>
        </p:txBody>
      </p:sp>
      <p:sp>
        <p:nvSpPr>
          <p:cNvPr id="15" name="Text 13"/>
          <p:cNvSpPr txBox="1"/>
          <p:nvPr/>
        </p:nvSpPr>
        <p:spPr>
          <a:xfrm>
            <a:off x="6492240" y="4315968"/>
            <a:ext cx="4297680" cy="1737360"/>
          </a:xfrm>
          <a:prstGeom prst="rect">
            <a:avLst/>
          </a:prstGeom>
          <a:noFill/>
          <a:ln/>
        </p:spPr>
        <p:txBody>
          <a:bodyPr wrap="square" lIns="0" tIns="0" rIns="0" bIns="0" rtlCol="0" anchor="t"/>
          <a:lstStyle/>
          <a:p>
            <a:pPr marL="0" indent="0">
              <a:spcAft>
                <a:spcPts val="400"/>
              </a:spcAft>
              <a:buNone/>
            </a:pPr>
            <a:r>
              <a:rPr lang="en-US" sz="1600" dirty="0">
                <a:solidFill>
                  <a:srgbClr val="5B6B7C"/>
                </a:solidFill>
                <a:latin typeface="Times New Roman" pitchFamily="34" charset="0"/>
                <a:ea typeface="Times New Roman" pitchFamily="34" charset="-122"/>
                <a:cs typeface="Times New Roman" pitchFamily="34" charset="-120"/>
              </a:rPr>
              <a:t>Associate Professor</a:t>
            </a:r>
            <a:endParaRPr lang="en-US" sz="1600" dirty="0"/>
          </a:p>
          <a:p>
            <a:pPr marL="0" indent="0">
              <a:spcAft>
                <a:spcPts val="400"/>
              </a:spcAft>
              <a:buNone/>
            </a:pPr>
            <a:r>
              <a:rPr lang="en-US" sz="1600" dirty="0">
                <a:solidFill>
                  <a:srgbClr val="5B6B7C"/>
                </a:solidFill>
                <a:latin typeface="Times New Roman" pitchFamily="34" charset="0"/>
                <a:ea typeface="Times New Roman" pitchFamily="34" charset="-122"/>
                <a:cs typeface="Times New Roman" pitchFamily="34" charset="-120"/>
              </a:rPr>
              <a:t>Department of Computer Science and Engineering</a:t>
            </a:r>
            <a:endParaRPr lang="en-US" sz="1600" dirty="0"/>
          </a:p>
          <a:p>
            <a:pPr marL="0" indent="0">
              <a:spcAft>
                <a:spcPts val="400"/>
              </a:spcAft>
              <a:buNone/>
            </a:pPr>
            <a:r>
              <a:rPr lang="en-US" sz="1600" dirty="0">
                <a:solidFill>
                  <a:srgbClr val="5B6B7C"/>
                </a:solidFill>
                <a:latin typeface="Times New Roman" pitchFamily="34" charset="0"/>
                <a:ea typeface="Times New Roman" pitchFamily="34" charset="-122"/>
                <a:cs typeface="Times New Roman" pitchFamily="34" charset="-120"/>
              </a:rPr>
              <a:t>World University of Bangladesh</a:t>
            </a:r>
            <a:endParaRPr lang="en-US" sz="1600" dirty="0"/>
          </a:p>
          <a:p>
            <a:pPr marL="0" indent="0">
              <a:spcAft>
                <a:spcPts val="400"/>
              </a:spcAft>
              <a:buNone/>
            </a:pPr>
            <a:r>
              <a:rPr lang="en-US" sz="1600" dirty="0">
                <a:solidFill>
                  <a:srgbClr val="5B6B7C"/>
                </a:solidFill>
                <a:latin typeface="Times New Roman" pitchFamily="34" charset="0"/>
                <a:ea typeface="Times New Roman" pitchFamily="34" charset="-122"/>
                <a:cs typeface="Times New Roman" pitchFamily="34" charset="-120"/>
              </a:rPr>
              <a:t>September 2026</a:t>
            </a:r>
            <a:endParaRPr lang="en-US" sz="16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B6B7C"/>
                </a:solidFill>
                <a:latin typeface="Times New Roman"/>
                <a:ea typeface="Times New Roman"/>
                <a:cs typeface="Times New Roman"/>
              </a:defRPr>
            </a:lvl1pPr>
          </a:lstStyle>
          <a:p>
            <a:pPr algn="r"/>
            <a:fld id="{F7021451-1387-4CA6-816F-3879F97B5CBC}" type="slidenum">
              <a:rPr lang="en-US" b="0"/>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365760"/>
            <a:ext cx="10058400" cy="274320"/>
          </a:xfrm>
          <a:prstGeom prst="rect">
            <a:avLst/>
          </a:prstGeom>
          <a:noFill/>
          <a:ln/>
        </p:spPr>
        <p:txBody>
          <a:bodyPr wrap="square" lIns="0" tIns="0" rIns="0" bIns="0" rtlCol="0" anchor="t"/>
          <a:lstStyle/>
          <a:p>
            <a:pPr marL="0" indent="0">
              <a:buNone/>
            </a:pPr>
            <a:r>
              <a:rPr lang="en-US" sz="1400" b="1" kern="0" spc="300" dirty="0">
                <a:solidFill>
                  <a:srgbClr val="000000"/>
                </a:solidFill>
                <a:latin typeface="Times New Roman" pitchFamily="34" charset="0"/>
                <a:ea typeface="Times New Roman" pitchFamily="34" charset="-122"/>
                <a:cs typeface="Times New Roman" pitchFamily="34" charset="-120"/>
              </a:rPr>
              <a:t>INTRODUCTION</a:t>
            </a:r>
            <a:endParaRPr lang="en-US" sz="1400" dirty="0"/>
          </a:p>
        </p:txBody>
      </p:sp>
      <p:sp>
        <p:nvSpPr>
          <p:cNvPr id="3" name="Text 0"/>
          <p:cNvSpPr>
            <a:spLocks noGrp="1"/>
          </p:cNvSpPr>
          <p:nvPr>
            <p:ph type="title" idx="100" hasCustomPrompt="1"/>
          </p:nvPr>
        </p:nvSpPr>
        <p:spPr>
          <a:xfrm>
            <a:off x="548640" y="658368"/>
            <a:ext cx="11091672" cy="640080"/>
          </a:xfrm>
          <a:prstGeom prst="rect">
            <a:avLst/>
          </a:prstGeom>
          <a:noFill/>
          <a:ln/>
        </p:spPr>
        <p:txBody>
          <a:bodyPr wrap="square" lIns="0" tIns="0" rIns="0" bIns="0" rtlCol="0" anchor="ctr"/>
          <a:lstStyle/>
          <a:p>
            <a:pPr marL="0" indent="0" algn="l">
              <a:buNone/>
            </a:pPr>
            <a:r>
              <a:rPr lang="en-US" sz="2800" b="1" dirty="0">
                <a:solidFill>
                  <a:srgbClr val="000000"/>
                </a:solidFill>
                <a:latin typeface="Times New Roman" pitchFamily="34" charset="0"/>
                <a:ea typeface="Times New Roman" pitchFamily="34" charset="-122"/>
                <a:cs typeface="Times New Roman" pitchFamily="34" charset="-120"/>
              </a:rPr>
              <a:t>What This Project Is About</a:t>
            </a:r>
            <a:endParaRPr lang="en-US" sz="2800" dirty="0"/>
          </a:p>
        </p:txBody>
      </p:sp>
      <p:sp>
        <p:nvSpPr>
          <p:cNvPr id="4" name="Text 2"/>
          <p:cNvSpPr txBox="1"/>
          <p:nvPr/>
        </p:nvSpPr>
        <p:spPr>
          <a:xfrm>
            <a:off x="548640" y="1371600"/>
            <a:ext cx="11091672" cy="731520"/>
          </a:xfrm>
          <a:prstGeom prst="rect">
            <a:avLst/>
          </a:prstGeom>
          <a:noFill/>
          <a:ln/>
        </p:spPr>
        <p:txBody>
          <a:bodyPr wrap="square" lIns="0" tIns="0" rIns="0" bIns="0" rtlCol="0" anchor="t"/>
          <a:lstStyle/>
          <a:p>
            <a:pPr marL="0" indent="0">
              <a:buNone/>
            </a:pPr>
            <a:r>
              <a:rPr lang="en-US" sz="1800" dirty="0">
                <a:solidFill>
                  <a:srgbClr val="000000"/>
                </a:solidFill>
                <a:latin typeface="Times New Roman" pitchFamily="34" charset="0"/>
                <a:ea typeface="Times New Roman" pitchFamily="34" charset="-122"/>
                <a:cs typeface="Times New Roman" pitchFamily="34" charset="-120"/>
              </a:rPr>
              <a:t>We use machine learning to estimate how likely a fresh CSE graduate in Bangladesh is to get a job, and to show which factors matter most.</a:t>
            </a:r>
            <a:endParaRPr lang="en-US" sz="1800" dirty="0"/>
          </a:p>
        </p:txBody>
      </p:sp>
      <p:sp>
        <p:nvSpPr>
          <p:cNvPr id="5" name="Shape 3"/>
          <p:cNvSpPr/>
          <p:nvPr/>
        </p:nvSpPr>
        <p:spPr>
          <a:xfrm>
            <a:off x="548640" y="2194560"/>
            <a:ext cx="3575304" cy="1783080"/>
          </a:xfrm>
          <a:prstGeom prst="roundRect">
            <a:avLst>
              <a:gd name="adj" fmla="val 3590"/>
            </a:avLst>
          </a:prstGeom>
          <a:solidFill>
            <a:srgbClr val="F4F6F8"/>
          </a:solidFill>
          <a:ln w="12700">
            <a:solidFill>
              <a:srgbClr val="D7DCE1"/>
            </a:solidFill>
            <a:prstDash val="solid"/>
          </a:ln>
        </p:spPr>
      </p:sp>
      <p:sp>
        <p:nvSpPr>
          <p:cNvPr id="6" name="Text 4"/>
          <p:cNvSpPr txBox="1"/>
          <p:nvPr/>
        </p:nvSpPr>
        <p:spPr>
          <a:xfrm>
            <a:off x="749808" y="2331720"/>
            <a:ext cx="3200400" cy="320040"/>
          </a:xfrm>
          <a:prstGeom prst="rect">
            <a:avLst/>
          </a:prstGeom>
          <a:noFill/>
          <a:ln/>
        </p:spPr>
        <p:txBody>
          <a:bodyPr wrap="square" lIns="0" tIns="0" rIns="0" bIns="0" rtlCol="0" anchor="t"/>
          <a:lstStyle/>
          <a:p>
            <a:pPr marL="0" indent="0">
              <a:buNone/>
            </a:pPr>
            <a:r>
              <a:rPr lang="en-US" sz="1400" b="1" kern="0" spc="300" dirty="0">
                <a:solidFill>
                  <a:srgbClr val="000000"/>
                </a:solidFill>
                <a:latin typeface="Times New Roman" pitchFamily="34" charset="0"/>
                <a:ea typeface="Times New Roman" pitchFamily="34" charset="-122"/>
                <a:cs typeface="Times New Roman" pitchFamily="34" charset="-120"/>
              </a:rPr>
              <a:t>BACKGROUND</a:t>
            </a:r>
            <a:endParaRPr lang="en-US" sz="1400" dirty="0"/>
          </a:p>
        </p:txBody>
      </p:sp>
      <p:sp>
        <p:nvSpPr>
          <p:cNvPr id="7" name="Text 5"/>
          <p:cNvSpPr txBox="1"/>
          <p:nvPr/>
        </p:nvSpPr>
        <p:spPr>
          <a:xfrm>
            <a:off x="749808" y="2724912"/>
            <a:ext cx="3200400" cy="1188720"/>
          </a:xfrm>
          <a:prstGeom prst="rect">
            <a:avLst/>
          </a:prstGeom>
          <a:noFill/>
          <a:ln/>
        </p:spPr>
        <p:txBody>
          <a:bodyPr wrap="square" lIns="0" tIns="0" rIns="0" bIns="0" rtlCol="0" anchor="t"/>
          <a:lstStyle/>
          <a:p>
            <a:pPr marL="0" indent="0">
              <a:buNone/>
            </a:pPr>
            <a:r>
              <a:rPr lang="en-US" sz="1800" dirty="0">
                <a:solidFill>
                  <a:srgbClr val="000000"/>
                </a:solidFill>
                <a:latin typeface="Times New Roman" pitchFamily="34" charset="0"/>
                <a:ea typeface="Times New Roman" pitchFamily="34" charset="-122"/>
                <a:cs typeface="Times New Roman" pitchFamily="34" charset="-120"/>
              </a:rPr>
              <a:t>Employability is skills and attributes, not only grades. In computing, skills change fast.</a:t>
            </a:r>
            <a:endParaRPr lang="en-US" sz="1800" dirty="0"/>
          </a:p>
        </p:txBody>
      </p:sp>
      <p:sp>
        <p:nvSpPr>
          <p:cNvPr id="8" name="Shape 6"/>
          <p:cNvSpPr/>
          <p:nvPr/>
        </p:nvSpPr>
        <p:spPr>
          <a:xfrm>
            <a:off x="4306824" y="2194560"/>
            <a:ext cx="3575304" cy="1783080"/>
          </a:xfrm>
          <a:prstGeom prst="roundRect">
            <a:avLst>
              <a:gd name="adj" fmla="val 3590"/>
            </a:avLst>
          </a:prstGeom>
          <a:solidFill>
            <a:srgbClr val="F4F6F8"/>
          </a:solidFill>
          <a:ln w="12700">
            <a:solidFill>
              <a:srgbClr val="D7DCE1"/>
            </a:solidFill>
            <a:prstDash val="solid"/>
          </a:ln>
        </p:spPr>
      </p:sp>
      <p:sp>
        <p:nvSpPr>
          <p:cNvPr id="9" name="Text 7"/>
          <p:cNvSpPr txBox="1"/>
          <p:nvPr/>
        </p:nvSpPr>
        <p:spPr>
          <a:xfrm>
            <a:off x="4507992" y="2331720"/>
            <a:ext cx="3200400" cy="320040"/>
          </a:xfrm>
          <a:prstGeom prst="rect">
            <a:avLst/>
          </a:prstGeom>
          <a:noFill/>
          <a:ln/>
        </p:spPr>
        <p:txBody>
          <a:bodyPr wrap="square" lIns="0" tIns="0" rIns="0" bIns="0" rtlCol="0" anchor="t"/>
          <a:lstStyle/>
          <a:p>
            <a:pPr marL="0" indent="0">
              <a:buNone/>
            </a:pPr>
            <a:r>
              <a:rPr lang="en-US" sz="1400" b="1" kern="0" spc="300" dirty="0">
                <a:solidFill>
                  <a:srgbClr val="000000"/>
                </a:solidFill>
                <a:latin typeface="Times New Roman" pitchFamily="34" charset="0"/>
                <a:ea typeface="Times New Roman" pitchFamily="34" charset="-122"/>
                <a:cs typeface="Times New Roman" pitchFamily="34" charset="-120"/>
              </a:rPr>
              <a:t>PROBLEM STATEMENT</a:t>
            </a:r>
            <a:endParaRPr lang="en-US" sz="1400" dirty="0"/>
          </a:p>
        </p:txBody>
      </p:sp>
      <p:sp>
        <p:nvSpPr>
          <p:cNvPr id="10" name="Text 8"/>
          <p:cNvSpPr txBox="1"/>
          <p:nvPr/>
        </p:nvSpPr>
        <p:spPr>
          <a:xfrm>
            <a:off x="4507992" y="2724912"/>
            <a:ext cx="3200400" cy="1188720"/>
          </a:xfrm>
          <a:prstGeom prst="rect">
            <a:avLst/>
          </a:prstGeom>
          <a:noFill/>
          <a:ln/>
        </p:spPr>
        <p:txBody>
          <a:bodyPr wrap="square" lIns="0" tIns="0" rIns="0" bIns="0" rtlCol="0" anchor="t"/>
          <a:lstStyle/>
          <a:p>
            <a:pPr marL="0" indent="0">
              <a:buNone/>
            </a:pPr>
            <a:r>
              <a:rPr lang="en-US" sz="1800" dirty="0">
                <a:solidFill>
                  <a:srgbClr val="000000"/>
                </a:solidFill>
                <a:latin typeface="Times New Roman" pitchFamily="34" charset="0"/>
                <a:ea typeface="Times New Roman" pitchFamily="34" charset="-122"/>
                <a:cs typeface="Times New Roman" pitchFamily="34" charset="-120"/>
              </a:rPr>
              <a:t>ICT demand is strong, yet graduates have the highest unemployment: 13.5%.</a:t>
            </a:r>
            <a:endParaRPr lang="en-US" sz="1800" dirty="0"/>
          </a:p>
        </p:txBody>
      </p:sp>
      <p:sp>
        <p:nvSpPr>
          <p:cNvPr id="11" name="Shape 9"/>
          <p:cNvSpPr/>
          <p:nvPr/>
        </p:nvSpPr>
        <p:spPr>
          <a:xfrm>
            <a:off x="8065008" y="2194560"/>
            <a:ext cx="3575304" cy="1783080"/>
          </a:xfrm>
          <a:prstGeom prst="roundRect">
            <a:avLst>
              <a:gd name="adj" fmla="val 3590"/>
            </a:avLst>
          </a:prstGeom>
          <a:solidFill>
            <a:srgbClr val="F4F6F8"/>
          </a:solidFill>
          <a:ln w="12700">
            <a:solidFill>
              <a:srgbClr val="D7DCE1"/>
            </a:solidFill>
            <a:prstDash val="solid"/>
          </a:ln>
        </p:spPr>
      </p:sp>
      <p:sp>
        <p:nvSpPr>
          <p:cNvPr id="12" name="Text 10"/>
          <p:cNvSpPr txBox="1"/>
          <p:nvPr/>
        </p:nvSpPr>
        <p:spPr>
          <a:xfrm>
            <a:off x="8266176" y="2331720"/>
            <a:ext cx="3200400" cy="320040"/>
          </a:xfrm>
          <a:prstGeom prst="rect">
            <a:avLst/>
          </a:prstGeom>
          <a:noFill/>
          <a:ln/>
        </p:spPr>
        <p:txBody>
          <a:bodyPr wrap="square" lIns="0" tIns="0" rIns="0" bIns="0" rtlCol="0" anchor="t"/>
          <a:lstStyle/>
          <a:p>
            <a:pPr marL="0" indent="0">
              <a:buNone/>
            </a:pPr>
            <a:r>
              <a:rPr lang="en-US" sz="1400" b="1" kern="0" spc="300" dirty="0">
                <a:solidFill>
                  <a:srgbClr val="000000"/>
                </a:solidFill>
                <a:latin typeface="Times New Roman" pitchFamily="34" charset="0"/>
                <a:ea typeface="Times New Roman" pitchFamily="34" charset="-122"/>
                <a:cs typeface="Times New Roman" pitchFamily="34" charset="-120"/>
              </a:rPr>
              <a:t>WHY IT MATTERS</a:t>
            </a:r>
            <a:endParaRPr lang="en-US" sz="1400" dirty="0"/>
          </a:p>
        </p:txBody>
      </p:sp>
      <p:sp>
        <p:nvSpPr>
          <p:cNvPr id="13" name="Text 11"/>
          <p:cNvSpPr txBox="1"/>
          <p:nvPr/>
        </p:nvSpPr>
        <p:spPr>
          <a:xfrm>
            <a:off x="8266176" y="2724912"/>
            <a:ext cx="3200400" cy="1188720"/>
          </a:xfrm>
          <a:prstGeom prst="rect">
            <a:avLst/>
          </a:prstGeom>
          <a:noFill/>
          <a:ln/>
        </p:spPr>
        <p:txBody>
          <a:bodyPr wrap="square" lIns="0" tIns="0" rIns="0" bIns="0" rtlCol="0" anchor="t"/>
          <a:lstStyle/>
          <a:p>
            <a:pPr marL="0" indent="0">
              <a:buNone/>
            </a:pPr>
            <a:r>
              <a:rPr lang="en-US" sz="1800" dirty="0">
                <a:solidFill>
                  <a:srgbClr val="000000"/>
                </a:solidFill>
                <a:latin typeface="Times New Roman" pitchFamily="34" charset="0"/>
                <a:ea typeface="Times New Roman" pitchFamily="34" charset="-122"/>
                <a:cs typeface="Times New Roman" pitchFamily="34" charset="-120"/>
              </a:rPr>
              <a:t>Survey results come 1 to 2 years late. Students need an early signal.</a:t>
            </a:r>
            <a:endParaRPr lang="en-US" sz="1800" dirty="0"/>
          </a:p>
        </p:txBody>
      </p:sp>
      <p:sp>
        <p:nvSpPr>
          <p:cNvPr id="14" name="Shape 12"/>
          <p:cNvSpPr/>
          <p:nvPr/>
        </p:nvSpPr>
        <p:spPr>
          <a:xfrm>
            <a:off x="548640" y="4114800"/>
            <a:ext cx="3575304" cy="1783080"/>
          </a:xfrm>
          <a:prstGeom prst="roundRect">
            <a:avLst>
              <a:gd name="adj" fmla="val 3590"/>
            </a:avLst>
          </a:prstGeom>
          <a:solidFill>
            <a:srgbClr val="E7EBEF"/>
          </a:solidFill>
          <a:ln w="12700">
            <a:solidFill>
              <a:srgbClr val="D7DCE1"/>
            </a:solidFill>
            <a:prstDash val="solid"/>
          </a:ln>
        </p:spPr>
      </p:sp>
      <p:sp>
        <p:nvSpPr>
          <p:cNvPr id="15" name="Text 13"/>
          <p:cNvSpPr txBox="1"/>
          <p:nvPr/>
        </p:nvSpPr>
        <p:spPr>
          <a:xfrm>
            <a:off x="749808" y="4251960"/>
            <a:ext cx="3200400" cy="320040"/>
          </a:xfrm>
          <a:prstGeom prst="rect">
            <a:avLst/>
          </a:prstGeom>
          <a:noFill/>
          <a:ln/>
        </p:spPr>
        <p:txBody>
          <a:bodyPr wrap="square" lIns="0" tIns="0" rIns="0" bIns="0" rtlCol="0" anchor="t"/>
          <a:lstStyle/>
          <a:p>
            <a:pPr marL="0" indent="0">
              <a:buNone/>
            </a:pPr>
            <a:r>
              <a:rPr lang="en-US" sz="1400" b="1" kern="0" spc="300" dirty="0">
                <a:solidFill>
                  <a:srgbClr val="000000"/>
                </a:solidFill>
                <a:latin typeface="Times New Roman" pitchFamily="34" charset="0"/>
                <a:ea typeface="Times New Roman" pitchFamily="34" charset="-122"/>
                <a:cs typeface="Times New Roman" pitchFamily="34" charset="-120"/>
              </a:rPr>
              <a:t>MOTIVATION</a:t>
            </a:r>
            <a:endParaRPr lang="en-US" sz="1400" dirty="0"/>
          </a:p>
        </p:txBody>
      </p:sp>
      <p:sp>
        <p:nvSpPr>
          <p:cNvPr id="16" name="Text 14"/>
          <p:cNvSpPr txBox="1"/>
          <p:nvPr/>
        </p:nvSpPr>
        <p:spPr>
          <a:xfrm>
            <a:off x="749808" y="4645152"/>
            <a:ext cx="3200400" cy="1188720"/>
          </a:xfrm>
          <a:prstGeom prst="rect">
            <a:avLst/>
          </a:prstGeom>
          <a:noFill/>
          <a:ln/>
        </p:spPr>
        <p:txBody>
          <a:bodyPr wrap="square" lIns="0" tIns="0" rIns="0" bIns="0" rtlCol="0" anchor="t"/>
          <a:lstStyle/>
          <a:p>
            <a:pPr marL="0" indent="0">
              <a:buNone/>
            </a:pPr>
            <a:r>
              <a:rPr lang="en-US" sz="1800" dirty="0">
                <a:solidFill>
                  <a:srgbClr val="000000"/>
                </a:solidFill>
                <a:latin typeface="Times New Roman" pitchFamily="34" charset="0"/>
                <a:ea typeface="Times New Roman" pitchFamily="34" charset="-122"/>
                <a:cs typeface="Times New Roman" pitchFamily="34" charset="-120"/>
              </a:rPr>
              <a:t>Skills build over many semesters, so an early, clear signal lets students act in time.</a:t>
            </a:r>
            <a:endParaRPr lang="en-US" sz="1800" dirty="0"/>
          </a:p>
        </p:txBody>
      </p:sp>
      <p:sp>
        <p:nvSpPr>
          <p:cNvPr id="17" name="Shape 15"/>
          <p:cNvSpPr/>
          <p:nvPr/>
        </p:nvSpPr>
        <p:spPr>
          <a:xfrm>
            <a:off x="4306824" y="4114800"/>
            <a:ext cx="3575304" cy="1783080"/>
          </a:xfrm>
          <a:prstGeom prst="roundRect">
            <a:avLst>
              <a:gd name="adj" fmla="val 3590"/>
            </a:avLst>
          </a:prstGeom>
          <a:solidFill>
            <a:srgbClr val="E7EBEF"/>
          </a:solidFill>
          <a:ln w="12700">
            <a:solidFill>
              <a:srgbClr val="D7DCE1"/>
            </a:solidFill>
            <a:prstDash val="solid"/>
          </a:ln>
        </p:spPr>
      </p:sp>
      <p:sp>
        <p:nvSpPr>
          <p:cNvPr id="18" name="Text 16"/>
          <p:cNvSpPr txBox="1"/>
          <p:nvPr/>
        </p:nvSpPr>
        <p:spPr>
          <a:xfrm>
            <a:off x="4507992" y="4251960"/>
            <a:ext cx="3200400" cy="320040"/>
          </a:xfrm>
          <a:prstGeom prst="rect">
            <a:avLst/>
          </a:prstGeom>
          <a:noFill/>
          <a:ln/>
        </p:spPr>
        <p:txBody>
          <a:bodyPr wrap="square" lIns="0" tIns="0" rIns="0" bIns="0" rtlCol="0" anchor="t"/>
          <a:lstStyle/>
          <a:p>
            <a:pPr marL="0" indent="0">
              <a:buNone/>
            </a:pPr>
            <a:r>
              <a:rPr lang="en-US" sz="1400" b="1" kern="0" spc="300" dirty="0">
                <a:solidFill>
                  <a:srgbClr val="000000"/>
                </a:solidFill>
                <a:latin typeface="Times New Roman" pitchFamily="34" charset="0"/>
                <a:ea typeface="Times New Roman" pitchFamily="34" charset="-122"/>
                <a:cs typeface="Times New Roman" pitchFamily="34" charset="-120"/>
              </a:rPr>
              <a:t>MAIN OBJECTIVES</a:t>
            </a:r>
            <a:endParaRPr lang="en-US" sz="1400" dirty="0"/>
          </a:p>
        </p:txBody>
      </p:sp>
      <p:sp>
        <p:nvSpPr>
          <p:cNvPr id="19" name="Text 17"/>
          <p:cNvSpPr txBox="1"/>
          <p:nvPr/>
        </p:nvSpPr>
        <p:spPr>
          <a:xfrm>
            <a:off x="4507992" y="4645152"/>
            <a:ext cx="3200400" cy="1188720"/>
          </a:xfrm>
          <a:prstGeom prst="rect">
            <a:avLst/>
          </a:prstGeom>
          <a:noFill/>
          <a:ln/>
        </p:spPr>
        <p:txBody>
          <a:bodyPr wrap="square" lIns="0" tIns="0" rIns="0" bIns="0" rtlCol="0" anchor="t"/>
          <a:lstStyle/>
          <a:p>
            <a:pPr marL="0" indent="0">
              <a:buNone/>
            </a:pPr>
            <a:r>
              <a:rPr lang="en-US" sz="1800" dirty="0">
                <a:solidFill>
                  <a:srgbClr val="000000"/>
                </a:solidFill>
                <a:latin typeface="Times New Roman" pitchFamily="34" charset="0"/>
                <a:ea typeface="Times New Roman" pitchFamily="34" charset="-122"/>
                <a:cs typeface="Times New Roman" pitchFamily="34" charset="-120"/>
              </a:rPr>
              <a:t>Find key factors. Build and compare models. Explain results and give advice.</a:t>
            </a:r>
            <a:endParaRPr lang="en-US" sz="1800" dirty="0"/>
          </a:p>
        </p:txBody>
      </p:sp>
      <p:sp>
        <p:nvSpPr>
          <p:cNvPr id="20" name="Shape 18"/>
          <p:cNvSpPr/>
          <p:nvPr/>
        </p:nvSpPr>
        <p:spPr>
          <a:xfrm>
            <a:off x="8065008" y="4114800"/>
            <a:ext cx="3575304" cy="1783080"/>
          </a:xfrm>
          <a:prstGeom prst="roundRect">
            <a:avLst>
              <a:gd name="adj" fmla="val 3590"/>
            </a:avLst>
          </a:prstGeom>
          <a:solidFill>
            <a:srgbClr val="E7EBEF"/>
          </a:solidFill>
          <a:ln w="12700">
            <a:solidFill>
              <a:srgbClr val="D7DCE1"/>
            </a:solidFill>
            <a:prstDash val="solid"/>
          </a:ln>
        </p:spPr>
      </p:sp>
      <p:sp>
        <p:nvSpPr>
          <p:cNvPr id="21" name="Text 19"/>
          <p:cNvSpPr txBox="1"/>
          <p:nvPr/>
        </p:nvSpPr>
        <p:spPr>
          <a:xfrm>
            <a:off x="8266176" y="4251960"/>
            <a:ext cx="3200400" cy="320040"/>
          </a:xfrm>
          <a:prstGeom prst="rect">
            <a:avLst/>
          </a:prstGeom>
          <a:noFill/>
          <a:ln/>
        </p:spPr>
        <p:txBody>
          <a:bodyPr wrap="square" lIns="0" tIns="0" rIns="0" bIns="0" rtlCol="0" anchor="t"/>
          <a:lstStyle/>
          <a:p>
            <a:pPr marL="0" indent="0">
              <a:buNone/>
            </a:pPr>
            <a:r>
              <a:rPr lang="en-US" sz="1400" b="1" kern="0" spc="300" dirty="0">
                <a:solidFill>
                  <a:srgbClr val="000000"/>
                </a:solidFill>
                <a:latin typeface="Times New Roman" pitchFamily="34" charset="0"/>
                <a:ea typeface="Times New Roman" pitchFamily="34" charset="-122"/>
                <a:cs typeface="Times New Roman" pitchFamily="34" charset="-120"/>
              </a:rPr>
              <a:t>SCOPE AND PURPOSE</a:t>
            </a:r>
            <a:endParaRPr lang="en-US" sz="1400" dirty="0"/>
          </a:p>
        </p:txBody>
      </p:sp>
      <p:sp>
        <p:nvSpPr>
          <p:cNvPr id="22" name="Text 20"/>
          <p:cNvSpPr txBox="1"/>
          <p:nvPr/>
        </p:nvSpPr>
        <p:spPr>
          <a:xfrm>
            <a:off x="8266176" y="4645152"/>
            <a:ext cx="3200400" cy="1188720"/>
          </a:xfrm>
          <a:prstGeom prst="rect">
            <a:avLst/>
          </a:prstGeom>
          <a:noFill/>
          <a:ln/>
        </p:spPr>
        <p:txBody>
          <a:bodyPr wrap="square" lIns="0" tIns="0" rIns="0" bIns="0" rtlCol="0" anchor="t"/>
          <a:lstStyle/>
          <a:p>
            <a:pPr marL="0" indent="0">
              <a:buNone/>
            </a:pPr>
            <a:r>
              <a:rPr lang="en-US" sz="1800" dirty="0">
                <a:solidFill>
                  <a:srgbClr val="000000"/>
                </a:solidFill>
                <a:latin typeface="Times New Roman" pitchFamily="34" charset="0"/>
                <a:ea typeface="Times New Roman" pitchFamily="34" charset="-122"/>
                <a:cs typeface="Times New Roman" pitchFamily="34" charset="-120"/>
              </a:rPr>
              <a:t>Supervised classification on 50,000 Kaggle records. Outcome: an ICT job within 12 months.</a:t>
            </a:r>
            <a:endParaRPr lang="en-US" sz="1800" dirty="0"/>
          </a:p>
        </p:txBody>
      </p:sp>
      <p:sp>
        <p:nvSpPr>
          <p:cNvPr id="23" name="Text 21"/>
          <p:cNvSpPr txBox="1"/>
          <p:nvPr/>
        </p:nvSpPr>
        <p:spPr>
          <a:xfrm>
            <a:off x="548640" y="6053328"/>
            <a:ext cx="10972800" cy="274320"/>
          </a:xfrm>
          <a:prstGeom prst="rect">
            <a:avLst/>
          </a:prstGeom>
          <a:noFill/>
          <a:ln/>
        </p:spPr>
        <p:txBody>
          <a:bodyPr wrap="square" lIns="0" tIns="0" rIns="0" bIns="0" rtlCol="0" anchor="t"/>
          <a:lstStyle/>
          <a:p>
            <a:pPr marL="0" indent="0">
              <a:buNone/>
            </a:pPr>
            <a:r>
              <a:rPr lang="en-US" sz="1400" i="1" dirty="0">
                <a:solidFill>
                  <a:srgbClr val="5B6B7C"/>
                </a:solidFill>
                <a:latin typeface="Times New Roman" pitchFamily="34" charset="0"/>
                <a:ea typeface="Times New Roman" pitchFamily="34" charset="-122"/>
                <a:cs typeface="Times New Roman" pitchFamily="34" charset="-120"/>
              </a:rPr>
              <a:t>Chapters 1 to 6 of the thesis are covered in the slides that follow.</a:t>
            </a:r>
            <a:endParaRPr lang="en-US" sz="14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B6B7C"/>
                </a:solidFill>
                <a:latin typeface="Times New Roman"/>
                <a:ea typeface="Times New Roman"/>
                <a:cs typeface="Times New Roman"/>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365760"/>
            <a:ext cx="10058400" cy="274320"/>
          </a:xfrm>
          <a:prstGeom prst="rect">
            <a:avLst/>
          </a:prstGeom>
          <a:noFill/>
          <a:ln/>
        </p:spPr>
        <p:txBody>
          <a:bodyPr wrap="square" lIns="0" tIns="0" rIns="0" bIns="0" rtlCol="0" anchor="t"/>
          <a:lstStyle/>
          <a:p>
            <a:pPr marL="0" indent="0">
              <a:buNone/>
            </a:pPr>
            <a:r>
              <a:rPr lang="en-US" sz="1400" b="1" kern="0" spc="300" dirty="0">
                <a:solidFill>
                  <a:srgbClr val="000000"/>
                </a:solidFill>
                <a:latin typeface="Times New Roman" pitchFamily="34" charset="0"/>
                <a:ea typeface="Times New Roman" pitchFamily="34" charset="-122"/>
                <a:cs typeface="Times New Roman" pitchFamily="34" charset="-120"/>
              </a:rPr>
              <a:t>CHAPTER 1 — THE PROBLEM</a:t>
            </a:r>
            <a:endParaRPr lang="en-US" sz="1400" dirty="0"/>
          </a:p>
        </p:txBody>
      </p:sp>
      <p:sp>
        <p:nvSpPr>
          <p:cNvPr id="3" name="Text 0"/>
          <p:cNvSpPr>
            <a:spLocks noGrp="1"/>
          </p:cNvSpPr>
          <p:nvPr>
            <p:ph type="title" idx="100" hasCustomPrompt="1"/>
          </p:nvPr>
        </p:nvSpPr>
        <p:spPr>
          <a:xfrm>
            <a:off x="548640" y="658368"/>
            <a:ext cx="11091672" cy="640080"/>
          </a:xfrm>
          <a:prstGeom prst="rect">
            <a:avLst/>
          </a:prstGeom>
          <a:noFill/>
          <a:ln/>
        </p:spPr>
        <p:txBody>
          <a:bodyPr wrap="square" lIns="0" tIns="0" rIns="0" bIns="0" rtlCol="0" anchor="ctr"/>
          <a:lstStyle/>
          <a:p>
            <a:pPr marL="0" indent="0" algn="l">
              <a:buNone/>
            </a:pPr>
            <a:r>
              <a:rPr lang="en-US" sz="2800" b="1" dirty="0">
                <a:solidFill>
                  <a:srgbClr val="000000"/>
                </a:solidFill>
                <a:latin typeface="Times New Roman" pitchFamily="34" charset="0"/>
                <a:ea typeface="Times New Roman" pitchFamily="34" charset="-122"/>
                <a:cs typeface="Times New Roman" pitchFamily="34" charset="-120"/>
              </a:rPr>
              <a:t>The Graduate Employability Paradox</a:t>
            </a:r>
            <a:endParaRPr lang="en-US" sz="2800" dirty="0"/>
          </a:p>
        </p:txBody>
      </p:sp>
      <p:sp>
        <p:nvSpPr>
          <p:cNvPr id="4" name="Text 2"/>
          <p:cNvSpPr txBox="1"/>
          <p:nvPr/>
        </p:nvSpPr>
        <p:spPr>
          <a:xfrm>
            <a:off x="548640" y="1417320"/>
            <a:ext cx="5394960" cy="1737360"/>
          </a:xfrm>
          <a:prstGeom prst="rect">
            <a:avLst/>
          </a:prstGeom>
          <a:noFill/>
          <a:ln/>
        </p:spPr>
        <p:txBody>
          <a:bodyPr wrap="square" lIns="0" tIns="0" rIns="0" bIns="0" rtlCol="0" anchor="t"/>
          <a:lstStyle/>
          <a:p>
            <a:pPr marL="0" indent="0">
              <a:buNone/>
            </a:pPr>
            <a:r>
              <a:rPr lang="en-US" sz="1800" dirty="0">
                <a:solidFill>
                  <a:srgbClr val="000000"/>
                </a:solidFill>
                <a:latin typeface="Times New Roman" pitchFamily="34" charset="0"/>
                <a:ea typeface="Times New Roman" pitchFamily="34" charset="-122"/>
                <a:cs typeface="Times New Roman" pitchFamily="34" charset="-120"/>
              </a:rPr>
              <a:t>About 2.62 million people were unemployed at the end of 2024, and roughly 885,000 held university degrees. Unemployment rises with education. The problem is not a lack of jobs, but a mismatch.</a:t>
            </a:r>
            <a:endParaRPr lang="en-US" sz="1800" dirty="0"/>
          </a:p>
        </p:txBody>
      </p:sp>
      <p:sp>
        <p:nvSpPr>
          <p:cNvPr id="5" name="Shape 3"/>
          <p:cNvSpPr/>
          <p:nvPr/>
        </p:nvSpPr>
        <p:spPr>
          <a:xfrm>
            <a:off x="548640" y="3337560"/>
            <a:ext cx="5394960" cy="1188720"/>
          </a:xfrm>
          <a:prstGeom prst="roundRect">
            <a:avLst>
              <a:gd name="adj" fmla="val 5385"/>
            </a:avLst>
          </a:prstGeom>
          <a:solidFill>
            <a:srgbClr val="F4F6F8"/>
          </a:solidFill>
          <a:ln w="12700">
            <a:solidFill>
              <a:srgbClr val="D7DCE1"/>
            </a:solidFill>
            <a:prstDash val="solid"/>
          </a:ln>
        </p:spPr>
      </p:sp>
      <p:sp>
        <p:nvSpPr>
          <p:cNvPr id="6" name="Text 4"/>
          <p:cNvSpPr txBox="1"/>
          <p:nvPr/>
        </p:nvSpPr>
        <p:spPr>
          <a:xfrm>
            <a:off x="777240" y="3337560"/>
            <a:ext cx="2103120" cy="1188720"/>
          </a:xfrm>
          <a:prstGeom prst="rect">
            <a:avLst/>
          </a:prstGeom>
          <a:noFill/>
          <a:ln/>
        </p:spPr>
        <p:txBody>
          <a:bodyPr wrap="square" lIns="0" tIns="0" rIns="0" bIns="0" rtlCol="0" anchor="ctr"/>
          <a:lstStyle/>
          <a:p>
            <a:pPr marL="0" indent="0">
              <a:buNone/>
            </a:pPr>
            <a:r>
              <a:rPr lang="en-US" sz="4000" b="1" dirty="0">
                <a:solidFill>
                  <a:srgbClr val="000000"/>
                </a:solidFill>
                <a:latin typeface="Times New Roman" pitchFamily="34" charset="0"/>
                <a:ea typeface="Times New Roman" pitchFamily="34" charset="-122"/>
                <a:cs typeface="Times New Roman" pitchFamily="34" charset="-120"/>
              </a:rPr>
              <a:t>13.5%</a:t>
            </a:r>
            <a:endParaRPr lang="en-US" sz="4000" dirty="0"/>
          </a:p>
        </p:txBody>
      </p:sp>
      <p:sp>
        <p:nvSpPr>
          <p:cNvPr id="7" name="Text 5"/>
          <p:cNvSpPr txBox="1"/>
          <p:nvPr/>
        </p:nvSpPr>
        <p:spPr>
          <a:xfrm>
            <a:off x="2926080" y="3337560"/>
            <a:ext cx="2834640" cy="1188720"/>
          </a:xfrm>
          <a:prstGeom prst="rect">
            <a:avLst/>
          </a:prstGeom>
          <a:noFill/>
          <a:ln/>
        </p:spPr>
        <p:txBody>
          <a:bodyPr wrap="square" lIns="0" tIns="0" rIns="0" bIns="0" rtlCol="0" anchor="ctr"/>
          <a:lstStyle/>
          <a:p>
            <a:pPr marL="0" indent="0">
              <a:buNone/>
            </a:pPr>
            <a:r>
              <a:rPr lang="en-US" sz="1600" dirty="0">
                <a:solidFill>
                  <a:srgbClr val="5B6B7C"/>
                </a:solidFill>
                <a:latin typeface="Times New Roman" pitchFamily="34" charset="0"/>
                <a:ea typeface="Times New Roman" pitchFamily="34" charset="-122"/>
                <a:cs typeface="Times New Roman" pitchFamily="34" charset="-120"/>
              </a:rPr>
              <a:t>Unemployment among university graduates, the highest of any education group</a:t>
            </a:r>
            <a:endParaRPr lang="en-US" sz="1600" dirty="0"/>
          </a:p>
        </p:txBody>
      </p:sp>
      <p:sp>
        <p:nvSpPr>
          <p:cNvPr id="8" name="Shape 6"/>
          <p:cNvSpPr/>
          <p:nvPr/>
        </p:nvSpPr>
        <p:spPr>
          <a:xfrm>
            <a:off x="548640" y="4709160"/>
            <a:ext cx="5394960" cy="1554480"/>
          </a:xfrm>
          <a:prstGeom prst="roundRect">
            <a:avLst>
              <a:gd name="adj" fmla="val 4118"/>
            </a:avLst>
          </a:prstGeom>
          <a:solidFill>
            <a:srgbClr val="E7EBEF"/>
          </a:solidFill>
          <a:ln w="12700">
            <a:solidFill>
              <a:srgbClr val="D7DCE1"/>
            </a:solidFill>
            <a:prstDash val="solid"/>
          </a:ln>
        </p:spPr>
      </p:sp>
      <p:sp>
        <p:nvSpPr>
          <p:cNvPr id="9" name="Text 7"/>
          <p:cNvSpPr txBox="1"/>
          <p:nvPr/>
        </p:nvSpPr>
        <p:spPr>
          <a:xfrm>
            <a:off x="777240" y="4828032"/>
            <a:ext cx="4937760" cy="320040"/>
          </a:xfrm>
          <a:prstGeom prst="rect">
            <a:avLst/>
          </a:prstGeom>
          <a:noFill/>
          <a:ln/>
        </p:spPr>
        <p:txBody>
          <a:bodyPr wrap="square" lIns="0" tIns="0" rIns="0" bIns="0" rtlCol="0" anchor="t"/>
          <a:lstStyle/>
          <a:p>
            <a:pPr marL="0" indent="0">
              <a:buNone/>
            </a:pPr>
            <a:r>
              <a:rPr lang="en-US" sz="1400" b="1" kern="0" spc="300" dirty="0">
                <a:solidFill>
                  <a:srgbClr val="000000"/>
                </a:solidFill>
                <a:latin typeface="Times New Roman" pitchFamily="34" charset="0"/>
                <a:ea typeface="Times New Roman" pitchFamily="34" charset="-122"/>
                <a:cs typeface="Times New Roman" pitchFamily="34" charset="-120"/>
              </a:rPr>
              <a:t>WHY IT MATTERS FOR CSE</a:t>
            </a:r>
            <a:endParaRPr lang="en-US" sz="1400" dirty="0"/>
          </a:p>
        </p:txBody>
      </p:sp>
      <p:sp>
        <p:nvSpPr>
          <p:cNvPr id="10" name="Text 8"/>
          <p:cNvSpPr txBox="1"/>
          <p:nvPr/>
        </p:nvSpPr>
        <p:spPr>
          <a:xfrm>
            <a:off x="777240" y="5166360"/>
            <a:ext cx="4937760" cy="1051560"/>
          </a:xfrm>
          <a:prstGeom prst="rect">
            <a:avLst/>
          </a:prstGeom>
          <a:noFill/>
          <a:ln/>
        </p:spPr>
        <p:txBody>
          <a:bodyPr wrap="square" lIns="0" tIns="0" rIns="0" bIns="0" rtlCol="0" anchor="t"/>
          <a:lstStyle/>
          <a:p>
            <a:pPr marL="0" indent="0">
              <a:buNone/>
            </a:pPr>
            <a:r>
              <a:rPr lang="en-US" sz="1800" dirty="0">
                <a:solidFill>
                  <a:srgbClr val="000000"/>
                </a:solidFill>
                <a:latin typeface="Times New Roman" pitchFamily="34" charset="0"/>
                <a:ea typeface="Times New Roman" pitchFamily="34" charset="-122"/>
                <a:cs typeface="Times New Roman" pitchFamily="34" charset="-120"/>
              </a:rPr>
              <a:t>CSE graduates do better than the national average, but a skills gap remains. National data are not split by discipline.</a:t>
            </a:r>
            <a:endParaRPr lang="en-US" sz="1800" dirty="0"/>
          </a:p>
        </p:txBody>
      </p:sp>
      <p:sp>
        <p:nvSpPr>
          <p:cNvPr id="11" name="Shape 9"/>
          <p:cNvSpPr/>
          <p:nvPr/>
        </p:nvSpPr>
        <p:spPr>
          <a:xfrm>
            <a:off x="6217920" y="1463040"/>
            <a:ext cx="5422392" cy="4800600"/>
          </a:xfrm>
          <a:prstGeom prst="roundRect">
            <a:avLst>
              <a:gd name="adj" fmla="val 1333"/>
            </a:avLst>
          </a:prstGeom>
          <a:solidFill>
            <a:srgbClr val="E7EBEF"/>
          </a:solidFill>
          <a:ln w="12700">
            <a:solidFill>
              <a:srgbClr val="D7DCE1"/>
            </a:solidFill>
            <a:prstDash val="solid"/>
          </a:ln>
        </p:spPr>
      </p:sp>
      <p:sp>
        <p:nvSpPr>
          <p:cNvPr id="12" name="Text 10"/>
          <p:cNvSpPr txBox="1"/>
          <p:nvPr/>
        </p:nvSpPr>
        <p:spPr>
          <a:xfrm>
            <a:off x="6446520" y="1627632"/>
            <a:ext cx="5029200" cy="320040"/>
          </a:xfrm>
          <a:prstGeom prst="rect">
            <a:avLst/>
          </a:prstGeom>
          <a:noFill/>
          <a:ln/>
        </p:spPr>
        <p:txBody>
          <a:bodyPr wrap="square" lIns="0" tIns="0" rIns="0" bIns="0" rtlCol="0" anchor="t"/>
          <a:lstStyle/>
          <a:p>
            <a:pPr marL="0" indent="0">
              <a:buNone/>
            </a:pPr>
            <a:r>
              <a:rPr lang="en-US" sz="1400" b="1" kern="0" spc="300" dirty="0">
                <a:solidFill>
                  <a:srgbClr val="000000"/>
                </a:solidFill>
                <a:latin typeface="Times New Roman" pitchFamily="34" charset="0"/>
                <a:ea typeface="Times New Roman" pitchFamily="34" charset="-122"/>
                <a:cs typeface="Times New Roman" pitchFamily="34" charset="-120"/>
              </a:rPr>
              <a:t>UNEMPLOYMENT BY EDUCATION, 2024</a:t>
            </a:r>
            <a:endParaRPr lang="en-US" sz="1400" dirty="0"/>
          </a:p>
        </p:txBody>
      </p:sp>
      <p:sp>
        <p:nvSpPr>
          <p:cNvPr id="13" name="Text 11"/>
          <p:cNvSpPr txBox="1"/>
          <p:nvPr/>
        </p:nvSpPr>
        <p:spPr>
          <a:xfrm>
            <a:off x="6446520" y="2194560"/>
            <a:ext cx="4754880" cy="292608"/>
          </a:xfrm>
          <a:prstGeom prst="rect">
            <a:avLst/>
          </a:prstGeom>
          <a:noFill/>
          <a:ln/>
        </p:spPr>
        <p:txBody>
          <a:bodyPr wrap="square" lIns="0" tIns="0" rIns="0" bIns="0" rtlCol="0" anchor="t"/>
          <a:lstStyle/>
          <a:p>
            <a:pPr marL="0" indent="0">
              <a:buNone/>
            </a:pPr>
            <a:r>
              <a:rPr lang="en-US" sz="1600" b="1" dirty="0">
                <a:solidFill>
                  <a:srgbClr val="000000"/>
                </a:solidFill>
                <a:latin typeface="Times New Roman" pitchFamily="34" charset="0"/>
                <a:ea typeface="Times New Roman" pitchFamily="34" charset="-122"/>
                <a:cs typeface="Times New Roman" pitchFamily="34" charset="-120"/>
              </a:rPr>
              <a:t>University graduates</a:t>
            </a:r>
            <a:endParaRPr lang="en-US" sz="1600" dirty="0"/>
          </a:p>
        </p:txBody>
      </p:sp>
      <p:sp>
        <p:nvSpPr>
          <p:cNvPr id="14" name="Shape 12"/>
          <p:cNvSpPr/>
          <p:nvPr/>
        </p:nvSpPr>
        <p:spPr>
          <a:xfrm>
            <a:off x="6446520" y="2542032"/>
            <a:ext cx="4023360" cy="274320"/>
          </a:xfrm>
          <a:prstGeom prst="roundRect">
            <a:avLst>
              <a:gd name="adj" fmla="val 13333"/>
            </a:avLst>
          </a:prstGeom>
          <a:solidFill>
            <a:srgbClr val="FFFFFF"/>
          </a:solidFill>
          <a:ln w="12700">
            <a:solidFill>
              <a:srgbClr val="D7DCE1"/>
            </a:solidFill>
            <a:prstDash val="solid"/>
          </a:ln>
        </p:spPr>
      </p:sp>
      <p:sp>
        <p:nvSpPr>
          <p:cNvPr id="15" name="Shape 13"/>
          <p:cNvSpPr/>
          <p:nvPr/>
        </p:nvSpPr>
        <p:spPr>
          <a:xfrm>
            <a:off x="6446520" y="2542032"/>
            <a:ext cx="3879669" cy="274320"/>
          </a:xfrm>
          <a:prstGeom prst="roundRect">
            <a:avLst>
              <a:gd name="adj" fmla="val 13333"/>
            </a:avLst>
          </a:prstGeom>
          <a:solidFill>
            <a:srgbClr val="6F9FCB"/>
          </a:solidFill>
          <a:ln w="12700">
            <a:solidFill>
              <a:srgbClr val="6F9FCB"/>
            </a:solidFill>
            <a:prstDash val="solid"/>
          </a:ln>
        </p:spPr>
      </p:sp>
      <p:sp>
        <p:nvSpPr>
          <p:cNvPr id="16" name="Text 14"/>
          <p:cNvSpPr txBox="1"/>
          <p:nvPr/>
        </p:nvSpPr>
        <p:spPr>
          <a:xfrm>
            <a:off x="10607040" y="2523744"/>
            <a:ext cx="914400" cy="310896"/>
          </a:xfrm>
          <a:prstGeom prst="rect">
            <a:avLst/>
          </a:prstGeom>
          <a:noFill/>
          <a:ln/>
        </p:spPr>
        <p:txBody>
          <a:bodyPr wrap="square" lIns="0" tIns="0" rIns="0" bIns="0" rtlCol="0" anchor="ctr"/>
          <a:lstStyle/>
          <a:p>
            <a:pPr marL="0" indent="0">
              <a:buNone/>
            </a:pPr>
            <a:r>
              <a:rPr lang="en-US" sz="1600" b="1" dirty="0">
                <a:solidFill>
                  <a:srgbClr val="000000"/>
                </a:solidFill>
                <a:latin typeface="Times New Roman" pitchFamily="34" charset="0"/>
                <a:ea typeface="Times New Roman" pitchFamily="34" charset="-122"/>
                <a:cs typeface="Times New Roman" pitchFamily="34" charset="-120"/>
              </a:rPr>
              <a:t>13.5%</a:t>
            </a:r>
            <a:endParaRPr lang="en-US" sz="1600" dirty="0"/>
          </a:p>
        </p:txBody>
      </p:sp>
      <p:sp>
        <p:nvSpPr>
          <p:cNvPr id="17" name="Text 15"/>
          <p:cNvSpPr txBox="1"/>
          <p:nvPr/>
        </p:nvSpPr>
        <p:spPr>
          <a:xfrm>
            <a:off x="6446520" y="3017520"/>
            <a:ext cx="4754880" cy="292608"/>
          </a:xfrm>
          <a:prstGeom prst="rect">
            <a:avLst/>
          </a:prstGeom>
          <a:noFill/>
          <a:ln/>
        </p:spPr>
        <p:txBody>
          <a:bodyPr wrap="square" lIns="0" tIns="0" rIns="0" bIns="0" rtlCol="0" anchor="t"/>
          <a:lstStyle/>
          <a:p>
            <a:pPr marL="0" indent="0">
              <a:buNone/>
            </a:pPr>
            <a:r>
              <a:rPr lang="en-US" sz="1600" b="1" dirty="0">
                <a:solidFill>
                  <a:srgbClr val="000000"/>
                </a:solidFill>
                <a:latin typeface="Times New Roman" pitchFamily="34" charset="0"/>
                <a:ea typeface="Times New Roman" pitchFamily="34" charset="-122"/>
                <a:cs typeface="Times New Roman" pitchFamily="34" charset="-120"/>
              </a:rPr>
              <a:t>Higher secondary</a:t>
            </a:r>
            <a:endParaRPr lang="en-US" sz="1600" dirty="0"/>
          </a:p>
        </p:txBody>
      </p:sp>
      <p:sp>
        <p:nvSpPr>
          <p:cNvPr id="18" name="Shape 16"/>
          <p:cNvSpPr/>
          <p:nvPr/>
        </p:nvSpPr>
        <p:spPr>
          <a:xfrm>
            <a:off x="6446520" y="3364992"/>
            <a:ext cx="4023360" cy="274320"/>
          </a:xfrm>
          <a:prstGeom prst="roundRect">
            <a:avLst>
              <a:gd name="adj" fmla="val 13333"/>
            </a:avLst>
          </a:prstGeom>
          <a:solidFill>
            <a:srgbClr val="FFFFFF"/>
          </a:solidFill>
          <a:ln w="12700">
            <a:solidFill>
              <a:srgbClr val="D7DCE1"/>
            </a:solidFill>
            <a:prstDash val="solid"/>
          </a:ln>
        </p:spPr>
      </p:sp>
      <p:sp>
        <p:nvSpPr>
          <p:cNvPr id="19" name="Shape 17"/>
          <p:cNvSpPr/>
          <p:nvPr/>
        </p:nvSpPr>
        <p:spPr>
          <a:xfrm>
            <a:off x="6446520" y="3364992"/>
            <a:ext cx="2049040" cy="274320"/>
          </a:xfrm>
          <a:prstGeom prst="roundRect">
            <a:avLst>
              <a:gd name="adj" fmla="val 13333"/>
            </a:avLst>
          </a:prstGeom>
          <a:solidFill>
            <a:srgbClr val="93B6D4"/>
          </a:solidFill>
          <a:ln w="12700">
            <a:solidFill>
              <a:srgbClr val="93B6D4"/>
            </a:solidFill>
            <a:prstDash val="solid"/>
          </a:ln>
        </p:spPr>
      </p:sp>
      <p:sp>
        <p:nvSpPr>
          <p:cNvPr id="20" name="Text 18"/>
          <p:cNvSpPr txBox="1"/>
          <p:nvPr/>
        </p:nvSpPr>
        <p:spPr>
          <a:xfrm>
            <a:off x="10607040" y="3346704"/>
            <a:ext cx="914400" cy="310896"/>
          </a:xfrm>
          <a:prstGeom prst="rect">
            <a:avLst/>
          </a:prstGeom>
          <a:noFill/>
          <a:ln/>
        </p:spPr>
        <p:txBody>
          <a:bodyPr wrap="square" lIns="0" tIns="0" rIns="0" bIns="0" rtlCol="0" anchor="ctr"/>
          <a:lstStyle/>
          <a:p>
            <a:pPr marL="0" indent="0">
              <a:buNone/>
            </a:pPr>
            <a:r>
              <a:rPr lang="en-US" sz="1600" b="1" dirty="0">
                <a:solidFill>
                  <a:srgbClr val="000000"/>
                </a:solidFill>
                <a:latin typeface="Times New Roman" pitchFamily="34" charset="0"/>
                <a:ea typeface="Times New Roman" pitchFamily="34" charset="-122"/>
                <a:cs typeface="Times New Roman" pitchFamily="34" charset="-120"/>
              </a:rPr>
              <a:t>7.13%</a:t>
            </a:r>
            <a:endParaRPr lang="en-US" sz="1600" dirty="0"/>
          </a:p>
        </p:txBody>
      </p:sp>
      <p:sp>
        <p:nvSpPr>
          <p:cNvPr id="21" name="Text 19"/>
          <p:cNvSpPr txBox="1"/>
          <p:nvPr/>
        </p:nvSpPr>
        <p:spPr>
          <a:xfrm>
            <a:off x="6446520" y="3840480"/>
            <a:ext cx="4754880" cy="292608"/>
          </a:xfrm>
          <a:prstGeom prst="rect">
            <a:avLst/>
          </a:prstGeom>
          <a:noFill/>
          <a:ln/>
        </p:spPr>
        <p:txBody>
          <a:bodyPr wrap="square" lIns="0" tIns="0" rIns="0" bIns="0" rtlCol="0" anchor="t"/>
          <a:lstStyle/>
          <a:p>
            <a:pPr marL="0" indent="0">
              <a:buNone/>
            </a:pPr>
            <a:r>
              <a:rPr lang="en-US" sz="1600" b="1" dirty="0">
                <a:solidFill>
                  <a:srgbClr val="000000"/>
                </a:solidFill>
                <a:latin typeface="Times New Roman" pitchFamily="34" charset="0"/>
                <a:ea typeface="Times New Roman" pitchFamily="34" charset="-122"/>
                <a:cs typeface="Times New Roman" pitchFamily="34" charset="-120"/>
              </a:rPr>
              <a:t>Secondary school</a:t>
            </a:r>
            <a:endParaRPr lang="en-US" sz="1600" dirty="0"/>
          </a:p>
        </p:txBody>
      </p:sp>
      <p:sp>
        <p:nvSpPr>
          <p:cNvPr id="22" name="Shape 20"/>
          <p:cNvSpPr/>
          <p:nvPr/>
        </p:nvSpPr>
        <p:spPr>
          <a:xfrm>
            <a:off x="6446520" y="4187952"/>
            <a:ext cx="4023360" cy="274320"/>
          </a:xfrm>
          <a:prstGeom prst="roundRect">
            <a:avLst>
              <a:gd name="adj" fmla="val 13333"/>
            </a:avLst>
          </a:prstGeom>
          <a:solidFill>
            <a:srgbClr val="FFFFFF"/>
          </a:solidFill>
          <a:ln w="12700">
            <a:solidFill>
              <a:srgbClr val="D7DCE1"/>
            </a:solidFill>
            <a:prstDash val="solid"/>
          </a:ln>
        </p:spPr>
      </p:sp>
      <p:sp>
        <p:nvSpPr>
          <p:cNvPr id="23" name="Shape 21"/>
          <p:cNvSpPr/>
          <p:nvPr/>
        </p:nvSpPr>
        <p:spPr>
          <a:xfrm>
            <a:off x="6446520" y="4187952"/>
            <a:ext cx="563270" cy="274320"/>
          </a:xfrm>
          <a:prstGeom prst="roundRect">
            <a:avLst>
              <a:gd name="adj" fmla="val 13333"/>
            </a:avLst>
          </a:prstGeom>
          <a:solidFill>
            <a:srgbClr val="BCC8D4"/>
          </a:solidFill>
          <a:ln w="12700">
            <a:solidFill>
              <a:srgbClr val="BCC8D4"/>
            </a:solidFill>
            <a:prstDash val="solid"/>
          </a:ln>
        </p:spPr>
      </p:sp>
      <p:sp>
        <p:nvSpPr>
          <p:cNvPr id="24" name="Text 22"/>
          <p:cNvSpPr txBox="1"/>
          <p:nvPr/>
        </p:nvSpPr>
        <p:spPr>
          <a:xfrm>
            <a:off x="10607040" y="4169664"/>
            <a:ext cx="914400" cy="310896"/>
          </a:xfrm>
          <a:prstGeom prst="rect">
            <a:avLst/>
          </a:prstGeom>
          <a:noFill/>
          <a:ln/>
        </p:spPr>
        <p:txBody>
          <a:bodyPr wrap="square" lIns="0" tIns="0" rIns="0" bIns="0" rtlCol="0" anchor="ctr"/>
          <a:lstStyle/>
          <a:p>
            <a:pPr marL="0" indent="0">
              <a:buNone/>
            </a:pPr>
            <a:r>
              <a:rPr lang="en-US" sz="1600" b="1" dirty="0">
                <a:solidFill>
                  <a:srgbClr val="000000"/>
                </a:solidFill>
                <a:latin typeface="Times New Roman" pitchFamily="34" charset="0"/>
                <a:ea typeface="Times New Roman" pitchFamily="34" charset="-122"/>
                <a:cs typeface="Times New Roman" pitchFamily="34" charset="-120"/>
              </a:rPr>
              <a:t>1.96%</a:t>
            </a:r>
            <a:endParaRPr lang="en-US" sz="1600" dirty="0"/>
          </a:p>
        </p:txBody>
      </p:sp>
      <p:sp>
        <p:nvSpPr>
          <p:cNvPr id="25" name="Text 23"/>
          <p:cNvSpPr txBox="1"/>
          <p:nvPr/>
        </p:nvSpPr>
        <p:spPr>
          <a:xfrm>
            <a:off x="6446520" y="4663440"/>
            <a:ext cx="4754880" cy="292608"/>
          </a:xfrm>
          <a:prstGeom prst="rect">
            <a:avLst/>
          </a:prstGeom>
          <a:noFill/>
          <a:ln/>
        </p:spPr>
        <p:txBody>
          <a:bodyPr wrap="square" lIns="0" tIns="0" rIns="0" bIns="0" rtlCol="0" anchor="t"/>
          <a:lstStyle/>
          <a:p>
            <a:pPr marL="0" indent="0">
              <a:buNone/>
            </a:pPr>
            <a:r>
              <a:rPr lang="en-US" sz="1600" b="1" dirty="0">
                <a:solidFill>
                  <a:srgbClr val="000000"/>
                </a:solidFill>
                <a:latin typeface="Times New Roman" pitchFamily="34" charset="0"/>
                <a:ea typeface="Times New Roman" pitchFamily="34" charset="-122"/>
                <a:cs typeface="Times New Roman" pitchFamily="34" charset="-120"/>
              </a:rPr>
              <a:t>No formal education</a:t>
            </a:r>
            <a:endParaRPr lang="en-US" sz="1600" dirty="0"/>
          </a:p>
        </p:txBody>
      </p:sp>
      <p:sp>
        <p:nvSpPr>
          <p:cNvPr id="26" name="Shape 24"/>
          <p:cNvSpPr/>
          <p:nvPr/>
        </p:nvSpPr>
        <p:spPr>
          <a:xfrm>
            <a:off x="6446520" y="5010912"/>
            <a:ext cx="4023360" cy="274320"/>
          </a:xfrm>
          <a:prstGeom prst="roundRect">
            <a:avLst>
              <a:gd name="adj" fmla="val 13333"/>
            </a:avLst>
          </a:prstGeom>
          <a:solidFill>
            <a:srgbClr val="FFFFFF"/>
          </a:solidFill>
          <a:ln w="12700">
            <a:solidFill>
              <a:srgbClr val="D7DCE1"/>
            </a:solidFill>
            <a:prstDash val="solid"/>
          </a:ln>
        </p:spPr>
      </p:sp>
      <p:sp>
        <p:nvSpPr>
          <p:cNvPr id="27" name="Shape 25"/>
          <p:cNvSpPr/>
          <p:nvPr/>
        </p:nvSpPr>
        <p:spPr>
          <a:xfrm>
            <a:off x="6446520" y="5010912"/>
            <a:ext cx="359229" cy="274320"/>
          </a:xfrm>
          <a:prstGeom prst="roundRect">
            <a:avLst>
              <a:gd name="adj" fmla="val 13333"/>
            </a:avLst>
          </a:prstGeom>
          <a:solidFill>
            <a:srgbClr val="BCC8D4"/>
          </a:solidFill>
          <a:ln w="12700">
            <a:solidFill>
              <a:srgbClr val="BCC8D4"/>
            </a:solidFill>
            <a:prstDash val="solid"/>
          </a:ln>
        </p:spPr>
      </p:sp>
      <p:sp>
        <p:nvSpPr>
          <p:cNvPr id="28" name="Text 26"/>
          <p:cNvSpPr txBox="1"/>
          <p:nvPr/>
        </p:nvSpPr>
        <p:spPr>
          <a:xfrm>
            <a:off x="10607040" y="4992624"/>
            <a:ext cx="914400" cy="310896"/>
          </a:xfrm>
          <a:prstGeom prst="rect">
            <a:avLst/>
          </a:prstGeom>
          <a:noFill/>
          <a:ln/>
        </p:spPr>
        <p:txBody>
          <a:bodyPr wrap="square" lIns="0" tIns="0" rIns="0" bIns="0" rtlCol="0" anchor="ctr"/>
          <a:lstStyle/>
          <a:p>
            <a:pPr marL="0" indent="0">
              <a:buNone/>
            </a:pPr>
            <a:r>
              <a:rPr lang="en-US" sz="1600" b="1" dirty="0">
                <a:solidFill>
                  <a:srgbClr val="000000"/>
                </a:solidFill>
                <a:latin typeface="Times New Roman" pitchFamily="34" charset="0"/>
                <a:ea typeface="Times New Roman" pitchFamily="34" charset="-122"/>
                <a:cs typeface="Times New Roman" pitchFamily="34" charset="-120"/>
              </a:rPr>
              <a:t>1.25%</a:t>
            </a:r>
            <a:endParaRPr lang="en-US" sz="1600" dirty="0"/>
          </a:p>
        </p:txBody>
      </p:sp>
      <p:sp>
        <p:nvSpPr>
          <p:cNvPr id="29" name="Text 27"/>
          <p:cNvSpPr txBox="1"/>
          <p:nvPr/>
        </p:nvSpPr>
        <p:spPr>
          <a:xfrm>
            <a:off x="6446520" y="5486400"/>
            <a:ext cx="4983480" cy="502920"/>
          </a:xfrm>
          <a:prstGeom prst="rect">
            <a:avLst/>
          </a:prstGeom>
          <a:noFill/>
          <a:ln/>
        </p:spPr>
        <p:txBody>
          <a:bodyPr wrap="square" lIns="0" tIns="0" rIns="0" bIns="0" rtlCol="0" anchor="t"/>
          <a:lstStyle/>
          <a:p>
            <a:pPr marL="0" indent="0">
              <a:buNone/>
            </a:pPr>
            <a:r>
              <a:rPr lang="en-US" sz="1400" i="1" dirty="0">
                <a:solidFill>
                  <a:srgbClr val="5B6B7C"/>
                </a:solidFill>
                <a:latin typeface="Times New Roman" pitchFamily="34" charset="0"/>
                <a:ea typeface="Times New Roman" pitchFamily="34" charset="-122"/>
                <a:cs typeface="Times New Roman" pitchFamily="34" charset="-120"/>
              </a:rPr>
              <a:t>ICT demand is strong, yet graduate unemployment rises with education: a mismatch, not a lack of jobs.</a:t>
            </a:r>
            <a:endParaRPr lang="en-US" sz="1400" dirty="0"/>
          </a:p>
        </p:txBody>
      </p:sp>
      <p:sp>
        <p:nvSpPr>
          <p:cNvPr id="30" name="Text 28"/>
          <p:cNvSpPr txBox="1"/>
          <p:nvPr/>
        </p:nvSpPr>
        <p:spPr>
          <a:xfrm>
            <a:off x="6446520" y="5943600"/>
            <a:ext cx="4983480" cy="274320"/>
          </a:xfrm>
          <a:prstGeom prst="rect">
            <a:avLst/>
          </a:prstGeom>
          <a:noFill/>
          <a:ln/>
        </p:spPr>
        <p:txBody>
          <a:bodyPr wrap="square" lIns="0" tIns="0" rIns="0" bIns="0" rtlCol="0" anchor="t"/>
          <a:lstStyle/>
          <a:p>
            <a:pPr marL="0" indent="0">
              <a:buNone/>
            </a:pPr>
            <a:r>
              <a:rPr lang="en-US" sz="1400" i="1" dirty="0">
                <a:solidFill>
                  <a:srgbClr val="5B6B7C"/>
                </a:solidFill>
                <a:latin typeface="Times New Roman" pitchFamily="34" charset="0"/>
                <a:ea typeface="Times New Roman" pitchFamily="34" charset="-122"/>
                <a:cs typeface="Times New Roman" pitchFamily="34" charset="-120"/>
              </a:rPr>
              <a:t>Source: BBS Labour Force Survey 2024</a:t>
            </a:r>
            <a:endParaRPr lang="en-US" sz="1400" dirty="0"/>
          </a:p>
        </p:txBody>
      </p:sp>
      <p:sp>
        <p:nvSpPr>
          <p:cNvPr id="31"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B6B7C"/>
                </a:solidFill>
                <a:latin typeface="Times New Roman"/>
                <a:ea typeface="Times New Roman"/>
                <a:cs typeface="Times New Roman"/>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365760"/>
            <a:ext cx="10058400" cy="274320"/>
          </a:xfrm>
          <a:prstGeom prst="rect">
            <a:avLst/>
          </a:prstGeom>
          <a:noFill/>
          <a:ln/>
        </p:spPr>
        <p:txBody>
          <a:bodyPr wrap="square" lIns="0" tIns="0" rIns="0" bIns="0" rtlCol="0" anchor="t"/>
          <a:lstStyle/>
          <a:p>
            <a:pPr marL="0" indent="0">
              <a:buNone/>
            </a:pPr>
            <a:r>
              <a:rPr lang="en-US" sz="1400" b="1" kern="0" spc="300" dirty="0">
                <a:solidFill>
                  <a:srgbClr val="000000"/>
                </a:solidFill>
                <a:latin typeface="Times New Roman" pitchFamily="34" charset="0"/>
                <a:ea typeface="Times New Roman" pitchFamily="34" charset="-122"/>
                <a:cs typeface="Times New Roman" pitchFamily="34" charset="-120"/>
              </a:rPr>
              <a:t>CHAPTER 1 — RESEARCH DESIGN</a:t>
            </a:r>
            <a:endParaRPr lang="en-US" sz="1400" dirty="0"/>
          </a:p>
        </p:txBody>
      </p:sp>
      <p:sp>
        <p:nvSpPr>
          <p:cNvPr id="3" name="Text 0"/>
          <p:cNvSpPr>
            <a:spLocks noGrp="1"/>
          </p:cNvSpPr>
          <p:nvPr>
            <p:ph type="title" idx="100" hasCustomPrompt="1"/>
          </p:nvPr>
        </p:nvSpPr>
        <p:spPr>
          <a:xfrm>
            <a:off x="548640" y="658368"/>
            <a:ext cx="11091672" cy="640080"/>
          </a:xfrm>
          <a:prstGeom prst="rect">
            <a:avLst/>
          </a:prstGeom>
          <a:noFill/>
          <a:ln/>
        </p:spPr>
        <p:txBody>
          <a:bodyPr wrap="square" lIns="0" tIns="0" rIns="0" bIns="0" rtlCol="0" anchor="ctr"/>
          <a:lstStyle/>
          <a:p>
            <a:pPr marL="0" indent="0" algn="l">
              <a:buNone/>
            </a:pPr>
            <a:r>
              <a:rPr lang="en-US" sz="2800" b="1" dirty="0">
                <a:solidFill>
                  <a:srgbClr val="000000"/>
                </a:solidFill>
                <a:latin typeface="Times New Roman" pitchFamily="34" charset="0"/>
                <a:ea typeface="Times New Roman" pitchFamily="34" charset="-122"/>
                <a:cs typeface="Times New Roman" pitchFamily="34" charset="-120"/>
              </a:rPr>
              <a:t>Research Objectives &amp; Scope</a:t>
            </a:r>
            <a:endParaRPr lang="en-US" sz="2800" dirty="0"/>
          </a:p>
        </p:txBody>
      </p:sp>
      <p:sp>
        <p:nvSpPr>
          <p:cNvPr id="4" name="Text 2"/>
          <p:cNvSpPr txBox="1"/>
          <p:nvPr/>
        </p:nvSpPr>
        <p:spPr>
          <a:xfrm>
            <a:off x="548640" y="1371600"/>
            <a:ext cx="7315200" cy="320040"/>
          </a:xfrm>
          <a:prstGeom prst="rect">
            <a:avLst/>
          </a:prstGeom>
          <a:noFill/>
          <a:ln/>
        </p:spPr>
        <p:txBody>
          <a:bodyPr wrap="square" lIns="0" tIns="0" rIns="0" bIns="0" rtlCol="0" anchor="t"/>
          <a:lstStyle/>
          <a:p>
            <a:pPr marL="0" indent="0">
              <a:buNone/>
            </a:pPr>
            <a:r>
              <a:rPr lang="en-US" sz="1400" b="1" kern="0" spc="300" dirty="0">
                <a:solidFill>
                  <a:srgbClr val="000000"/>
                </a:solidFill>
                <a:latin typeface="Times New Roman" pitchFamily="34" charset="0"/>
                <a:ea typeface="Times New Roman" pitchFamily="34" charset="-122"/>
                <a:cs typeface="Times New Roman" pitchFamily="34" charset="-120"/>
              </a:rPr>
              <a:t>THREE RESEARCH OBJECTIVES</a:t>
            </a:r>
            <a:endParaRPr lang="en-US" sz="1400" dirty="0"/>
          </a:p>
        </p:txBody>
      </p:sp>
      <p:sp>
        <p:nvSpPr>
          <p:cNvPr id="5" name="Shape 3"/>
          <p:cNvSpPr/>
          <p:nvPr/>
        </p:nvSpPr>
        <p:spPr>
          <a:xfrm>
            <a:off x="548640" y="1737360"/>
            <a:ext cx="11091672" cy="1170432"/>
          </a:xfrm>
          <a:prstGeom prst="roundRect">
            <a:avLst>
              <a:gd name="adj" fmla="val 5469"/>
            </a:avLst>
          </a:prstGeom>
          <a:solidFill>
            <a:srgbClr val="F4F6F8"/>
          </a:solidFill>
          <a:ln w="12700">
            <a:solidFill>
              <a:srgbClr val="D7DCE1"/>
            </a:solidFill>
            <a:prstDash val="solid"/>
          </a:ln>
        </p:spPr>
      </p:sp>
      <p:sp>
        <p:nvSpPr>
          <p:cNvPr id="6" name="Shape 4"/>
          <p:cNvSpPr/>
          <p:nvPr/>
        </p:nvSpPr>
        <p:spPr>
          <a:xfrm>
            <a:off x="777240" y="1920240"/>
            <a:ext cx="420624" cy="420624"/>
          </a:xfrm>
          <a:prstGeom prst="ellipse">
            <a:avLst/>
          </a:prstGeom>
          <a:solidFill>
            <a:srgbClr val="FFFFFF"/>
          </a:solidFill>
          <a:ln w="12700">
            <a:solidFill>
              <a:srgbClr val="8C97A3"/>
            </a:solidFill>
            <a:prstDash val="solid"/>
          </a:ln>
        </p:spPr>
      </p:sp>
      <p:sp>
        <p:nvSpPr>
          <p:cNvPr id="7" name="Text 5"/>
          <p:cNvSpPr txBox="1"/>
          <p:nvPr/>
        </p:nvSpPr>
        <p:spPr>
          <a:xfrm>
            <a:off x="777240" y="1920240"/>
            <a:ext cx="420624" cy="420624"/>
          </a:xfrm>
          <a:prstGeom prst="rect">
            <a:avLst/>
          </a:prstGeom>
          <a:noFill/>
          <a:ln/>
        </p:spPr>
        <p:txBody>
          <a:bodyPr wrap="square" lIns="0" tIns="0" rIns="0" bIns="0" rtlCol="0" anchor="ctr"/>
          <a:lstStyle/>
          <a:p>
            <a:pPr marL="0" indent="0" algn="ctr">
              <a:buNone/>
            </a:pPr>
            <a:r>
              <a:rPr lang="en-US" sz="1600" b="1" dirty="0">
                <a:solidFill>
                  <a:srgbClr val="000000"/>
                </a:solidFill>
                <a:latin typeface="Times New Roman" pitchFamily="34" charset="0"/>
                <a:ea typeface="Times New Roman" pitchFamily="34" charset="-122"/>
                <a:cs typeface="Times New Roman" pitchFamily="34" charset="-120"/>
              </a:rPr>
              <a:t>1</a:t>
            </a:r>
            <a:endParaRPr lang="en-US" sz="1600" dirty="0"/>
          </a:p>
        </p:txBody>
      </p:sp>
      <p:sp>
        <p:nvSpPr>
          <p:cNvPr id="8" name="Text 6"/>
          <p:cNvSpPr txBox="1"/>
          <p:nvPr/>
        </p:nvSpPr>
        <p:spPr>
          <a:xfrm>
            <a:off x="1508760" y="1847088"/>
            <a:ext cx="9875520" cy="365760"/>
          </a:xfrm>
          <a:prstGeom prst="rect">
            <a:avLst/>
          </a:prstGeom>
          <a:noFill/>
          <a:ln/>
        </p:spPr>
        <p:txBody>
          <a:bodyPr wrap="square" lIns="0" tIns="0" rIns="0" bIns="0" rtlCol="0" anchor="t"/>
          <a:lstStyle/>
          <a:p>
            <a:pPr marL="0" indent="0">
              <a:buNone/>
            </a:pPr>
            <a:r>
              <a:rPr lang="en-US" sz="2000" b="1" dirty="0">
                <a:solidFill>
                  <a:srgbClr val="000000"/>
                </a:solidFill>
                <a:latin typeface="Times New Roman" pitchFamily="34" charset="0"/>
                <a:ea typeface="Times New Roman" pitchFamily="34" charset="-122"/>
                <a:cs typeface="Times New Roman" pitchFamily="34" charset="-120"/>
              </a:rPr>
              <a:t>Identify the key factors</a:t>
            </a:r>
            <a:endParaRPr lang="en-US" sz="2000" dirty="0"/>
          </a:p>
        </p:txBody>
      </p:sp>
      <p:sp>
        <p:nvSpPr>
          <p:cNvPr id="9" name="Text 7"/>
          <p:cNvSpPr txBox="1"/>
          <p:nvPr/>
        </p:nvSpPr>
        <p:spPr>
          <a:xfrm>
            <a:off x="1508760" y="2212848"/>
            <a:ext cx="9875520" cy="329184"/>
          </a:xfrm>
          <a:prstGeom prst="rect">
            <a:avLst/>
          </a:prstGeom>
          <a:noFill/>
          <a:ln/>
        </p:spPr>
        <p:txBody>
          <a:bodyPr wrap="square" lIns="0" tIns="0" rIns="0" bIns="0" rtlCol="0" anchor="t"/>
          <a:lstStyle/>
          <a:p>
            <a:pPr marL="0" indent="0">
              <a:buNone/>
            </a:pPr>
            <a:r>
              <a:rPr lang="en-US" sz="1800" dirty="0">
                <a:solidFill>
                  <a:srgbClr val="000000"/>
                </a:solidFill>
                <a:latin typeface="Times New Roman" pitchFamily="34" charset="0"/>
                <a:ea typeface="Times New Roman" pitchFamily="34" charset="-122"/>
                <a:cs typeface="Times New Roman" pitchFamily="34" charset="-120"/>
              </a:rPr>
              <a:t>Find the academic, technical, experience and behaviour factors linked to employability.</a:t>
            </a:r>
            <a:endParaRPr lang="en-US" sz="1800" dirty="0"/>
          </a:p>
        </p:txBody>
      </p:sp>
      <p:sp>
        <p:nvSpPr>
          <p:cNvPr id="10" name="Text 8"/>
          <p:cNvSpPr txBox="1"/>
          <p:nvPr/>
        </p:nvSpPr>
        <p:spPr>
          <a:xfrm>
            <a:off x="1508760" y="2542032"/>
            <a:ext cx="9875520" cy="310896"/>
          </a:xfrm>
          <a:prstGeom prst="rect">
            <a:avLst/>
          </a:prstGeom>
          <a:noFill/>
          <a:ln/>
        </p:spPr>
        <p:txBody>
          <a:bodyPr wrap="square" lIns="0" tIns="0" rIns="0" bIns="0" rtlCol="0" anchor="t"/>
          <a:lstStyle/>
          <a:p>
            <a:pPr marL="0" indent="0">
              <a:buNone/>
            </a:pPr>
            <a:r>
              <a:rPr lang="en-US" sz="1600" dirty="0">
                <a:solidFill>
                  <a:srgbClr val="5B6B7C"/>
                </a:solidFill>
                <a:latin typeface="Times New Roman" pitchFamily="34" charset="0"/>
                <a:ea typeface="Times New Roman" pitchFamily="34" charset="-122"/>
                <a:cs typeface="Times New Roman" pitchFamily="34" charset="-120"/>
              </a:rPr>
              <a:t>RQ1   Which factors matter, and how much?</a:t>
            </a:r>
            <a:endParaRPr lang="en-US" sz="1600" dirty="0"/>
          </a:p>
        </p:txBody>
      </p:sp>
      <p:sp>
        <p:nvSpPr>
          <p:cNvPr id="11" name="Shape 9"/>
          <p:cNvSpPr/>
          <p:nvPr/>
        </p:nvSpPr>
        <p:spPr>
          <a:xfrm>
            <a:off x="548640" y="3017520"/>
            <a:ext cx="11091672" cy="1170432"/>
          </a:xfrm>
          <a:prstGeom prst="roundRect">
            <a:avLst>
              <a:gd name="adj" fmla="val 5469"/>
            </a:avLst>
          </a:prstGeom>
          <a:solidFill>
            <a:srgbClr val="E7EBEF"/>
          </a:solidFill>
          <a:ln w="12700">
            <a:solidFill>
              <a:srgbClr val="D7DCE1"/>
            </a:solidFill>
            <a:prstDash val="solid"/>
          </a:ln>
        </p:spPr>
      </p:sp>
      <p:sp>
        <p:nvSpPr>
          <p:cNvPr id="12" name="Shape 10"/>
          <p:cNvSpPr/>
          <p:nvPr/>
        </p:nvSpPr>
        <p:spPr>
          <a:xfrm>
            <a:off x="777240" y="3200400"/>
            <a:ext cx="420624" cy="420624"/>
          </a:xfrm>
          <a:prstGeom prst="ellipse">
            <a:avLst/>
          </a:prstGeom>
          <a:solidFill>
            <a:srgbClr val="FFFFFF"/>
          </a:solidFill>
          <a:ln w="12700">
            <a:solidFill>
              <a:srgbClr val="8C97A3"/>
            </a:solidFill>
            <a:prstDash val="solid"/>
          </a:ln>
        </p:spPr>
      </p:sp>
      <p:sp>
        <p:nvSpPr>
          <p:cNvPr id="13" name="Text 11"/>
          <p:cNvSpPr txBox="1"/>
          <p:nvPr/>
        </p:nvSpPr>
        <p:spPr>
          <a:xfrm>
            <a:off x="777240" y="3200400"/>
            <a:ext cx="420624" cy="420624"/>
          </a:xfrm>
          <a:prstGeom prst="rect">
            <a:avLst/>
          </a:prstGeom>
          <a:noFill/>
          <a:ln/>
        </p:spPr>
        <p:txBody>
          <a:bodyPr wrap="square" lIns="0" tIns="0" rIns="0" bIns="0" rtlCol="0" anchor="ctr"/>
          <a:lstStyle/>
          <a:p>
            <a:pPr marL="0" indent="0" algn="ctr">
              <a:buNone/>
            </a:pPr>
            <a:r>
              <a:rPr lang="en-US" sz="1600" b="1" dirty="0">
                <a:solidFill>
                  <a:srgbClr val="000000"/>
                </a:solidFill>
                <a:latin typeface="Times New Roman" pitchFamily="34" charset="0"/>
                <a:ea typeface="Times New Roman" pitchFamily="34" charset="-122"/>
                <a:cs typeface="Times New Roman" pitchFamily="34" charset="-120"/>
              </a:rPr>
              <a:t>2</a:t>
            </a:r>
            <a:endParaRPr lang="en-US" sz="1600" dirty="0"/>
          </a:p>
        </p:txBody>
      </p:sp>
      <p:sp>
        <p:nvSpPr>
          <p:cNvPr id="14" name="Text 12"/>
          <p:cNvSpPr txBox="1"/>
          <p:nvPr/>
        </p:nvSpPr>
        <p:spPr>
          <a:xfrm>
            <a:off x="1508760" y="3127248"/>
            <a:ext cx="9875520" cy="365760"/>
          </a:xfrm>
          <a:prstGeom prst="rect">
            <a:avLst/>
          </a:prstGeom>
          <a:noFill/>
          <a:ln/>
        </p:spPr>
        <p:txBody>
          <a:bodyPr wrap="square" lIns="0" tIns="0" rIns="0" bIns="0" rtlCol="0" anchor="t"/>
          <a:lstStyle/>
          <a:p>
            <a:pPr marL="0" indent="0">
              <a:buNone/>
            </a:pPr>
            <a:r>
              <a:rPr lang="en-US" sz="2000" b="1" dirty="0">
                <a:solidFill>
                  <a:srgbClr val="000000"/>
                </a:solidFill>
                <a:latin typeface="Times New Roman" pitchFamily="34" charset="0"/>
                <a:ea typeface="Times New Roman" pitchFamily="34" charset="-122"/>
                <a:cs typeface="Times New Roman" pitchFamily="34" charset="-120"/>
              </a:rPr>
              <a:t>Build and compare models</a:t>
            </a:r>
            <a:endParaRPr lang="en-US" sz="2000" dirty="0"/>
          </a:p>
        </p:txBody>
      </p:sp>
      <p:sp>
        <p:nvSpPr>
          <p:cNvPr id="15" name="Text 13"/>
          <p:cNvSpPr txBox="1"/>
          <p:nvPr/>
        </p:nvSpPr>
        <p:spPr>
          <a:xfrm>
            <a:off x="1508760" y="3493008"/>
            <a:ext cx="9875520" cy="329184"/>
          </a:xfrm>
          <a:prstGeom prst="rect">
            <a:avLst/>
          </a:prstGeom>
          <a:noFill/>
          <a:ln/>
        </p:spPr>
        <p:txBody>
          <a:bodyPr wrap="square" lIns="0" tIns="0" rIns="0" bIns="0" rtlCol="0" anchor="t"/>
          <a:lstStyle/>
          <a:p>
            <a:pPr marL="0" indent="0">
              <a:buNone/>
            </a:pPr>
            <a:r>
              <a:rPr lang="en-US" sz="1800" dirty="0">
                <a:solidFill>
                  <a:srgbClr val="000000"/>
                </a:solidFill>
                <a:latin typeface="Times New Roman" pitchFamily="34" charset="0"/>
                <a:ea typeface="Times New Roman" pitchFamily="34" charset="-122"/>
                <a:cs typeface="Times New Roman" pitchFamily="34" charset="-120"/>
              </a:rPr>
              <a:t>Build and compare supervised machine learning models that predict job status.</a:t>
            </a:r>
            <a:endParaRPr lang="en-US" sz="1800" dirty="0"/>
          </a:p>
        </p:txBody>
      </p:sp>
      <p:sp>
        <p:nvSpPr>
          <p:cNvPr id="16" name="Text 14"/>
          <p:cNvSpPr txBox="1"/>
          <p:nvPr/>
        </p:nvSpPr>
        <p:spPr>
          <a:xfrm>
            <a:off x="1508760" y="3822192"/>
            <a:ext cx="9875520" cy="310896"/>
          </a:xfrm>
          <a:prstGeom prst="rect">
            <a:avLst/>
          </a:prstGeom>
          <a:noFill/>
          <a:ln/>
        </p:spPr>
        <p:txBody>
          <a:bodyPr wrap="square" lIns="0" tIns="0" rIns="0" bIns="0" rtlCol="0" anchor="t"/>
          <a:lstStyle/>
          <a:p>
            <a:pPr marL="0" indent="0">
              <a:buNone/>
            </a:pPr>
            <a:r>
              <a:rPr lang="en-US" sz="1600" dirty="0">
                <a:solidFill>
                  <a:srgbClr val="5B6B7C"/>
                </a:solidFill>
                <a:latin typeface="Times New Roman" pitchFamily="34" charset="0"/>
                <a:ea typeface="Times New Roman" pitchFamily="34" charset="-122"/>
                <a:cs typeface="Times New Roman" pitchFamily="34" charset="-120"/>
              </a:rPr>
              <a:t>RQ2   How well can ML predict job status?      RQ3   Which model is most reliable?</a:t>
            </a:r>
            <a:endParaRPr lang="en-US" sz="1600" dirty="0"/>
          </a:p>
        </p:txBody>
      </p:sp>
      <p:sp>
        <p:nvSpPr>
          <p:cNvPr id="17" name="Shape 15"/>
          <p:cNvSpPr/>
          <p:nvPr/>
        </p:nvSpPr>
        <p:spPr>
          <a:xfrm>
            <a:off x="548640" y="4297680"/>
            <a:ext cx="11091672" cy="1170432"/>
          </a:xfrm>
          <a:prstGeom prst="roundRect">
            <a:avLst>
              <a:gd name="adj" fmla="val 5469"/>
            </a:avLst>
          </a:prstGeom>
          <a:solidFill>
            <a:srgbClr val="F4F6F8"/>
          </a:solidFill>
          <a:ln w="12700">
            <a:solidFill>
              <a:srgbClr val="D7DCE1"/>
            </a:solidFill>
            <a:prstDash val="solid"/>
          </a:ln>
        </p:spPr>
      </p:sp>
      <p:sp>
        <p:nvSpPr>
          <p:cNvPr id="18" name="Shape 16"/>
          <p:cNvSpPr/>
          <p:nvPr/>
        </p:nvSpPr>
        <p:spPr>
          <a:xfrm>
            <a:off x="777240" y="4480560"/>
            <a:ext cx="420624" cy="420624"/>
          </a:xfrm>
          <a:prstGeom prst="ellipse">
            <a:avLst/>
          </a:prstGeom>
          <a:solidFill>
            <a:srgbClr val="FFFFFF"/>
          </a:solidFill>
          <a:ln w="12700">
            <a:solidFill>
              <a:srgbClr val="8C97A3"/>
            </a:solidFill>
            <a:prstDash val="solid"/>
          </a:ln>
        </p:spPr>
      </p:sp>
      <p:sp>
        <p:nvSpPr>
          <p:cNvPr id="19" name="Text 17"/>
          <p:cNvSpPr txBox="1"/>
          <p:nvPr/>
        </p:nvSpPr>
        <p:spPr>
          <a:xfrm>
            <a:off x="777240" y="4480560"/>
            <a:ext cx="420624" cy="420624"/>
          </a:xfrm>
          <a:prstGeom prst="rect">
            <a:avLst/>
          </a:prstGeom>
          <a:noFill/>
          <a:ln/>
        </p:spPr>
        <p:txBody>
          <a:bodyPr wrap="square" lIns="0" tIns="0" rIns="0" bIns="0" rtlCol="0" anchor="ctr"/>
          <a:lstStyle/>
          <a:p>
            <a:pPr marL="0" indent="0" algn="ctr">
              <a:buNone/>
            </a:pPr>
            <a:r>
              <a:rPr lang="en-US" sz="1600" b="1" dirty="0">
                <a:solidFill>
                  <a:srgbClr val="000000"/>
                </a:solidFill>
                <a:latin typeface="Times New Roman" pitchFamily="34" charset="0"/>
                <a:ea typeface="Times New Roman" pitchFamily="34" charset="-122"/>
                <a:cs typeface="Times New Roman" pitchFamily="34" charset="-120"/>
              </a:rPr>
              <a:t>3</a:t>
            </a:r>
            <a:endParaRPr lang="en-US" sz="1600" dirty="0"/>
          </a:p>
        </p:txBody>
      </p:sp>
      <p:sp>
        <p:nvSpPr>
          <p:cNvPr id="20" name="Text 18"/>
          <p:cNvSpPr txBox="1"/>
          <p:nvPr/>
        </p:nvSpPr>
        <p:spPr>
          <a:xfrm>
            <a:off x="1508760" y="4407408"/>
            <a:ext cx="9875520" cy="365760"/>
          </a:xfrm>
          <a:prstGeom prst="rect">
            <a:avLst/>
          </a:prstGeom>
          <a:noFill/>
          <a:ln/>
        </p:spPr>
        <p:txBody>
          <a:bodyPr wrap="square" lIns="0" tIns="0" rIns="0" bIns="0" rtlCol="0" anchor="t"/>
          <a:lstStyle/>
          <a:p>
            <a:pPr marL="0" indent="0">
              <a:buNone/>
            </a:pPr>
            <a:r>
              <a:rPr lang="en-US" sz="2000" b="1" dirty="0">
                <a:solidFill>
                  <a:srgbClr val="000000"/>
                </a:solidFill>
                <a:latin typeface="Times New Roman" pitchFamily="34" charset="0"/>
                <a:ea typeface="Times New Roman" pitchFamily="34" charset="-122"/>
                <a:cs typeface="Times New Roman" pitchFamily="34" charset="-120"/>
              </a:rPr>
              <a:t>Explain and advise</a:t>
            </a:r>
            <a:endParaRPr lang="en-US" sz="2000" dirty="0"/>
          </a:p>
        </p:txBody>
      </p:sp>
      <p:sp>
        <p:nvSpPr>
          <p:cNvPr id="21" name="Text 19"/>
          <p:cNvSpPr txBox="1"/>
          <p:nvPr/>
        </p:nvSpPr>
        <p:spPr>
          <a:xfrm>
            <a:off x="1508760" y="4773168"/>
            <a:ext cx="9875520" cy="329184"/>
          </a:xfrm>
          <a:prstGeom prst="rect">
            <a:avLst/>
          </a:prstGeom>
          <a:noFill/>
          <a:ln/>
        </p:spPr>
        <p:txBody>
          <a:bodyPr wrap="square" lIns="0" tIns="0" rIns="0" bIns="0" rtlCol="0" anchor="t"/>
          <a:lstStyle/>
          <a:p>
            <a:pPr marL="0" indent="0">
              <a:buNone/>
            </a:pPr>
            <a:r>
              <a:rPr lang="en-US" sz="1800" dirty="0">
                <a:solidFill>
                  <a:srgbClr val="000000"/>
                </a:solidFill>
                <a:latin typeface="Times New Roman" pitchFamily="34" charset="0"/>
                <a:ea typeface="Times New Roman" pitchFamily="34" charset="-122"/>
                <a:cs typeface="Times New Roman" pitchFamily="34" charset="-120"/>
              </a:rPr>
              <a:t>Explain the best model and turn the results into advice for students and universities.</a:t>
            </a:r>
            <a:endParaRPr lang="en-US" sz="1800" dirty="0"/>
          </a:p>
        </p:txBody>
      </p:sp>
      <p:sp>
        <p:nvSpPr>
          <p:cNvPr id="22" name="Text 20"/>
          <p:cNvSpPr txBox="1"/>
          <p:nvPr/>
        </p:nvSpPr>
        <p:spPr>
          <a:xfrm>
            <a:off x="1508760" y="5102352"/>
            <a:ext cx="9875520" cy="310896"/>
          </a:xfrm>
          <a:prstGeom prst="rect">
            <a:avLst/>
          </a:prstGeom>
          <a:noFill/>
          <a:ln/>
        </p:spPr>
        <p:txBody>
          <a:bodyPr wrap="square" lIns="0" tIns="0" rIns="0" bIns="0" rtlCol="0" anchor="t"/>
          <a:lstStyle/>
          <a:p>
            <a:pPr marL="0" indent="0">
              <a:buNone/>
            </a:pPr>
            <a:r>
              <a:rPr lang="en-US" sz="1600" dirty="0">
                <a:solidFill>
                  <a:srgbClr val="5B6B7C"/>
                </a:solidFill>
                <a:latin typeface="Times New Roman" pitchFamily="34" charset="0"/>
                <a:ea typeface="Times New Roman" pitchFamily="34" charset="-122"/>
                <a:cs typeface="Times New Roman" pitchFamily="34" charset="-120"/>
              </a:rPr>
              <a:t>RQ4   What advice follows from the results?</a:t>
            </a:r>
            <a:endParaRPr lang="en-US" sz="1600" dirty="0"/>
          </a:p>
        </p:txBody>
      </p:sp>
      <p:sp>
        <p:nvSpPr>
          <p:cNvPr id="23" name="Shape 21"/>
          <p:cNvSpPr/>
          <p:nvPr/>
        </p:nvSpPr>
        <p:spPr>
          <a:xfrm>
            <a:off x="548640" y="5577840"/>
            <a:ext cx="11091672" cy="713232"/>
          </a:xfrm>
          <a:prstGeom prst="roundRect">
            <a:avLst>
              <a:gd name="adj" fmla="val 8974"/>
            </a:avLst>
          </a:prstGeom>
          <a:solidFill>
            <a:srgbClr val="F4F6F8"/>
          </a:solidFill>
          <a:ln w="12700">
            <a:solidFill>
              <a:srgbClr val="D7DCE1"/>
            </a:solidFill>
            <a:prstDash val="solid"/>
          </a:ln>
        </p:spPr>
      </p:sp>
      <p:sp>
        <p:nvSpPr>
          <p:cNvPr id="24" name="Text 22"/>
          <p:cNvSpPr txBox="1"/>
          <p:nvPr/>
        </p:nvSpPr>
        <p:spPr>
          <a:xfrm>
            <a:off x="777240" y="5623560"/>
            <a:ext cx="2651760" cy="320040"/>
          </a:xfrm>
          <a:prstGeom prst="rect">
            <a:avLst/>
          </a:prstGeom>
          <a:noFill/>
          <a:ln/>
        </p:spPr>
        <p:txBody>
          <a:bodyPr wrap="square" lIns="0" tIns="0" rIns="0" bIns="0" rtlCol="0" anchor="t"/>
          <a:lstStyle/>
          <a:p>
            <a:pPr marL="0" indent="0">
              <a:buNone/>
            </a:pPr>
            <a:r>
              <a:rPr lang="en-US" sz="1200" b="1" kern="0" spc="300" dirty="0">
                <a:solidFill>
                  <a:srgbClr val="000000"/>
                </a:solidFill>
                <a:latin typeface="Times New Roman" pitchFamily="34" charset="0"/>
                <a:ea typeface="Times New Roman" pitchFamily="34" charset="-122"/>
                <a:cs typeface="Times New Roman" pitchFamily="34" charset="-120"/>
              </a:rPr>
              <a:t>POPULATION</a:t>
            </a:r>
            <a:endParaRPr lang="en-US" sz="1200" dirty="0"/>
          </a:p>
        </p:txBody>
      </p:sp>
      <p:sp>
        <p:nvSpPr>
          <p:cNvPr id="25" name="Text 23"/>
          <p:cNvSpPr txBox="1"/>
          <p:nvPr/>
        </p:nvSpPr>
        <p:spPr>
          <a:xfrm>
            <a:off x="777240" y="5897880"/>
            <a:ext cx="2606040" cy="365760"/>
          </a:xfrm>
          <a:prstGeom prst="rect">
            <a:avLst/>
          </a:prstGeom>
          <a:noFill/>
          <a:ln/>
        </p:spPr>
        <p:txBody>
          <a:bodyPr wrap="square" lIns="0" tIns="0" rIns="0" bIns="0" rtlCol="0" anchor="t"/>
          <a:lstStyle/>
          <a:p>
            <a:pPr marL="0" indent="0">
              <a:buNone/>
            </a:pPr>
            <a:r>
              <a:rPr lang="en-US" sz="1600" b="1" dirty="0">
                <a:solidFill>
                  <a:srgbClr val="000000"/>
                </a:solidFill>
                <a:latin typeface="Times New Roman" pitchFamily="34" charset="0"/>
                <a:ea typeface="Times New Roman" pitchFamily="34" charset="-122"/>
                <a:cs typeface="Times New Roman" pitchFamily="34" charset="-120"/>
              </a:rPr>
              <a:t>Fresh CSE graduates</a:t>
            </a:r>
            <a:endParaRPr lang="en-US" sz="1600" dirty="0"/>
          </a:p>
        </p:txBody>
      </p:sp>
      <p:sp>
        <p:nvSpPr>
          <p:cNvPr id="26" name="Text 24"/>
          <p:cNvSpPr txBox="1"/>
          <p:nvPr/>
        </p:nvSpPr>
        <p:spPr>
          <a:xfrm>
            <a:off x="3520440" y="5623560"/>
            <a:ext cx="2651760" cy="320040"/>
          </a:xfrm>
          <a:prstGeom prst="rect">
            <a:avLst/>
          </a:prstGeom>
          <a:noFill/>
          <a:ln/>
        </p:spPr>
        <p:txBody>
          <a:bodyPr wrap="square" lIns="0" tIns="0" rIns="0" bIns="0" rtlCol="0" anchor="t"/>
          <a:lstStyle/>
          <a:p>
            <a:pPr marL="0" indent="0">
              <a:buNone/>
            </a:pPr>
            <a:r>
              <a:rPr lang="en-US" sz="1200" b="1" kern="0" spc="300" dirty="0">
                <a:solidFill>
                  <a:srgbClr val="000000"/>
                </a:solidFill>
                <a:latin typeface="Times New Roman" pitchFamily="34" charset="0"/>
                <a:ea typeface="Times New Roman" pitchFamily="34" charset="-122"/>
                <a:cs typeface="Times New Roman" pitchFamily="34" charset="-120"/>
              </a:rPr>
              <a:t>DATA SOURCE</a:t>
            </a:r>
            <a:endParaRPr lang="en-US" sz="1200" dirty="0"/>
          </a:p>
        </p:txBody>
      </p:sp>
      <p:sp>
        <p:nvSpPr>
          <p:cNvPr id="27" name="Text 25"/>
          <p:cNvSpPr txBox="1"/>
          <p:nvPr/>
        </p:nvSpPr>
        <p:spPr>
          <a:xfrm>
            <a:off x="3520440" y="5897880"/>
            <a:ext cx="2606040" cy="365760"/>
          </a:xfrm>
          <a:prstGeom prst="rect">
            <a:avLst/>
          </a:prstGeom>
          <a:noFill/>
          <a:ln/>
        </p:spPr>
        <p:txBody>
          <a:bodyPr wrap="square" lIns="0" tIns="0" rIns="0" bIns="0" rtlCol="0" anchor="t"/>
          <a:lstStyle/>
          <a:p>
            <a:pPr marL="0" indent="0">
              <a:buNone/>
            </a:pPr>
            <a:r>
              <a:rPr lang="en-US" sz="1600" b="1" dirty="0">
                <a:solidFill>
                  <a:srgbClr val="000000"/>
                </a:solidFill>
                <a:latin typeface="Times New Roman" pitchFamily="34" charset="0"/>
                <a:ea typeface="Times New Roman" pitchFamily="34" charset="-122"/>
                <a:cs typeface="Times New Roman" pitchFamily="34" charset="-120"/>
              </a:rPr>
              <a:t>Kaggle: 50,000 records</a:t>
            </a:r>
            <a:endParaRPr lang="en-US" sz="1600" dirty="0"/>
          </a:p>
        </p:txBody>
      </p:sp>
      <p:sp>
        <p:nvSpPr>
          <p:cNvPr id="28" name="Text 26"/>
          <p:cNvSpPr txBox="1"/>
          <p:nvPr/>
        </p:nvSpPr>
        <p:spPr>
          <a:xfrm>
            <a:off x="6263640" y="5623560"/>
            <a:ext cx="2651760" cy="320040"/>
          </a:xfrm>
          <a:prstGeom prst="rect">
            <a:avLst/>
          </a:prstGeom>
          <a:noFill/>
          <a:ln/>
        </p:spPr>
        <p:txBody>
          <a:bodyPr wrap="square" lIns="0" tIns="0" rIns="0" bIns="0" rtlCol="0" anchor="t"/>
          <a:lstStyle/>
          <a:p>
            <a:pPr marL="0" indent="0">
              <a:buNone/>
            </a:pPr>
            <a:r>
              <a:rPr lang="en-US" sz="1200" b="1" kern="0" spc="300" dirty="0">
                <a:solidFill>
                  <a:srgbClr val="000000"/>
                </a:solidFill>
                <a:latin typeface="Times New Roman" pitchFamily="34" charset="0"/>
                <a:ea typeface="Times New Roman" pitchFamily="34" charset="-122"/>
                <a:cs typeface="Times New Roman" pitchFamily="34" charset="-120"/>
              </a:rPr>
              <a:t>OUTCOME</a:t>
            </a:r>
            <a:endParaRPr lang="en-US" sz="1200" dirty="0"/>
          </a:p>
        </p:txBody>
      </p:sp>
      <p:sp>
        <p:nvSpPr>
          <p:cNvPr id="29" name="Text 27"/>
          <p:cNvSpPr txBox="1"/>
          <p:nvPr/>
        </p:nvSpPr>
        <p:spPr>
          <a:xfrm>
            <a:off x="6263640" y="5897880"/>
            <a:ext cx="2606040" cy="365760"/>
          </a:xfrm>
          <a:prstGeom prst="rect">
            <a:avLst/>
          </a:prstGeom>
          <a:noFill/>
          <a:ln/>
        </p:spPr>
        <p:txBody>
          <a:bodyPr wrap="square" lIns="0" tIns="0" rIns="0" bIns="0" rtlCol="0" anchor="t"/>
          <a:lstStyle/>
          <a:p>
            <a:pPr marL="0" indent="0">
              <a:buNone/>
            </a:pPr>
            <a:r>
              <a:rPr lang="en-US" sz="1600" b="1" dirty="0">
                <a:solidFill>
                  <a:srgbClr val="000000"/>
                </a:solidFill>
                <a:latin typeface="Times New Roman" pitchFamily="34" charset="0"/>
                <a:ea typeface="Times New Roman" pitchFamily="34" charset="-122"/>
                <a:cs typeface="Times New Roman" pitchFamily="34" charset="-120"/>
              </a:rPr>
              <a:t>ICT job within 12 months</a:t>
            </a:r>
            <a:endParaRPr lang="en-US" sz="1600" dirty="0"/>
          </a:p>
        </p:txBody>
      </p:sp>
      <p:sp>
        <p:nvSpPr>
          <p:cNvPr id="30" name="Text 28"/>
          <p:cNvSpPr txBox="1"/>
          <p:nvPr/>
        </p:nvSpPr>
        <p:spPr>
          <a:xfrm>
            <a:off x="9006840" y="5623560"/>
            <a:ext cx="2651760" cy="320040"/>
          </a:xfrm>
          <a:prstGeom prst="rect">
            <a:avLst/>
          </a:prstGeom>
          <a:noFill/>
          <a:ln/>
        </p:spPr>
        <p:txBody>
          <a:bodyPr wrap="square" lIns="0" tIns="0" rIns="0" bIns="0" rtlCol="0" anchor="t"/>
          <a:lstStyle/>
          <a:p>
            <a:pPr marL="0" indent="0">
              <a:buNone/>
            </a:pPr>
            <a:r>
              <a:rPr lang="en-US" sz="1200" b="1" kern="0" spc="300" dirty="0">
                <a:solidFill>
                  <a:srgbClr val="000000"/>
                </a:solidFill>
                <a:latin typeface="Times New Roman" pitchFamily="34" charset="0"/>
                <a:ea typeface="Times New Roman" pitchFamily="34" charset="-122"/>
                <a:cs typeface="Times New Roman" pitchFamily="34" charset="-120"/>
              </a:rPr>
              <a:t>DESIGN</a:t>
            </a:r>
            <a:endParaRPr lang="en-US" sz="1200" dirty="0"/>
          </a:p>
        </p:txBody>
      </p:sp>
      <p:sp>
        <p:nvSpPr>
          <p:cNvPr id="31" name="Text 29"/>
          <p:cNvSpPr txBox="1"/>
          <p:nvPr/>
        </p:nvSpPr>
        <p:spPr>
          <a:xfrm>
            <a:off x="9006840" y="5897880"/>
            <a:ext cx="2606040" cy="365760"/>
          </a:xfrm>
          <a:prstGeom prst="rect">
            <a:avLst/>
          </a:prstGeom>
          <a:noFill/>
          <a:ln/>
        </p:spPr>
        <p:txBody>
          <a:bodyPr wrap="square" lIns="0" tIns="0" rIns="0" bIns="0" rtlCol="0" anchor="t"/>
          <a:lstStyle/>
          <a:p>
            <a:pPr marL="0" indent="0">
              <a:buNone/>
            </a:pPr>
            <a:r>
              <a:rPr lang="en-US" sz="1600" b="1" dirty="0">
                <a:solidFill>
                  <a:srgbClr val="000000"/>
                </a:solidFill>
                <a:latin typeface="Times New Roman" pitchFamily="34" charset="0"/>
                <a:ea typeface="Times New Roman" pitchFamily="34" charset="-122"/>
                <a:cs typeface="Times New Roman" pitchFamily="34" charset="-120"/>
              </a:rPr>
              <a:t>Cross-sectional, supervised</a:t>
            </a:r>
            <a:endParaRPr lang="en-US" sz="1600" dirty="0"/>
          </a:p>
        </p:txBody>
      </p:sp>
      <p:sp>
        <p:nvSpPr>
          <p:cNvPr id="32"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B6B7C"/>
                </a:solidFill>
                <a:latin typeface="Times New Roman"/>
                <a:ea typeface="Times New Roman"/>
                <a:cs typeface="Times New Roman"/>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365760"/>
            <a:ext cx="10058400" cy="274320"/>
          </a:xfrm>
          <a:prstGeom prst="rect">
            <a:avLst/>
          </a:prstGeom>
          <a:noFill/>
          <a:ln/>
        </p:spPr>
        <p:txBody>
          <a:bodyPr wrap="square" lIns="0" tIns="0" rIns="0" bIns="0" rtlCol="0" anchor="t"/>
          <a:lstStyle/>
          <a:p>
            <a:pPr marL="0" indent="0">
              <a:buNone/>
            </a:pPr>
            <a:r>
              <a:rPr lang="en-US" sz="1400" b="1" kern="0" spc="300" dirty="0">
                <a:solidFill>
                  <a:srgbClr val="000000"/>
                </a:solidFill>
                <a:latin typeface="Times New Roman" pitchFamily="34" charset="0"/>
                <a:ea typeface="Times New Roman" pitchFamily="34" charset="-122"/>
                <a:cs typeface="Times New Roman" pitchFamily="34" charset="-120"/>
              </a:rPr>
              <a:t>CHAPTER 2 — LITERATURE REVIEW</a:t>
            </a:r>
            <a:endParaRPr lang="en-US" sz="1400" dirty="0"/>
          </a:p>
        </p:txBody>
      </p:sp>
      <p:sp>
        <p:nvSpPr>
          <p:cNvPr id="3" name="Text 0"/>
          <p:cNvSpPr>
            <a:spLocks noGrp="1"/>
          </p:cNvSpPr>
          <p:nvPr>
            <p:ph type="title" idx="100" hasCustomPrompt="1"/>
          </p:nvPr>
        </p:nvSpPr>
        <p:spPr>
          <a:xfrm>
            <a:off x="548640" y="658368"/>
            <a:ext cx="11091672" cy="640080"/>
          </a:xfrm>
          <a:prstGeom prst="rect">
            <a:avLst/>
          </a:prstGeom>
          <a:noFill/>
          <a:ln/>
        </p:spPr>
        <p:txBody>
          <a:bodyPr wrap="square" lIns="0" tIns="0" rIns="0" bIns="0" rtlCol="0" anchor="ctr"/>
          <a:lstStyle/>
          <a:p>
            <a:pPr marL="0" indent="0" algn="l">
              <a:buNone/>
            </a:pPr>
            <a:r>
              <a:rPr lang="en-US" sz="2800" b="1" dirty="0">
                <a:solidFill>
                  <a:srgbClr val="000000"/>
                </a:solidFill>
                <a:latin typeface="Times New Roman" pitchFamily="34" charset="0"/>
                <a:ea typeface="Times New Roman" pitchFamily="34" charset="-122"/>
                <a:cs typeface="Times New Roman" pitchFamily="34" charset="-120"/>
              </a:rPr>
              <a:t>What Previous Research Missed</a:t>
            </a:r>
            <a:endParaRPr lang="en-US" sz="28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1672" cy="3310128"/>
        </p:xfrm>
        <a:graphic>
          <a:graphicData uri="http://schemas.openxmlformats.org/drawingml/2006/table">
            <a:tbl>
              <a:tblPr/>
              <a:tblGrid>
                <a:gridCol w="4480560"/>
                <a:gridCol w="3566160"/>
                <a:gridCol w="3044952"/>
              </a:tblGrid>
              <a:tr h="457200">
                <a:tc>
                  <a:txBody>
                    <a:bodyPr/>
                    <a:lstStyle/>
                    <a:p>
                      <a:pPr marL="0" indent="0">
                        <a:buNone/>
                      </a:pPr>
                      <a:r>
                        <a:rPr lang="en-US" sz="1800" b="1" dirty="0">
                          <a:solidFill>
                            <a:srgbClr val="000000"/>
                          </a:solidFill>
                          <a:latin typeface="Times New Roman" pitchFamily="34" charset="0"/>
                          <a:ea typeface="Times New Roman" pitchFamily="34" charset="-122"/>
                          <a:cs typeface="Times New Roman" pitchFamily="34" charset="-120"/>
                        </a:rPr>
                        <a:t>Earlier studies</a:t>
                      </a:r>
                      <a:endParaRPr lang="en-US" sz="1800" dirty="0">
                        <a:latin typeface="Times New Roman" charset="0"/>
                        <a:ea typeface="Times New Roman" charset="0"/>
                        <a:cs typeface="Times New Roman" charset="0"/>
                      </a:endParaRPr>
                    </a:p>
                  </a:txBody>
                  <a:tcPr marL="137160" marR="137160" marT="36576" marB="36576" anchor="ctr">
                    <a:lnL w="12700" cap="flat" cmpd="sng" algn="ctr">
                      <a:solidFill>
                        <a:srgbClr val="D7DCE1"/>
                      </a:solidFill>
                      <a:prstDash val="solid"/>
                      <a:round/>
                      <a:headEnd type="none" w="med" len="med"/>
                      <a:tailEnd type="none" w="med" len="med"/>
                    </a:lnL>
                    <a:lnR w="12700" cap="flat" cmpd="sng" algn="ctr">
                      <a:solidFill>
                        <a:srgbClr val="D7DCE1"/>
                      </a:solidFill>
                      <a:prstDash val="solid"/>
                      <a:round/>
                      <a:headEnd type="none" w="med" len="med"/>
                      <a:tailEnd type="none" w="med" len="med"/>
                    </a:lnR>
                    <a:lnT w="12700" cap="flat" cmpd="sng" algn="ctr">
                      <a:solidFill>
                        <a:srgbClr val="D7DCE1"/>
                      </a:solidFill>
                      <a:prstDash val="solid"/>
                      <a:round/>
                      <a:headEnd type="none" w="med" len="med"/>
                      <a:tailEnd type="none" w="med" len="med"/>
                    </a:lnT>
                    <a:lnB w="12700" cap="flat" cmpd="sng" algn="ctr">
                      <a:solidFill>
                        <a:srgbClr val="D7DCE1"/>
                      </a:solidFill>
                      <a:prstDash val="solid"/>
                      <a:round/>
                      <a:headEnd type="none" w="med" len="med"/>
                      <a:tailEnd type="none" w="med" len="med"/>
                    </a:lnB>
                    <a:solidFill>
                      <a:srgbClr val="E7EBEF"/>
                    </a:solidFill>
                  </a:tcPr>
                </a:tc>
                <a:tc>
                  <a:txBody>
                    <a:bodyPr/>
                    <a:lstStyle/>
                    <a:p>
                      <a:pPr marL="0" indent="0">
                        <a:buNone/>
                      </a:pPr>
                      <a:r>
                        <a:rPr lang="en-US" sz="1800" b="1" dirty="0">
                          <a:solidFill>
                            <a:srgbClr val="000000"/>
                          </a:solidFill>
                          <a:latin typeface="Times New Roman" pitchFamily="34" charset="0"/>
                          <a:ea typeface="Times New Roman" pitchFamily="34" charset="-122"/>
                          <a:cs typeface="Times New Roman" pitchFamily="34" charset="-120"/>
                        </a:rPr>
                        <a:t>What they did</a:t>
                      </a:r>
                      <a:endParaRPr lang="en-US" sz="1800" dirty="0">
                        <a:latin typeface="Times New Roman" charset="0"/>
                        <a:ea typeface="Times New Roman" charset="0"/>
                        <a:cs typeface="Times New Roman" charset="0"/>
                      </a:endParaRPr>
                    </a:p>
                  </a:txBody>
                  <a:tcPr marL="137160" marR="137160" marT="36576" marB="36576" anchor="ctr">
                    <a:lnL w="12700" cap="flat" cmpd="sng" algn="ctr">
                      <a:solidFill>
                        <a:srgbClr val="D7DCE1"/>
                      </a:solidFill>
                      <a:prstDash val="solid"/>
                      <a:round/>
                      <a:headEnd type="none" w="med" len="med"/>
                      <a:tailEnd type="none" w="med" len="med"/>
                    </a:lnL>
                    <a:lnR w="12700" cap="flat" cmpd="sng" algn="ctr">
                      <a:solidFill>
                        <a:srgbClr val="D7DCE1"/>
                      </a:solidFill>
                      <a:prstDash val="solid"/>
                      <a:round/>
                      <a:headEnd type="none" w="med" len="med"/>
                      <a:tailEnd type="none" w="med" len="med"/>
                    </a:lnR>
                    <a:lnT w="12700" cap="flat" cmpd="sng" algn="ctr">
                      <a:solidFill>
                        <a:srgbClr val="D7DCE1"/>
                      </a:solidFill>
                      <a:prstDash val="solid"/>
                      <a:round/>
                      <a:headEnd type="none" w="med" len="med"/>
                      <a:tailEnd type="none" w="med" len="med"/>
                    </a:lnT>
                    <a:lnB w="12700" cap="flat" cmpd="sng" algn="ctr">
                      <a:solidFill>
                        <a:srgbClr val="D7DCE1"/>
                      </a:solidFill>
                      <a:prstDash val="solid"/>
                      <a:round/>
                      <a:headEnd type="none" w="med" len="med"/>
                      <a:tailEnd type="none" w="med" len="med"/>
                    </a:lnB>
                    <a:solidFill>
                      <a:srgbClr val="E7EBEF"/>
                    </a:solidFill>
                  </a:tcPr>
                </a:tc>
                <a:tc>
                  <a:txBody>
                    <a:bodyPr/>
                    <a:lstStyle/>
                    <a:p>
                      <a:pPr marL="0" indent="0">
                        <a:buNone/>
                      </a:pPr>
                      <a:r>
                        <a:rPr lang="en-US" sz="1800" b="1" dirty="0">
                          <a:solidFill>
                            <a:srgbClr val="000000"/>
                          </a:solidFill>
                          <a:latin typeface="Times New Roman" pitchFamily="34" charset="0"/>
                          <a:ea typeface="Times New Roman" pitchFamily="34" charset="-122"/>
                          <a:cs typeface="Times New Roman" pitchFamily="34" charset="-120"/>
                        </a:rPr>
                        <a:t>What is missing</a:t>
                      </a:r>
                      <a:endParaRPr lang="en-US" sz="1800" dirty="0">
                        <a:latin typeface="Times New Roman" charset="0"/>
                        <a:ea typeface="Times New Roman" charset="0"/>
                        <a:cs typeface="Times New Roman" charset="0"/>
                      </a:endParaRPr>
                    </a:p>
                  </a:txBody>
                  <a:tcPr marL="137160" marR="137160" marT="36576" marB="36576" anchor="ctr">
                    <a:lnL w="12700" cap="flat" cmpd="sng" algn="ctr">
                      <a:solidFill>
                        <a:srgbClr val="D7DCE1"/>
                      </a:solidFill>
                      <a:prstDash val="solid"/>
                      <a:round/>
                      <a:headEnd type="none" w="med" len="med"/>
                      <a:tailEnd type="none" w="med" len="med"/>
                    </a:lnL>
                    <a:lnR w="12700" cap="flat" cmpd="sng" algn="ctr">
                      <a:solidFill>
                        <a:srgbClr val="D7DCE1"/>
                      </a:solidFill>
                      <a:prstDash val="solid"/>
                      <a:round/>
                      <a:headEnd type="none" w="med" len="med"/>
                      <a:tailEnd type="none" w="med" len="med"/>
                    </a:lnR>
                    <a:lnT w="12700" cap="flat" cmpd="sng" algn="ctr">
                      <a:solidFill>
                        <a:srgbClr val="D7DCE1"/>
                      </a:solidFill>
                      <a:prstDash val="solid"/>
                      <a:round/>
                      <a:headEnd type="none" w="med" len="med"/>
                      <a:tailEnd type="none" w="med" len="med"/>
                    </a:lnT>
                    <a:lnB w="12700" cap="flat" cmpd="sng" algn="ctr">
                      <a:solidFill>
                        <a:srgbClr val="D7DCE1"/>
                      </a:solidFill>
                      <a:prstDash val="solid"/>
                      <a:round/>
                      <a:headEnd type="none" w="med" len="med"/>
                      <a:tailEnd type="none" w="med" len="med"/>
                    </a:lnB>
                    <a:solidFill>
                      <a:srgbClr val="E7EBEF"/>
                    </a:solidFill>
                  </a:tcPr>
                </a:tc>
              </a:tr>
              <a:tr h="713232">
                <a:tc>
                  <a:txBody>
                    <a:bodyPr/>
                    <a:lstStyle/>
                    <a:p>
                      <a:pPr marL="0" indent="0">
                        <a:buNone/>
                      </a:pPr>
                      <a:r>
                        <a:rPr lang="en-US" sz="1800" b="1" dirty="0">
                          <a:solidFill>
                            <a:srgbClr val="000000"/>
                          </a:solidFill>
                          <a:latin typeface="Times New Roman" pitchFamily="34" charset="0"/>
                          <a:ea typeface="Times New Roman" pitchFamily="34" charset="-122"/>
                          <a:cs typeface="Times New Roman" pitchFamily="34" charset="-120"/>
                        </a:rPr>
                        <a:t>Single-model studies</a:t>
                      </a:r>
                      <a:endParaRPr lang="en-US" sz="1200" dirty="0">
                        <a:latin typeface="Times New Roman" charset="0"/>
                        <a:ea typeface="Times New Roman" charset="0"/>
                        <a:cs typeface="Times New Roman" charset="0"/>
                      </a:endParaRPr>
                    </a:p>
                    <a:p>
                      <a:pPr marL="0" indent="0">
                        <a:buNone/>
                      </a:pPr>
                      <a:r>
                        <a:rPr lang="en-US" sz="1400" dirty="0">
                          <a:solidFill>
                            <a:srgbClr val="5B6B7C"/>
                          </a:solidFill>
                          <a:latin typeface="Times New Roman" pitchFamily="34" charset="0"/>
                          <a:ea typeface="Times New Roman" pitchFamily="34" charset="-122"/>
                          <a:cs typeface="Times New Roman" pitchFamily="34" charset="-120"/>
                        </a:rPr>
                        <a:t>Casuat 2019 · Othman 2018 · Dubey &amp; Mani 2019</a:t>
                      </a:r>
                      <a:endParaRPr lang="en-US" sz="1200" dirty="0">
                        <a:latin typeface="Times New Roman" charset="0"/>
                        <a:ea typeface="Times New Roman" charset="0"/>
                        <a:cs typeface="Times New Roman" charset="0"/>
                      </a:endParaRPr>
                    </a:p>
                  </a:txBody>
                  <a:tcPr marL="137160" marR="137160" marT="36576" marB="36576" anchor="ctr">
                    <a:lnL w="12700" cap="flat" cmpd="sng" algn="ctr">
                      <a:solidFill>
                        <a:srgbClr val="D7DCE1"/>
                      </a:solidFill>
                      <a:prstDash val="solid"/>
                      <a:round/>
                      <a:headEnd type="none" w="med" len="med"/>
                      <a:tailEnd type="none" w="med" len="med"/>
                    </a:lnL>
                    <a:lnR w="12700" cap="flat" cmpd="sng" algn="ctr">
                      <a:solidFill>
                        <a:srgbClr val="D7DCE1"/>
                      </a:solidFill>
                      <a:prstDash val="solid"/>
                      <a:round/>
                      <a:headEnd type="none" w="med" len="med"/>
                      <a:tailEnd type="none" w="med" len="med"/>
                    </a:lnR>
                    <a:lnT w="12700" cap="flat" cmpd="sng" algn="ctr">
                      <a:solidFill>
                        <a:srgbClr val="D7DCE1"/>
                      </a:solidFill>
                      <a:prstDash val="solid"/>
                      <a:round/>
                      <a:headEnd type="none" w="med" len="med"/>
                      <a:tailEnd type="none" w="med" len="med"/>
                    </a:lnT>
                    <a:lnB w="12700" cap="flat" cmpd="sng" algn="ctr">
                      <a:solidFill>
                        <a:srgbClr val="D7DCE1"/>
                      </a:solidFill>
                      <a:prstDash val="solid"/>
                      <a:round/>
                      <a:headEnd type="none" w="med" len="med"/>
                      <a:tailEnd type="none" w="med" len="med"/>
                    </a:lnB>
                    <a:solidFill>
                      <a:srgbClr val="FFFFFF"/>
                    </a:solidFill>
                  </a:tcPr>
                </a:tc>
                <a:tc>
                  <a:txBody>
                    <a:bodyPr/>
                    <a:lstStyle/>
                    <a:p>
                      <a:pPr marL="0" indent="0">
                        <a:buNone/>
                      </a:pPr>
                      <a:r>
                        <a:rPr lang="en-US" sz="1800" dirty="0">
                          <a:solidFill>
                            <a:srgbClr val="000000"/>
                          </a:solidFill>
                          <a:latin typeface="Times New Roman" pitchFamily="34" charset="0"/>
                          <a:ea typeface="Times New Roman" pitchFamily="34" charset="-122"/>
                          <a:cs typeface="Times New Roman" pitchFamily="34" charset="-120"/>
                        </a:rPr>
                        <a:t>Tested a few models on school or survey records</a:t>
                      </a:r>
                      <a:endParaRPr lang="en-US" sz="1800" dirty="0">
                        <a:latin typeface="Times New Roman" charset="0"/>
                        <a:ea typeface="Times New Roman" charset="0"/>
                        <a:cs typeface="Times New Roman" charset="0"/>
                      </a:endParaRPr>
                    </a:p>
                  </a:txBody>
                  <a:tcPr marL="137160" marR="137160" marT="36576" marB="36576" anchor="ctr">
                    <a:lnL w="12700" cap="flat" cmpd="sng" algn="ctr">
                      <a:solidFill>
                        <a:srgbClr val="D7DCE1"/>
                      </a:solidFill>
                      <a:prstDash val="solid"/>
                      <a:round/>
                      <a:headEnd type="none" w="med" len="med"/>
                      <a:tailEnd type="none" w="med" len="med"/>
                    </a:lnL>
                    <a:lnR w="12700" cap="flat" cmpd="sng" algn="ctr">
                      <a:solidFill>
                        <a:srgbClr val="D7DCE1"/>
                      </a:solidFill>
                      <a:prstDash val="solid"/>
                      <a:round/>
                      <a:headEnd type="none" w="med" len="med"/>
                      <a:tailEnd type="none" w="med" len="med"/>
                    </a:lnR>
                    <a:lnT w="12700" cap="flat" cmpd="sng" algn="ctr">
                      <a:solidFill>
                        <a:srgbClr val="D7DCE1"/>
                      </a:solidFill>
                      <a:prstDash val="solid"/>
                      <a:round/>
                      <a:headEnd type="none" w="med" len="med"/>
                      <a:tailEnd type="none" w="med" len="med"/>
                    </a:lnT>
                    <a:lnB w="12700" cap="flat" cmpd="sng" algn="ctr">
                      <a:solidFill>
                        <a:srgbClr val="D7DCE1"/>
                      </a:solidFill>
                      <a:prstDash val="solid"/>
                      <a:round/>
                      <a:headEnd type="none" w="med" len="med"/>
                      <a:tailEnd type="none" w="med" len="med"/>
                    </a:lnB>
                    <a:solidFill>
                      <a:srgbClr val="FFFFFF"/>
                    </a:solidFill>
                  </a:tcPr>
                </a:tc>
                <a:tc>
                  <a:txBody>
                    <a:bodyPr/>
                    <a:lstStyle/>
                    <a:p>
                      <a:pPr marL="0" indent="0">
                        <a:buNone/>
                      </a:pPr>
                      <a:r>
                        <a:rPr lang="en-US" sz="1800" dirty="0">
                          <a:solidFill>
                            <a:srgbClr val="000000"/>
                          </a:solidFill>
                          <a:latin typeface="Times New Roman" pitchFamily="34" charset="0"/>
                          <a:ea typeface="Times New Roman" pitchFamily="34" charset="-122"/>
                          <a:cs typeface="Times New Roman" pitchFamily="34" charset="-120"/>
                        </a:rPr>
                        <a:t>Only grades; only accuracy checked</a:t>
                      </a:r>
                      <a:endParaRPr lang="en-US" sz="1800" dirty="0">
                        <a:latin typeface="Times New Roman" charset="0"/>
                        <a:ea typeface="Times New Roman" charset="0"/>
                        <a:cs typeface="Times New Roman" charset="0"/>
                      </a:endParaRPr>
                    </a:p>
                  </a:txBody>
                  <a:tcPr marL="137160" marR="137160" marT="36576" marB="36576" anchor="ctr">
                    <a:lnL w="12700" cap="flat" cmpd="sng" algn="ctr">
                      <a:solidFill>
                        <a:srgbClr val="D7DCE1"/>
                      </a:solidFill>
                      <a:prstDash val="solid"/>
                      <a:round/>
                      <a:headEnd type="none" w="med" len="med"/>
                      <a:tailEnd type="none" w="med" len="med"/>
                    </a:lnL>
                    <a:lnR w="12700" cap="flat" cmpd="sng" algn="ctr">
                      <a:solidFill>
                        <a:srgbClr val="D7DCE1"/>
                      </a:solidFill>
                      <a:prstDash val="solid"/>
                      <a:round/>
                      <a:headEnd type="none" w="med" len="med"/>
                      <a:tailEnd type="none" w="med" len="med"/>
                    </a:lnR>
                    <a:lnT w="12700" cap="flat" cmpd="sng" algn="ctr">
                      <a:solidFill>
                        <a:srgbClr val="D7DCE1"/>
                      </a:solidFill>
                      <a:prstDash val="solid"/>
                      <a:round/>
                      <a:headEnd type="none" w="med" len="med"/>
                      <a:tailEnd type="none" w="med" len="med"/>
                    </a:lnT>
                    <a:lnB w="12700" cap="flat" cmpd="sng" algn="ctr">
                      <a:solidFill>
                        <a:srgbClr val="D7DCE1"/>
                      </a:solidFill>
                      <a:prstDash val="solid"/>
                      <a:round/>
                      <a:headEnd type="none" w="med" len="med"/>
                      <a:tailEnd type="none" w="med" len="med"/>
                    </a:lnB>
                    <a:solidFill>
                      <a:srgbClr val="FFFFFF"/>
                    </a:solidFill>
                  </a:tcPr>
                </a:tc>
              </a:tr>
              <a:tr h="713232">
                <a:tc>
                  <a:txBody>
                    <a:bodyPr/>
                    <a:lstStyle/>
                    <a:p>
                      <a:pPr marL="0" indent="0">
                        <a:buNone/>
                      </a:pPr>
                      <a:r>
                        <a:rPr lang="en-US" sz="1800" b="1" dirty="0">
                          <a:solidFill>
                            <a:srgbClr val="000000"/>
                          </a:solidFill>
                          <a:latin typeface="Times New Roman" pitchFamily="34" charset="0"/>
                          <a:ea typeface="Times New Roman" pitchFamily="34" charset="-122"/>
                          <a:cs typeface="Times New Roman" pitchFamily="34" charset="-120"/>
                        </a:rPr>
                        <a:t>Advanced-model studies</a:t>
                      </a:r>
                      <a:endParaRPr lang="en-US" sz="1200" dirty="0">
                        <a:latin typeface="Times New Roman" charset="0"/>
                        <a:ea typeface="Times New Roman" charset="0"/>
                        <a:cs typeface="Times New Roman" charset="0"/>
                      </a:endParaRPr>
                    </a:p>
                    <a:p>
                      <a:pPr marL="0" indent="0">
                        <a:buNone/>
                      </a:pPr>
                      <a:r>
                        <a:rPr lang="en-US" sz="1400" dirty="0">
                          <a:solidFill>
                            <a:srgbClr val="5B6B7C"/>
                          </a:solidFill>
                          <a:latin typeface="Times New Roman" pitchFamily="34" charset="0"/>
                          <a:ea typeface="Times New Roman" pitchFamily="34" charset="-122"/>
                          <a:cs typeface="Times New Roman" pitchFamily="34" charset="-120"/>
                        </a:rPr>
                        <a:t>Vo 2023 · Haque 2024 · Kahlik 2024 · ElSharkawy 2022</a:t>
                      </a:r>
                      <a:endParaRPr lang="en-US" sz="1200" dirty="0">
                        <a:latin typeface="Times New Roman" charset="0"/>
                        <a:ea typeface="Times New Roman" charset="0"/>
                        <a:cs typeface="Times New Roman" charset="0"/>
                      </a:endParaRPr>
                    </a:p>
                  </a:txBody>
                  <a:tcPr marL="137160" marR="137160" marT="36576" marB="36576" anchor="ctr">
                    <a:lnL w="12700" cap="flat" cmpd="sng" algn="ctr">
                      <a:solidFill>
                        <a:srgbClr val="D7DCE1"/>
                      </a:solidFill>
                      <a:prstDash val="solid"/>
                      <a:round/>
                      <a:headEnd type="none" w="med" len="med"/>
                      <a:tailEnd type="none" w="med" len="med"/>
                    </a:lnL>
                    <a:lnR w="12700" cap="flat" cmpd="sng" algn="ctr">
                      <a:solidFill>
                        <a:srgbClr val="D7DCE1"/>
                      </a:solidFill>
                      <a:prstDash val="solid"/>
                      <a:round/>
                      <a:headEnd type="none" w="med" len="med"/>
                      <a:tailEnd type="none" w="med" len="med"/>
                    </a:lnR>
                    <a:lnT w="12700" cap="flat" cmpd="sng" algn="ctr">
                      <a:solidFill>
                        <a:srgbClr val="D7DCE1"/>
                      </a:solidFill>
                      <a:prstDash val="solid"/>
                      <a:round/>
                      <a:headEnd type="none" w="med" len="med"/>
                      <a:tailEnd type="none" w="med" len="med"/>
                    </a:lnT>
                    <a:lnB w="12700" cap="flat" cmpd="sng" algn="ctr">
                      <a:solidFill>
                        <a:srgbClr val="D7DCE1"/>
                      </a:solidFill>
                      <a:prstDash val="solid"/>
                      <a:round/>
                      <a:headEnd type="none" w="med" len="med"/>
                      <a:tailEnd type="none" w="med" len="med"/>
                    </a:lnB>
                    <a:solidFill>
                      <a:srgbClr val="FFFFFF"/>
                    </a:solidFill>
                  </a:tcPr>
                </a:tc>
                <a:tc>
                  <a:txBody>
                    <a:bodyPr/>
                    <a:lstStyle/>
                    <a:p>
                      <a:pPr marL="0" indent="0">
                        <a:buNone/>
                      </a:pPr>
                      <a:r>
                        <a:rPr lang="en-US" sz="1800" dirty="0">
                          <a:solidFill>
                            <a:srgbClr val="000000"/>
                          </a:solidFill>
                          <a:latin typeface="Times New Roman" pitchFamily="34" charset="0"/>
                          <a:ea typeface="Times New Roman" pitchFamily="34" charset="-122"/>
                          <a:cs typeface="Times New Roman" pitchFamily="34" charset="-120"/>
                        </a:rPr>
                        <a:t>Used stronger methods such as stacking</a:t>
                      </a:r>
                      <a:endParaRPr lang="en-US" sz="1800" dirty="0">
                        <a:latin typeface="Times New Roman" charset="0"/>
                        <a:ea typeface="Times New Roman" charset="0"/>
                        <a:cs typeface="Times New Roman" charset="0"/>
                      </a:endParaRPr>
                    </a:p>
                  </a:txBody>
                  <a:tcPr marL="137160" marR="137160" marT="36576" marB="36576" anchor="ctr">
                    <a:lnL w="12700" cap="flat" cmpd="sng" algn="ctr">
                      <a:solidFill>
                        <a:srgbClr val="D7DCE1"/>
                      </a:solidFill>
                      <a:prstDash val="solid"/>
                      <a:round/>
                      <a:headEnd type="none" w="med" len="med"/>
                      <a:tailEnd type="none" w="med" len="med"/>
                    </a:lnL>
                    <a:lnR w="12700" cap="flat" cmpd="sng" algn="ctr">
                      <a:solidFill>
                        <a:srgbClr val="D7DCE1"/>
                      </a:solidFill>
                      <a:prstDash val="solid"/>
                      <a:round/>
                      <a:headEnd type="none" w="med" len="med"/>
                      <a:tailEnd type="none" w="med" len="med"/>
                    </a:lnR>
                    <a:lnT w="12700" cap="flat" cmpd="sng" algn="ctr">
                      <a:solidFill>
                        <a:srgbClr val="D7DCE1"/>
                      </a:solidFill>
                      <a:prstDash val="solid"/>
                      <a:round/>
                      <a:headEnd type="none" w="med" len="med"/>
                      <a:tailEnd type="none" w="med" len="med"/>
                    </a:lnT>
                    <a:lnB w="12700" cap="flat" cmpd="sng" algn="ctr">
                      <a:solidFill>
                        <a:srgbClr val="D7DCE1"/>
                      </a:solidFill>
                      <a:prstDash val="solid"/>
                      <a:round/>
                      <a:headEnd type="none" w="med" len="med"/>
                      <a:tailEnd type="none" w="med" len="med"/>
                    </a:lnB>
                    <a:solidFill>
                      <a:srgbClr val="FFFFFF"/>
                    </a:solidFill>
                  </a:tcPr>
                </a:tc>
                <a:tc>
                  <a:txBody>
                    <a:bodyPr/>
                    <a:lstStyle/>
                    <a:p>
                      <a:pPr marL="0" indent="0">
                        <a:buNone/>
                      </a:pPr>
                      <a:r>
                        <a:rPr lang="en-US" sz="1800" dirty="0">
                          <a:solidFill>
                            <a:srgbClr val="000000"/>
                          </a:solidFill>
                          <a:latin typeface="Times New Roman" pitchFamily="34" charset="0"/>
                          <a:ea typeface="Times New Roman" pitchFamily="34" charset="-122"/>
                          <a:cs typeface="Times New Roman" pitchFamily="34" charset="-120"/>
                        </a:rPr>
                        <a:t>Hard to explain; none for Bangladesh</a:t>
                      </a:r>
                      <a:endParaRPr lang="en-US" sz="1800" dirty="0">
                        <a:latin typeface="Times New Roman" charset="0"/>
                        <a:ea typeface="Times New Roman" charset="0"/>
                        <a:cs typeface="Times New Roman" charset="0"/>
                      </a:endParaRPr>
                    </a:p>
                  </a:txBody>
                  <a:tcPr marL="137160" marR="137160" marT="36576" marB="36576" anchor="ctr">
                    <a:lnL w="12700" cap="flat" cmpd="sng" algn="ctr">
                      <a:solidFill>
                        <a:srgbClr val="D7DCE1"/>
                      </a:solidFill>
                      <a:prstDash val="solid"/>
                      <a:round/>
                      <a:headEnd type="none" w="med" len="med"/>
                      <a:tailEnd type="none" w="med" len="med"/>
                    </a:lnL>
                    <a:lnR w="12700" cap="flat" cmpd="sng" algn="ctr">
                      <a:solidFill>
                        <a:srgbClr val="D7DCE1"/>
                      </a:solidFill>
                      <a:prstDash val="solid"/>
                      <a:round/>
                      <a:headEnd type="none" w="med" len="med"/>
                      <a:tailEnd type="none" w="med" len="med"/>
                    </a:lnR>
                    <a:lnT w="12700" cap="flat" cmpd="sng" algn="ctr">
                      <a:solidFill>
                        <a:srgbClr val="D7DCE1"/>
                      </a:solidFill>
                      <a:prstDash val="solid"/>
                      <a:round/>
                      <a:headEnd type="none" w="med" len="med"/>
                      <a:tailEnd type="none" w="med" len="med"/>
                    </a:lnT>
                    <a:lnB w="12700" cap="flat" cmpd="sng" algn="ctr">
                      <a:solidFill>
                        <a:srgbClr val="D7DCE1"/>
                      </a:solidFill>
                      <a:prstDash val="solid"/>
                      <a:round/>
                      <a:headEnd type="none" w="med" len="med"/>
                      <a:tailEnd type="none" w="med" len="med"/>
                    </a:lnB>
                    <a:solidFill>
                      <a:srgbClr val="FFFFFF"/>
                    </a:solidFill>
                  </a:tcPr>
                </a:tc>
              </a:tr>
              <a:tr h="713232">
                <a:tc>
                  <a:txBody>
                    <a:bodyPr/>
                    <a:lstStyle/>
                    <a:p>
                      <a:pPr marL="0" indent="0">
                        <a:buNone/>
                      </a:pPr>
                      <a:r>
                        <a:rPr lang="en-US" sz="1800" b="1" dirty="0">
                          <a:solidFill>
                            <a:srgbClr val="000000"/>
                          </a:solidFill>
                          <a:latin typeface="Times New Roman" pitchFamily="34" charset="0"/>
                          <a:ea typeface="Times New Roman" pitchFamily="34" charset="-122"/>
                          <a:cs typeface="Times New Roman" pitchFamily="34" charset="-120"/>
                        </a:rPr>
                        <a:t>Studies in Bangladesh</a:t>
                      </a:r>
                      <a:endParaRPr lang="en-US" sz="1200" dirty="0">
                        <a:latin typeface="Times New Roman" charset="0"/>
                        <a:ea typeface="Times New Roman" charset="0"/>
                        <a:cs typeface="Times New Roman" charset="0"/>
                      </a:endParaRPr>
                    </a:p>
                    <a:p>
                      <a:pPr marL="0" indent="0">
                        <a:buNone/>
                      </a:pPr>
                      <a:r>
                        <a:rPr lang="en-US" sz="1400" dirty="0">
                          <a:solidFill>
                            <a:srgbClr val="5B6B7C"/>
                          </a:solidFill>
                          <a:latin typeface="Times New Roman" pitchFamily="34" charset="0"/>
                          <a:ea typeface="Times New Roman" pitchFamily="34" charset="-122"/>
                          <a:cs typeface="Times New Roman" pitchFamily="34" charset="-120"/>
                        </a:rPr>
                        <a:t>Biswas 2021 · Zulfiker 2020</a:t>
                      </a:r>
                      <a:endParaRPr lang="en-US" sz="1200" dirty="0">
                        <a:latin typeface="Times New Roman" charset="0"/>
                        <a:ea typeface="Times New Roman" charset="0"/>
                        <a:cs typeface="Times New Roman" charset="0"/>
                      </a:endParaRPr>
                    </a:p>
                  </a:txBody>
                  <a:tcPr marL="137160" marR="137160" marT="36576" marB="36576" anchor="ctr">
                    <a:lnL w="12700" cap="flat" cmpd="sng" algn="ctr">
                      <a:solidFill>
                        <a:srgbClr val="D7DCE1"/>
                      </a:solidFill>
                      <a:prstDash val="solid"/>
                      <a:round/>
                      <a:headEnd type="none" w="med" len="med"/>
                      <a:tailEnd type="none" w="med" len="med"/>
                    </a:lnL>
                    <a:lnR w="12700" cap="flat" cmpd="sng" algn="ctr">
                      <a:solidFill>
                        <a:srgbClr val="D7DCE1"/>
                      </a:solidFill>
                      <a:prstDash val="solid"/>
                      <a:round/>
                      <a:headEnd type="none" w="med" len="med"/>
                      <a:tailEnd type="none" w="med" len="med"/>
                    </a:lnR>
                    <a:lnT w="12700" cap="flat" cmpd="sng" algn="ctr">
                      <a:solidFill>
                        <a:srgbClr val="D7DCE1"/>
                      </a:solidFill>
                      <a:prstDash val="solid"/>
                      <a:round/>
                      <a:headEnd type="none" w="med" len="med"/>
                      <a:tailEnd type="none" w="med" len="med"/>
                    </a:lnT>
                    <a:lnB w="12700" cap="flat" cmpd="sng" algn="ctr">
                      <a:solidFill>
                        <a:srgbClr val="D7DCE1"/>
                      </a:solidFill>
                      <a:prstDash val="solid"/>
                      <a:round/>
                      <a:headEnd type="none" w="med" len="med"/>
                      <a:tailEnd type="none" w="med" len="med"/>
                    </a:lnB>
                    <a:solidFill>
                      <a:srgbClr val="FFFFFF"/>
                    </a:solidFill>
                  </a:tcPr>
                </a:tc>
                <a:tc>
                  <a:txBody>
                    <a:bodyPr/>
                    <a:lstStyle/>
                    <a:p>
                      <a:pPr marL="0" indent="0">
                        <a:buNone/>
                      </a:pPr>
                      <a:r>
                        <a:rPr lang="en-US" sz="1800" dirty="0">
                          <a:solidFill>
                            <a:srgbClr val="000000"/>
                          </a:solidFill>
                          <a:latin typeface="Times New Roman" pitchFamily="34" charset="0"/>
                          <a:ea typeface="Times New Roman" pitchFamily="34" charset="-122"/>
                          <a:cs typeface="Times New Roman" pitchFamily="34" charset="-120"/>
                        </a:rPr>
                        <a:t>Predicted career type or grades</a:t>
                      </a:r>
                      <a:endParaRPr lang="en-US" sz="1800" dirty="0">
                        <a:latin typeface="Times New Roman" charset="0"/>
                        <a:ea typeface="Times New Roman" charset="0"/>
                        <a:cs typeface="Times New Roman" charset="0"/>
                      </a:endParaRPr>
                    </a:p>
                  </a:txBody>
                  <a:tcPr marL="137160" marR="137160" marT="36576" marB="36576" anchor="ctr">
                    <a:lnL w="12700" cap="flat" cmpd="sng" algn="ctr">
                      <a:solidFill>
                        <a:srgbClr val="D7DCE1"/>
                      </a:solidFill>
                      <a:prstDash val="solid"/>
                      <a:round/>
                      <a:headEnd type="none" w="med" len="med"/>
                      <a:tailEnd type="none" w="med" len="med"/>
                    </a:lnL>
                    <a:lnR w="12700" cap="flat" cmpd="sng" algn="ctr">
                      <a:solidFill>
                        <a:srgbClr val="D7DCE1"/>
                      </a:solidFill>
                      <a:prstDash val="solid"/>
                      <a:round/>
                      <a:headEnd type="none" w="med" len="med"/>
                      <a:tailEnd type="none" w="med" len="med"/>
                    </a:lnR>
                    <a:lnT w="12700" cap="flat" cmpd="sng" algn="ctr">
                      <a:solidFill>
                        <a:srgbClr val="D7DCE1"/>
                      </a:solidFill>
                      <a:prstDash val="solid"/>
                      <a:round/>
                      <a:headEnd type="none" w="med" len="med"/>
                      <a:tailEnd type="none" w="med" len="med"/>
                    </a:lnT>
                    <a:lnB w="12700" cap="flat" cmpd="sng" algn="ctr">
                      <a:solidFill>
                        <a:srgbClr val="D7DCE1"/>
                      </a:solidFill>
                      <a:prstDash val="solid"/>
                      <a:round/>
                      <a:headEnd type="none" w="med" len="med"/>
                      <a:tailEnd type="none" w="med" len="med"/>
                    </a:lnB>
                    <a:solidFill>
                      <a:srgbClr val="FFFFFF"/>
                    </a:solidFill>
                  </a:tcPr>
                </a:tc>
                <a:tc>
                  <a:txBody>
                    <a:bodyPr/>
                    <a:lstStyle/>
                    <a:p>
                      <a:pPr marL="0" indent="0">
                        <a:buNone/>
                      </a:pPr>
                      <a:r>
                        <a:rPr lang="en-US" sz="1800" dirty="0">
                          <a:solidFill>
                            <a:srgbClr val="000000"/>
                          </a:solidFill>
                          <a:latin typeface="Times New Roman" pitchFamily="34" charset="0"/>
                          <a:ea typeface="Times New Roman" pitchFamily="34" charset="-122"/>
                          <a:cs typeface="Times New Roman" pitchFamily="34" charset="-120"/>
                        </a:rPr>
                        <a:t>Not job chances; no skill data</a:t>
                      </a:r>
                      <a:endParaRPr lang="en-US" sz="1800" dirty="0">
                        <a:latin typeface="Times New Roman" charset="0"/>
                        <a:ea typeface="Times New Roman" charset="0"/>
                        <a:cs typeface="Times New Roman" charset="0"/>
                      </a:endParaRPr>
                    </a:p>
                  </a:txBody>
                  <a:tcPr marL="137160" marR="137160" marT="36576" marB="36576" anchor="ctr">
                    <a:lnL w="12700" cap="flat" cmpd="sng" algn="ctr">
                      <a:solidFill>
                        <a:srgbClr val="D7DCE1"/>
                      </a:solidFill>
                      <a:prstDash val="solid"/>
                      <a:round/>
                      <a:headEnd type="none" w="med" len="med"/>
                      <a:tailEnd type="none" w="med" len="med"/>
                    </a:lnL>
                    <a:lnR w="12700" cap="flat" cmpd="sng" algn="ctr">
                      <a:solidFill>
                        <a:srgbClr val="D7DCE1"/>
                      </a:solidFill>
                      <a:prstDash val="solid"/>
                      <a:round/>
                      <a:headEnd type="none" w="med" len="med"/>
                      <a:tailEnd type="none" w="med" len="med"/>
                    </a:lnR>
                    <a:lnT w="12700" cap="flat" cmpd="sng" algn="ctr">
                      <a:solidFill>
                        <a:srgbClr val="D7DCE1"/>
                      </a:solidFill>
                      <a:prstDash val="solid"/>
                      <a:round/>
                      <a:headEnd type="none" w="med" len="med"/>
                      <a:tailEnd type="none" w="med" len="med"/>
                    </a:lnT>
                    <a:lnB w="12700" cap="flat" cmpd="sng" algn="ctr">
                      <a:solidFill>
                        <a:srgbClr val="D7DCE1"/>
                      </a:solidFill>
                      <a:prstDash val="solid"/>
                      <a:round/>
                      <a:headEnd type="none" w="med" len="med"/>
                      <a:tailEnd type="none" w="med" len="med"/>
                    </a:lnB>
                    <a:solidFill>
                      <a:srgbClr val="FFFFFF"/>
                    </a:solidFill>
                  </a:tcPr>
                </a:tc>
              </a:tr>
              <a:tr h="713232">
                <a:tc>
                  <a:txBody>
                    <a:bodyPr/>
                    <a:lstStyle/>
                    <a:p>
                      <a:pPr marL="0" indent="0">
                        <a:buNone/>
                      </a:pPr>
                      <a:r>
                        <a:rPr lang="en-US" sz="1800" b="1" dirty="0">
                          <a:solidFill>
                            <a:srgbClr val="000000"/>
                          </a:solidFill>
                          <a:latin typeface="Times New Roman" pitchFamily="34" charset="0"/>
                          <a:ea typeface="Times New Roman" pitchFamily="34" charset="-122"/>
                          <a:cs typeface="Times New Roman" pitchFamily="34" charset="-120"/>
                        </a:rPr>
                        <a:t>One small study</a:t>
                      </a:r>
                      <a:endParaRPr lang="en-US" sz="1200" dirty="0">
                        <a:latin typeface="Times New Roman" charset="0"/>
                        <a:ea typeface="Times New Roman" charset="0"/>
                        <a:cs typeface="Times New Roman" charset="0"/>
                      </a:endParaRPr>
                    </a:p>
                    <a:p>
                      <a:pPr marL="0" indent="0">
                        <a:buNone/>
                      </a:pPr>
                      <a:r>
                        <a:rPr lang="en-US" sz="1400" dirty="0">
                          <a:solidFill>
                            <a:srgbClr val="5B6B7C"/>
                          </a:solidFill>
                          <a:latin typeface="Times New Roman" pitchFamily="34" charset="0"/>
                          <a:ea typeface="Times New Roman" pitchFamily="34" charset="-122"/>
                          <a:cs typeface="Times New Roman" pitchFamily="34" charset="-120"/>
                        </a:rPr>
                        <a:t>Baffa 2023</a:t>
                      </a:r>
                      <a:endParaRPr lang="en-US" sz="1200" dirty="0">
                        <a:latin typeface="Times New Roman" charset="0"/>
                        <a:ea typeface="Times New Roman" charset="0"/>
                        <a:cs typeface="Times New Roman" charset="0"/>
                      </a:endParaRPr>
                    </a:p>
                  </a:txBody>
                  <a:tcPr marL="137160" marR="137160" marT="36576" marB="36576" anchor="ctr">
                    <a:lnL w="12700" cap="flat" cmpd="sng" algn="ctr">
                      <a:solidFill>
                        <a:srgbClr val="D7DCE1"/>
                      </a:solidFill>
                      <a:prstDash val="solid"/>
                      <a:round/>
                      <a:headEnd type="none" w="med" len="med"/>
                      <a:tailEnd type="none" w="med" len="med"/>
                    </a:lnL>
                    <a:lnR w="12700" cap="flat" cmpd="sng" algn="ctr">
                      <a:solidFill>
                        <a:srgbClr val="D7DCE1"/>
                      </a:solidFill>
                      <a:prstDash val="solid"/>
                      <a:round/>
                      <a:headEnd type="none" w="med" len="med"/>
                      <a:tailEnd type="none" w="med" len="med"/>
                    </a:lnR>
                    <a:lnT w="12700" cap="flat" cmpd="sng" algn="ctr">
                      <a:solidFill>
                        <a:srgbClr val="D7DCE1"/>
                      </a:solidFill>
                      <a:prstDash val="solid"/>
                      <a:round/>
                      <a:headEnd type="none" w="med" len="med"/>
                      <a:tailEnd type="none" w="med" len="med"/>
                    </a:lnT>
                    <a:lnB w="12700" cap="flat" cmpd="sng" algn="ctr">
                      <a:solidFill>
                        <a:srgbClr val="D7DCE1"/>
                      </a:solidFill>
                      <a:prstDash val="solid"/>
                      <a:round/>
                      <a:headEnd type="none" w="med" len="med"/>
                      <a:tailEnd type="none" w="med" len="med"/>
                    </a:lnB>
                    <a:solidFill>
                      <a:srgbClr val="FFFFFF"/>
                    </a:solidFill>
                  </a:tcPr>
                </a:tc>
                <a:tc>
                  <a:txBody>
                    <a:bodyPr/>
                    <a:lstStyle/>
                    <a:p>
                      <a:pPr marL="0" indent="0">
                        <a:buNone/>
                      </a:pPr>
                      <a:r>
                        <a:rPr lang="en-US" sz="1800" dirty="0">
                          <a:solidFill>
                            <a:srgbClr val="000000"/>
                          </a:solidFill>
                          <a:latin typeface="Times New Roman" pitchFamily="34" charset="0"/>
                          <a:ea typeface="Times New Roman" pitchFamily="34" charset="-122"/>
                          <a:cs typeface="Times New Roman" pitchFamily="34" charset="-120"/>
                        </a:rPr>
                        <a:t>Reported about 98% accuracy</a:t>
                      </a:r>
                      <a:endParaRPr lang="en-US" sz="1800" dirty="0">
                        <a:latin typeface="Times New Roman" charset="0"/>
                        <a:ea typeface="Times New Roman" charset="0"/>
                        <a:cs typeface="Times New Roman" charset="0"/>
                      </a:endParaRPr>
                    </a:p>
                  </a:txBody>
                  <a:tcPr marL="137160" marR="137160" marT="36576" marB="36576" anchor="ctr">
                    <a:lnL w="12700" cap="flat" cmpd="sng" algn="ctr">
                      <a:solidFill>
                        <a:srgbClr val="D7DCE1"/>
                      </a:solidFill>
                      <a:prstDash val="solid"/>
                      <a:round/>
                      <a:headEnd type="none" w="med" len="med"/>
                      <a:tailEnd type="none" w="med" len="med"/>
                    </a:lnL>
                    <a:lnR w="12700" cap="flat" cmpd="sng" algn="ctr">
                      <a:solidFill>
                        <a:srgbClr val="D7DCE1"/>
                      </a:solidFill>
                      <a:prstDash val="solid"/>
                      <a:round/>
                      <a:headEnd type="none" w="med" len="med"/>
                      <a:tailEnd type="none" w="med" len="med"/>
                    </a:lnR>
                    <a:lnT w="12700" cap="flat" cmpd="sng" algn="ctr">
                      <a:solidFill>
                        <a:srgbClr val="D7DCE1"/>
                      </a:solidFill>
                      <a:prstDash val="solid"/>
                      <a:round/>
                      <a:headEnd type="none" w="med" len="med"/>
                      <a:tailEnd type="none" w="med" len="med"/>
                    </a:lnT>
                    <a:lnB w="12700" cap="flat" cmpd="sng" algn="ctr">
                      <a:solidFill>
                        <a:srgbClr val="D7DCE1"/>
                      </a:solidFill>
                      <a:prstDash val="solid"/>
                      <a:round/>
                      <a:headEnd type="none" w="med" len="med"/>
                      <a:tailEnd type="none" w="med" len="med"/>
                    </a:lnB>
                    <a:solidFill>
                      <a:srgbClr val="FFFFFF"/>
                    </a:solidFill>
                  </a:tcPr>
                </a:tc>
                <a:tc>
                  <a:txBody>
                    <a:bodyPr/>
                    <a:lstStyle/>
                    <a:p>
                      <a:pPr marL="0" indent="0">
                        <a:buNone/>
                      </a:pPr>
                      <a:r>
                        <a:rPr lang="en-US" sz="1800" dirty="0">
                          <a:solidFill>
                            <a:srgbClr val="000000"/>
                          </a:solidFill>
                          <a:latin typeface="Times New Roman" pitchFamily="34" charset="0"/>
                          <a:ea typeface="Times New Roman" pitchFamily="34" charset="-122"/>
                          <a:cs typeface="Times New Roman" pitchFamily="34" charset="-120"/>
                        </a:rPr>
                        <a:t>Only 218 records</a:t>
                      </a:r>
                      <a:endParaRPr lang="en-US" sz="1800" dirty="0">
                        <a:latin typeface="Times New Roman" charset="0"/>
                        <a:ea typeface="Times New Roman" charset="0"/>
                        <a:cs typeface="Times New Roman" charset="0"/>
                      </a:endParaRPr>
                    </a:p>
                  </a:txBody>
                  <a:tcPr marL="137160" marR="137160" marT="36576" marB="36576" anchor="ctr">
                    <a:lnL w="12700" cap="flat" cmpd="sng" algn="ctr">
                      <a:solidFill>
                        <a:srgbClr val="D7DCE1"/>
                      </a:solidFill>
                      <a:prstDash val="solid"/>
                      <a:round/>
                      <a:headEnd type="none" w="med" len="med"/>
                      <a:tailEnd type="none" w="med" len="med"/>
                    </a:lnL>
                    <a:lnR w="12700" cap="flat" cmpd="sng" algn="ctr">
                      <a:solidFill>
                        <a:srgbClr val="D7DCE1"/>
                      </a:solidFill>
                      <a:prstDash val="solid"/>
                      <a:round/>
                      <a:headEnd type="none" w="med" len="med"/>
                      <a:tailEnd type="none" w="med" len="med"/>
                    </a:lnR>
                    <a:lnT w="12700" cap="flat" cmpd="sng" algn="ctr">
                      <a:solidFill>
                        <a:srgbClr val="D7DCE1"/>
                      </a:solidFill>
                      <a:prstDash val="solid"/>
                      <a:round/>
                      <a:headEnd type="none" w="med" len="med"/>
                      <a:tailEnd type="none" w="med" len="med"/>
                    </a:lnT>
                    <a:lnB w="12700" cap="flat" cmpd="sng" algn="ctr">
                      <a:solidFill>
                        <a:srgbClr val="D7DCE1"/>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48640" y="4892040"/>
            <a:ext cx="7315200" cy="320040"/>
          </a:xfrm>
          <a:prstGeom prst="rect">
            <a:avLst/>
          </a:prstGeom>
          <a:noFill/>
          <a:ln/>
        </p:spPr>
        <p:txBody>
          <a:bodyPr wrap="square" lIns="0" tIns="0" rIns="0" bIns="0" rtlCol="0" anchor="t"/>
          <a:lstStyle/>
          <a:p>
            <a:pPr marL="0" indent="0">
              <a:buNone/>
            </a:pPr>
            <a:r>
              <a:rPr lang="en-US" sz="1400" b="1" kern="0" spc="300" dirty="0">
                <a:solidFill>
                  <a:srgbClr val="000000"/>
                </a:solidFill>
                <a:latin typeface="Times New Roman" pitchFamily="34" charset="0"/>
                <a:ea typeface="Times New Roman" pitchFamily="34" charset="-122"/>
                <a:cs typeface="Times New Roman" pitchFamily="34" charset="-120"/>
              </a:rPr>
              <a:t>HOW THIS THESIS FILLS THE GAP</a:t>
            </a:r>
            <a:endParaRPr lang="en-US" sz="1400" dirty="0"/>
          </a:p>
        </p:txBody>
      </p:sp>
      <p:sp>
        <p:nvSpPr>
          <p:cNvPr id="4" name="Shape 3"/>
          <p:cNvSpPr/>
          <p:nvPr/>
        </p:nvSpPr>
        <p:spPr>
          <a:xfrm>
            <a:off x="548640" y="5303520"/>
            <a:ext cx="2697480" cy="960120"/>
          </a:xfrm>
          <a:prstGeom prst="roundRect">
            <a:avLst>
              <a:gd name="adj" fmla="val 6667"/>
            </a:avLst>
          </a:prstGeom>
          <a:solidFill>
            <a:srgbClr val="E7EBEF"/>
          </a:solidFill>
          <a:ln w="12700">
            <a:solidFill>
              <a:srgbClr val="D7DCE1"/>
            </a:solidFill>
            <a:prstDash val="solid"/>
          </a:ln>
        </p:spPr>
      </p:sp>
      <p:sp>
        <p:nvSpPr>
          <p:cNvPr id="7" name="Text 4"/>
          <p:cNvSpPr txBox="1"/>
          <p:nvPr/>
        </p:nvSpPr>
        <p:spPr>
          <a:xfrm>
            <a:off x="713232" y="5303520"/>
            <a:ext cx="2395728" cy="960120"/>
          </a:xfrm>
          <a:prstGeom prst="rect">
            <a:avLst/>
          </a:prstGeom>
          <a:noFill/>
          <a:ln/>
        </p:spPr>
        <p:txBody>
          <a:bodyPr wrap="square" lIns="0" tIns="0" rIns="0" bIns="0" rtlCol="0" anchor="ctr"/>
          <a:lstStyle/>
          <a:p>
            <a:pPr marL="0" indent="0">
              <a:buNone/>
            </a:pPr>
            <a:r>
              <a:rPr lang="en-US" sz="1800" b="1" dirty="0">
                <a:solidFill>
                  <a:srgbClr val="000000"/>
                </a:solidFill>
                <a:latin typeface="Times New Roman" pitchFamily="34" charset="0"/>
                <a:ea typeface="Times New Roman" pitchFamily="34" charset="-122"/>
                <a:cs typeface="Times New Roman" pitchFamily="34" charset="-120"/>
              </a:rPr>
              <a:t>Bangladesh CSE focus</a:t>
            </a:r>
            <a:endParaRPr lang="en-US" sz="1800" dirty="0"/>
          </a:p>
        </p:txBody>
      </p:sp>
      <p:sp>
        <p:nvSpPr>
          <p:cNvPr id="8" name="Shape 5"/>
          <p:cNvSpPr/>
          <p:nvPr/>
        </p:nvSpPr>
        <p:spPr>
          <a:xfrm>
            <a:off x="3346704" y="5303520"/>
            <a:ext cx="2697480" cy="960120"/>
          </a:xfrm>
          <a:prstGeom prst="roundRect">
            <a:avLst>
              <a:gd name="adj" fmla="val 6667"/>
            </a:avLst>
          </a:prstGeom>
          <a:solidFill>
            <a:srgbClr val="E7EBEF"/>
          </a:solidFill>
          <a:ln w="12700">
            <a:solidFill>
              <a:srgbClr val="D7DCE1"/>
            </a:solidFill>
            <a:prstDash val="solid"/>
          </a:ln>
        </p:spPr>
      </p:sp>
      <p:sp>
        <p:nvSpPr>
          <p:cNvPr id="9" name="Text 6"/>
          <p:cNvSpPr txBox="1"/>
          <p:nvPr/>
        </p:nvSpPr>
        <p:spPr>
          <a:xfrm>
            <a:off x="3511296" y="5303520"/>
            <a:ext cx="2395728" cy="960120"/>
          </a:xfrm>
          <a:prstGeom prst="rect">
            <a:avLst/>
          </a:prstGeom>
          <a:noFill/>
          <a:ln/>
        </p:spPr>
        <p:txBody>
          <a:bodyPr wrap="square" lIns="0" tIns="0" rIns="0" bIns="0" rtlCol="0" anchor="ctr"/>
          <a:lstStyle/>
          <a:p>
            <a:pPr marL="0" indent="0">
              <a:buNone/>
            </a:pPr>
            <a:r>
              <a:rPr lang="en-US" sz="1800" b="1" dirty="0">
                <a:solidFill>
                  <a:srgbClr val="000000"/>
                </a:solidFill>
                <a:latin typeface="Times New Roman" pitchFamily="34" charset="0"/>
                <a:ea typeface="Times New Roman" pitchFamily="34" charset="-122"/>
                <a:cs typeface="Times New Roman" pitchFamily="34" charset="-120"/>
              </a:rPr>
              <a:t>Six factor groups</a:t>
            </a:r>
            <a:endParaRPr lang="en-US" sz="1800" dirty="0"/>
          </a:p>
        </p:txBody>
      </p:sp>
      <p:sp>
        <p:nvSpPr>
          <p:cNvPr id="10" name="Shape 7"/>
          <p:cNvSpPr/>
          <p:nvPr/>
        </p:nvSpPr>
        <p:spPr>
          <a:xfrm>
            <a:off x="6144768" y="5303520"/>
            <a:ext cx="2697480" cy="960120"/>
          </a:xfrm>
          <a:prstGeom prst="roundRect">
            <a:avLst>
              <a:gd name="adj" fmla="val 6667"/>
            </a:avLst>
          </a:prstGeom>
          <a:solidFill>
            <a:srgbClr val="E7EBEF"/>
          </a:solidFill>
          <a:ln w="12700">
            <a:solidFill>
              <a:srgbClr val="D7DCE1"/>
            </a:solidFill>
            <a:prstDash val="solid"/>
          </a:ln>
        </p:spPr>
      </p:sp>
      <p:sp>
        <p:nvSpPr>
          <p:cNvPr id="11" name="Text 8"/>
          <p:cNvSpPr txBox="1"/>
          <p:nvPr/>
        </p:nvSpPr>
        <p:spPr>
          <a:xfrm>
            <a:off x="6309360" y="5303520"/>
            <a:ext cx="2395728" cy="960120"/>
          </a:xfrm>
          <a:prstGeom prst="rect">
            <a:avLst/>
          </a:prstGeom>
          <a:noFill/>
          <a:ln/>
        </p:spPr>
        <p:txBody>
          <a:bodyPr wrap="square" lIns="0" tIns="0" rIns="0" bIns="0" rtlCol="0" anchor="ctr"/>
          <a:lstStyle/>
          <a:p>
            <a:pPr marL="0" indent="0">
              <a:buNone/>
            </a:pPr>
            <a:r>
              <a:rPr lang="en-US" sz="1800" b="1" dirty="0">
                <a:solidFill>
                  <a:srgbClr val="000000"/>
                </a:solidFill>
                <a:latin typeface="Times New Roman" pitchFamily="34" charset="0"/>
                <a:ea typeface="Times New Roman" pitchFamily="34" charset="-122"/>
                <a:cs typeface="Times New Roman" pitchFamily="34" charset="-120"/>
              </a:rPr>
              <a:t>Both groups checked</a:t>
            </a:r>
            <a:endParaRPr lang="en-US" sz="1800" dirty="0"/>
          </a:p>
        </p:txBody>
      </p:sp>
      <p:sp>
        <p:nvSpPr>
          <p:cNvPr id="12" name="Shape 9"/>
          <p:cNvSpPr/>
          <p:nvPr/>
        </p:nvSpPr>
        <p:spPr>
          <a:xfrm>
            <a:off x="8942832" y="5303520"/>
            <a:ext cx="2697480" cy="960120"/>
          </a:xfrm>
          <a:prstGeom prst="roundRect">
            <a:avLst>
              <a:gd name="adj" fmla="val 6667"/>
            </a:avLst>
          </a:prstGeom>
          <a:solidFill>
            <a:srgbClr val="E7EBEF"/>
          </a:solidFill>
          <a:ln w="12700">
            <a:solidFill>
              <a:srgbClr val="D7DCE1"/>
            </a:solidFill>
            <a:prstDash val="solid"/>
          </a:ln>
        </p:spPr>
      </p:sp>
      <p:sp>
        <p:nvSpPr>
          <p:cNvPr id="13" name="Text 10"/>
          <p:cNvSpPr txBox="1"/>
          <p:nvPr/>
        </p:nvSpPr>
        <p:spPr>
          <a:xfrm>
            <a:off x="9107424" y="5303520"/>
            <a:ext cx="2395728" cy="960120"/>
          </a:xfrm>
          <a:prstGeom prst="rect">
            <a:avLst/>
          </a:prstGeom>
          <a:noFill/>
          <a:ln/>
        </p:spPr>
        <p:txBody>
          <a:bodyPr wrap="square" lIns="0" tIns="0" rIns="0" bIns="0" rtlCol="0" anchor="ctr"/>
          <a:lstStyle/>
          <a:p>
            <a:pPr marL="0" indent="0">
              <a:buNone/>
            </a:pPr>
            <a:r>
              <a:rPr lang="en-US" sz="1800" b="1" dirty="0">
                <a:solidFill>
                  <a:srgbClr val="000000"/>
                </a:solidFill>
                <a:latin typeface="Times New Roman" pitchFamily="34" charset="0"/>
                <a:ea typeface="Times New Roman" pitchFamily="34" charset="-122"/>
                <a:cs typeface="Times New Roman" pitchFamily="34" charset="-120"/>
              </a:rPr>
              <a:t>Clear factor ranking</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B6B7C"/>
                </a:solidFill>
                <a:latin typeface="Times New Roman"/>
                <a:ea typeface="Times New Roman"/>
                <a:cs typeface="Times New Roman"/>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365760"/>
            <a:ext cx="10058400" cy="274320"/>
          </a:xfrm>
          <a:prstGeom prst="rect">
            <a:avLst/>
          </a:prstGeom>
          <a:noFill/>
          <a:ln/>
        </p:spPr>
        <p:txBody>
          <a:bodyPr wrap="square" lIns="0" tIns="0" rIns="0" bIns="0" rtlCol="0" anchor="t"/>
          <a:lstStyle/>
          <a:p>
            <a:pPr marL="0" indent="0">
              <a:buNone/>
            </a:pPr>
            <a:r>
              <a:rPr lang="en-US" sz="1400" b="1" kern="0" spc="300" dirty="0">
                <a:solidFill>
                  <a:srgbClr val="000000"/>
                </a:solidFill>
                <a:latin typeface="Times New Roman" pitchFamily="34" charset="0"/>
                <a:ea typeface="Times New Roman" pitchFamily="34" charset="-122"/>
                <a:cs typeface="Times New Roman" pitchFamily="34" charset="-120"/>
              </a:rPr>
              <a:t>CHAPTER 5 — DATA AND FEATURES</a:t>
            </a:r>
            <a:endParaRPr lang="en-US" sz="1400" dirty="0"/>
          </a:p>
        </p:txBody>
      </p:sp>
      <p:sp>
        <p:nvSpPr>
          <p:cNvPr id="3" name="Text 0"/>
          <p:cNvSpPr>
            <a:spLocks noGrp="1"/>
          </p:cNvSpPr>
          <p:nvPr>
            <p:ph type="title" idx="100" hasCustomPrompt="1"/>
          </p:nvPr>
        </p:nvSpPr>
        <p:spPr>
          <a:xfrm>
            <a:off x="548640" y="658368"/>
            <a:ext cx="11091672" cy="640080"/>
          </a:xfrm>
          <a:prstGeom prst="rect">
            <a:avLst/>
          </a:prstGeom>
          <a:noFill/>
          <a:ln/>
        </p:spPr>
        <p:txBody>
          <a:bodyPr wrap="square" lIns="0" tIns="0" rIns="0" bIns="0" rtlCol="0" anchor="ctr"/>
          <a:lstStyle/>
          <a:p>
            <a:pPr marL="0" indent="0" algn="l">
              <a:buNone/>
            </a:pPr>
            <a:r>
              <a:rPr lang="en-US" sz="2800" b="1" dirty="0">
                <a:solidFill>
                  <a:srgbClr val="000000"/>
                </a:solidFill>
                <a:latin typeface="Times New Roman" pitchFamily="34" charset="0"/>
                <a:ea typeface="Times New Roman" pitchFamily="34" charset="-122"/>
                <a:cs typeface="Times New Roman" pitchFamily="34" charset="-120"/>
              </a:rPr>
              <a:t>Dataset and Features</a:t>
            </a:r>
            <a:endParaRPr lang="en-US" sz="2800" dirty="0"/>
          </a:p>
        </p:txBody>
      </p:sp>
      <p:sp>
        <p:nvSpPr>
          <p:cNvPr id="4" name="Shape 2"/>
          <p:cNvSpPr/>
          <p:nvPr/>
        </p:nvSpPr>
        <p:spPr>
          <a:xfrm>
            <a:off x="548640" y="1463040"/>
            <a:ext cx="2697480" cy="1188720"/>
          </a:xfrm>
          <a:prstGeom prst="roundRect">
            <a:avLst>
              <a:gd name="adj" fmla="val 5385"/>
            </a:avLst>
          </a:prstGeom>
          <a:solidFill>
            <a:srgbClr val="E7EBEF"/>
          </a:solidFill>
          <a:ln w="12700">
            <a:solidFill>
              <a:srgbClr val="D7DCE1"/>
            </a:solidFill>
            <a:prstDash val="solid"/>
          </a:ln>
        </p:spPr>
      </p:sp>
      <p:sp>
        <p:nvSpPr>
          <p:cNvPr id="5" name="Text 3"/>
          <p:cNvSpPr txBox="1"/>
          <p:nvPr/>
        </p:nvSpPr>
        <p:spPr>
          <a:xfrm>
            <a:off x="749808" y="1508760"/>
            <a:ext cx="2331720" cy="594360"/>
          </a:xfrm>
          <a:prstGeom prst="rect">
            <a:avLst/>
          </a:prstGeom>
          <a:noFill/>
          <a:ln/>
        </p:spPr>
        <p:txBody>
          <a:bodyPr wrap="square" lIns="0" tIns="0" rIns="0" bIns="0" rtlCol="0" anchor="ctr"/>
          <a:lstStyle/>
          <a:p>
            <a:pPr marL="0" indent="0">
              <a:buNone/>
            </a:pPr>
            <a:r>
              <a:rPr lang="en-US" sz="2800" b="1" dirty="0">
                <a:solidFill>
                  <a:srgbClr val="000000"/>
                </a:solidFill>
                <a:latin typeface="Times New Roman" pitchFamily="34" charset="0"/>
                <a:ea typeface="Times New Roman" pitchFamily="34" charset="-122"/>
                <a:cs typeface="Times New Roman" pitchFamily="34" charset="-120"/>
              </a:rPr>
              <a:t>50,000</a:t>
            </a:r>
            <a:endParaRPr lang="en-US" sz="2800" dirty="0"/>
          </a:p>
        </p:txBody>
      </p:sp>
      <p:sp>
        <p:nvSpPr>
          <p:cNvPr id="6" name="Text 4"/>
          <p:cNvSpPr txBox="1"/>
          <p:nvPr/>
        </p:nvSpPr>
        <p:spPr>
          <a:xfrm>
            <a:off x="749808" y="2103120"/>
            <a:ext cx="2377440" cy="502920"/>
          </a:xfrm>
          <a:prstGeom prst="rect">
            <a:avLst/>
          </a:prstGeom>
          <a:noFill/>
          <a:ln/>
        </p:spPr>
        <p:txBody>
          <a:bodyPr wrap="square" lIns="0" tIns="0" rIns="0" bIns="0" rtlCol="0" anchor="t"/>
          <a:lstStyle/>
          <a:p>
            <a:pPr marL="0" indent="0">
              <a:buNone/>
            </a:pPr>
            <a:r>
              <a:rPr lang="en-US" sz="1400" dirty="0">
                <a:solidFill>
                  <a:srgbClr val="5B6B7C"/>
                </a:solidFill>
                <a:latin typeface="Times New Roman" pitchFamily="34" charset="0"/>
                <a:ea typeface="Times New Roman" pitchFamily="34" charset="-122"/>
                <a:cs typeface="Times New Roman" pitchFamily="34" charset="-120"/>
              </a:rPr>
              <a:t>student records</a:t>
            </a:r>
            <a:endParaRPr lang="en-US" sz="1400" dirty="0"/>
          </a:p>
        </p:txBody>
      </p:sp>
      <p:sp>
        <p:nvSpPr>
          <p:cNvPr id="7" name="Shape 5"/>
          <p:cNvSpPr/>
          <p:nvPr/>
        </p:nvSpPr>
        <p:spPr>
          <a:xfrm>
            <a:off x="3346704" y="1463040"/>
            <a:ext cx="2697480" cy="1188720"/>
          </a:xfrm>
          <a:prstGeom prst="roundRect">
            <a:avLst>
              <a:gd name="adj" fmla="val 5385"/>
            </a:avLst>
          </a:prstGeom>
          <a:solidFill>
            <a:srgbClr val="F4F6F8"/>
          </a:solidFill>
          <a:ln w="12700">
            <a:solidFill>
              <a:srgbClr val="D7DCE1"/>
            </a:solidFill>
            <a:prstDash val="solid"/>
          </a:ln>
        </p:spPr>
      </p:sp>
      <p:sp>
        <p:nvSpPr>
          <p:cNvPr id="8" name="Text 6"/>
          <p:cNvSpPr txBox="1"/>
          <p:nvPr/>
        </p:nvSpPr>
        <p:spPr>
          <a:xfrm>
            <a:off x="3547872" y="1508760"/>
            <a:ext cx="2331720" cy="594360"/>
          </a:xfrm>
          <a:prstGeom prst="rect">
            <a:avLst/>
          </a:prstGeom>
          <a:noFill/>
          <a:ln/>
        </p:spPr>
        <p:txBody>
          <a:bodyPr wrap="square" lIns="0" tIns="0" rIns="0" bIns="0" rtlCol="0" anchor="ctr"/>
          <a:lstStyle/>
          <a:p>
            <a:pPr marL="0" indent="0">
              <a:buNone/>
            </a:pPr>
            <a:r>
              <a:rPr lang="en-US" sz="2800" b="1" dirty="0">
                <a:solidFill>
                  <a:srgbClr val="000000"/>
                </a:solidFill>
                <a:latin typeface="Times New Roman" pitchFamily="34" charset="0"/>
                <a:ea typeface="Times New Roman" pitchFamily="34" charset="-122"/>
                <a:cs typeface="Times New Roman" pitchFamily="34" charset="-120"/>
              </a:rPr>
              <a:t>23</a:t>
            </a:r>
            <a:endParaRPr lang="en-US" sz="2800" dirty="0"/>
          </a:p>
        </p:txBody>
      </p:sp>
      <p:sp>
        <p:nvSpPr>
          <p:cNvPr id="9" name="Text 7"/>
          <p:cNvSpPr txBox="1"/>
          <p:nvPr/>
        </p:nvSpPr>
        <p:spPr>
          <a:xfrm>
            <a:off x="3547872" y="2103120"/>
            <a:ext cx="2377440" cy="502920"/>
          </a:xfrm>
          <a:prstGeom prst="rect">
            <a:avLst/>
          </a:prstGeom>
          <a:noFill/>
          <a:ln/>
        </p:spPr>
        <p:txBody>
          <a:bodyPr wrap="square" lIns="0" tIns="0" rIns="0" bIns="0" rtlCol="0" anchor="t"/>
          <a:lstStyle/>
          <a:p>
            <a:pPr marL="0" indent="0">
              <a:buNone/>
            </a:pPr>
            <a:r>
              <a:rPr lang="en-US" sz="1400" dirty="0">
                <a:solidFill>
                  <a:srgbClr val="5B6B7C"/>
                </a:solidFill>
                <a:latin typeface="Times New Roman" pitchFamily="34" charset="0"/>
                <a:ea typeface="Times New Roman" pitchFamily="34" charset="-122"/>
                <a:cs typeface="Times New Roman" pitchFamily="34" charset="-120"/>
              </a:rPr>
              <a:t>columns: 22 inputs + 1 target</a:t>
            </a:r>
            <a:endParaRPr lang="en-US" sz="1400" dirty="0"/>
          </a:p>
        </p:txBody>
      </p:sp>
      <p:sp>
        <p:nvSpPr>
          <p:cNvPr id="10" name="Shape 8"/>
          <p:cNvSpPr/>
          <p:nvPr/>
        </p:nvSpPr>
        <p:spPr>
          <a:xfrm>
            <a:off x="6144768" y="1463040"/>
            <a:ext cx="2697480" cy="1188720"/>
          </a:xfrm>
          <a:prstGeom prst="roundRect">
            <a:avLst>
              <a:gd name="adj" fmla="val 5385"/>
            </a:avLst>
          </a:prstGeom>
          <a:solidFill>
            <a:srgbClr val="F4F6F8"/>
          </a:solidFill>
          <a:ln w="12700">
            <a:solidFill>
              <a:srgbClr val="D7DCE1"/>
            </a:solidFill>
            <a:prstDash val="solid"/>
          </a:ln>
        </p:spPr>
      </p:sp>
      <p:sp>
        <p:nvSpPr>
          <p:cNvPr id="11" name="Text 9"/>
          <p:cNvSpPr txBox="1"/>
          <p:nvPr/>
        </p:nvSpPr>
        <p:spPr>
          <a:xfrm>
            <a:off x="6345936" y="1508760"/>
            <a:ext cx="2331720" cy="594360"/>
          </a:xfrm>
          <a:prstGeom prst="rect">
            <a:avLst/>
          </a:prstGeom>
          <a:noFill/>
          <a:ln/>
        </p:spPr>
        <p:txBody>
          <a:bodyPr wrap="square" lIns="0" tIns="0" rIns="0" bIns="0" rtlCol="0" anchor="ctr"/>
          <a:lstStyle/>
          <a:p>
            <a:pPr marL="0" indent="0">
              <a:buNone/>
            </a:pPr>
            <a:r>
              <a:rPr lang="en-US" sz="2800" b="1" dirty="0">
                <a:solidFill>
                  <a:srgbClr val="000000"/>
                </a:solidFill>
                <a:latin typeface="Times New Roman" pitchFamily="34" charset="0"/>
                <a:ea typeface="Times New Roman" pitchFamily="34" charset="-122"/>
                <a:cs typeface="Times New Roman" pitchFamily="34" charset="-120"/>
              </a:rPr>
              <a:t>18</a:t>
            </a:r>
            <a:endParaRPr lang="en-US" sz="2800" dirty="0"/>
          </a:p>
        </p:txBody>
      </p:sp>
      <p:sp>
        <p:nvSpPr>
          <p:cNvPr id="12" name="Text 10"/>
          <p:cNvSpPr txBox="1"/>
          <p:nvPr/>
        </p:nvSpPr>
        <p:spPr>
          <a:xfrm>
            <a:off x="6345936" y="2103120"/>
            <a:ext cx="2377440" cy="502920"/>
          </a:xfrm>
          <a:prstGeom prst="rect">
            <a:avLst/>
          </a:prstGeom>
          <a:noFill/>
          <a:ln/>
        </p:spPr>
        <p:txBody>
          <a:bodyPr wrap="square" lIns="0" tIns="0" rIns="0" bIns="0" rtlCol="0" anchor="t"/>
          <a:lstStyle/>
          <a:p>
            <a:pPr marL="0" indent="0">
              <a:buNone/>
            </a:pPr>
            <a:r>
              <a:rPr lang="en-US" sz="1400" dirty="0">
                <a:solidFill>
                  <a:srgbClr val="5B6B7C"/>
                </a:solidFill>
                <a:latin typeface="Times New Roman" pitchFamily="34" charset="0"/>
                <a:ea typeface="Times New Roman" pitchFamily="34" charset="-122"/>
                <a:cs typeface="Times New Roman" pitchFamily="34" charset="-120"/>
              </a:rPr>
              <a:t>features used: 14 numbers, 4 categories</a:t>
            </a:r>
            <a:endParaRPr lang="en-US" sz="1400" dirty="0"/>
          </a:p>
        </p:txBody>
      </p:sp>
      <p:sp>
        <p:nvSpPr>
          <p:cNvPr id="13" name="Shape 11"/>
          <p:cNvSpPr/>
          <p:nvPr/>
        </p:nvSpPr>
        <p:spPr>
          <a:xfrm>
            <a:off x="8942832" y="1463040"/>
            <a:ext cx="2697480" cy="1188720"/>
          </a:xfrm>
          <a:prstGeom prst="roundRect">
            <a:avLst>
              <a:gd name="adj" fmla="val 5385"/>
            </a:avLst>
          </a:prstGeom>
          <a:solidFill>
            <a:srgbClr val="F4F6F8"/>
          </a:solidFill>
          <a:ln w="12700">
            <a:solidFill>
              <a:srgbClr val="D7DCE1"/>
            </a:solidFill>
            <a:prstDash val="solid"/>
          </a:ln>
        </p:spPr>
      </p:sp>
      <p:sp>
        <p:nvSpPr>
          <p:cNvPr id="14" name="Text 12"/>
          <p:cNvSpPr txBox="1"/>
          <p:nvPr/>
        </p:nvSpPr>
        <p:spPr>
          <a:xfrm>
            <a:off x="9144000" y="1508760"/>
            <a:ext cx="2331720" cy="594360"/>
          </a:xfrm>
          <a:prstGeom prst="rect">
            <a:avLst/>
          </a:prstGeom>
          <a:noFill/>
          <a:ln/>
        </p:spPr>
        <p:txBody>
          <a:bodyPr wrap="square" lIns="0" tIns="0" rIns="0" bIns="0" rtlCol="0" anchor="ctr"/>
          <a:lstStyle/>
          <a:p>
            <a:pPr marL="0" indent="0">
              <a:buNone/>
            </a:pPr>
            <a:r>
              <a:rPr lang="en-US" sz="2800" b="1" dirty="0">
                <a:solidFill>
                  <a:srgbClr val="000000"/>
                </a:solidFill>
                <a:latin typeface="Times New Roman" pitchFamily="34" charset="0"/>
                <a:ea typeface="Times New Roman" pitchFamily="34" charset="-122"/>
                <a:cs typeface="Times New Roman" pitchFamily="34" charset="-120"/>
              </a:rPr>
              <a:t>2</a:t>
            </a:r>
            <a:endParaRPr lang="en-US" sz="2800" dirty="0"/>
          </a:p>
        </p:txBody>
      </p:sp>
      <p:sp>
        <p:nvSpPr>
          <p:cNvPr id="15" name="Text 13"/>
          <p:cNvSpPr txBox="1"/>
          <p:nvPr/>
        </p:nvSpPr>
        <p:spPr>
          <a:xfrm>
            <a:off x="9144000" y="2103120"/>
            <a:ext cx="2377440" cy="502920"/>
          </a:xfrm>
          <a:prstGeom prst="rect">
            <a:avLst/>
          </a:prstGeom>
          <a:noFill/>
          <a:ln/>
        </p:spPr>
        <p:txBody>
          <a:bodyPr wrap="square" lIns="0" tIns="0" rIns="0" bIns="0" rtlCol="0" anchor="t"/>
          <a:lstStyle/>
          <a:p>
            <a:pPr marL="0" indent="0">
              <a:buNone/>
            </a:pPr>
            <a:r>
              <a:rPr lang="en-US" sz="1400" dirty="0">
                <a:solidFill>
                  <a:srgbClr val="5B6B7C"/>
                </a:solidFill>
                <a:latin typeface="Times New Roman" pitchFamily="34" charset="0"/>
                <a:ea typeface="Times New Roman" pitchFamily="34" charset="-122"/>
                <a:cs typeface="Times New Roman" pitchFamily="34" charset="-120"/>
              </a:rPr>
              <a:t>classes: Employable / Not Employable</a:t>
            </a:r>
            <a:endParaRPr lang="en-US" sz="1400" dirty="0"/>
          </a:p>
        </p:txBody>
      </p:sp>
      <p:sp>
        <p:nvSpPr>
          <p:cNvPr id="16" name="Shape 14"/>
          <p:cNvSpPr/>
          <p:nvPr/>
        </p:nvSpPr>
        <p:spPr>
          <a:xfrm>
            <a:off x="548640" y="2880360"/>
            <a:ext cx="6766560" cy="1417320"/>
          </a:xfrm>
          <a:prstGeom prst="roundRect">
            <a:avLst>
              <a:gd name="adj" fmla="val 4516"/>
            </a:avLst>
          </a:prstGeom>
          <a:solidFill>
            <a:srgbClr val="F4F6F8"/>
          </a:solidFill>
          <a:ln w="12700">
            <a:solidFill>
              <a:srgbClr val="D7DCE1"/>
            </a:solidFill>
            <a:prstDash val="solid"/>
          </a:ln>
        </p:spPr>
      </p:sp>
      <p:sp>
        <p:nvSpPr>
          <p:cNvPr id="17" name="Text 15"/>
          <p:cNvSpPr txBox="1"/>
          <p:nvPr/>
        </p:nvSpPr>
        <p:spPr>
          <a:xfrm>
            <a:off x="777240" y="2990088"/>
            <a:ext cx="6309360" cy="320040"/>
          </a:xfrm>
          <a:prstGeom prst="rect">
            <a:avLst/>
          </a:prstGeom>
          <a:noFill/>
          <a:ln/>
        </p:spPr>
        <p:txBody>
          <a:bodyPr wrap="square" lIns="0" tIns="0" rIns="0" bIns="0" rtlCol="0" anchor="t"/>
          <a:lstStyle/>
          <a:p>
            <a:pPr marL="0" indent="0">
              <a:buNone/>
            </a:pPr>
            <a:r>
              <a:rPr lang="en-US" sz="1400" b="1" kern="0" spc="300" dirty="0">
                <a:solidFill>
                  <a:srgbClr val="000000"/>
                </a:solidFill>
                <a:latin typeface="Times New Roman" pitchFamily="34" charset="0"/>
                <a:ea typeface="Times New Roman" pitchFamily="34" charset="-122"/>
                <a:cs typeface="Times New Roman" pitchFamily="34" charset="-120"/>
              </a:rPr>
              <a:t>NUMBER FEATURES (14)</a:t>
            </a:r>
            <a:endParaRPr lang="en-US" sz="1400" dirty="0"/>
          </a:p>
        </p:txBody>
      </p:sp>
      <p:sp>
        <p:nvSpPr>
          <p:cNvPr id="18" name="Text 16"/>
          <p:cNvSpPr txBox="1"/>
          <p:nvPr/>
        </p:nvSpPr>
        <p:spPr>
          <a:xfrm>
            <a:off x="777240" y="3310128"/>
            <a:ext cx="6309360" cy="960120"/>
          </a:xfrm>
          <a:prstGeom prst="rect">
            <a:avLst/>
          </a:prstGeom>
          <a:noFill/>
          <a:ln/>
        </p:spPr>
        <p:txBody>
          <a:bodyPr wrap="square" lIns="0" tIns="0" rIns="0" bIns="0" rtlCol="0" anchor="t"/>
          <a:lstStyle/>
          <a:p>
            <a:pPr marL="0" indent="0">
              <a:buNone/>
            </a:pPr>
            <a:r>
              <a:rPr lang="en-US" sz="1800" dirty="0">
                <a:solidFill>
                  <a:srgbClr val="000000"/>
                </a:solidFill>
                <a:latin typeface="Times New Roman" pitchFamily="34" charset="0"/>
                <a:ea typeface="Times New Roman" pitchFamily="34" charset="-122"/>
                <a:cs typeface="Times New Roman" pitchFamily="34" charset="-120"/>
              </a:rPr>
              <a:t>Resume_Score, Interview_Score, Programming_Skill, Internships, Problem_Solving, CGPA, Projects_Completed + 2 new combined features</a:t>
            </a:r>
            <a:endParaRPr lang="en-US" sz="1800" dirty="0"/>
          </a:p>
        </p:txBody>
      </p:sp>
      <p:sp>
        <p:nvSpPr>
          <p:cNvPr id="19" name="Shape 17"/>
          <p:cNvSpPr/>
          <p:nvPr/>
        </p:nvSpPr>
        <p:spPr>
          <a:xfrm>
            <a:off x="548640" y="4389120"/>
            <a:ext cx="6766560" cy="1005840"/>
          </a:xfrm>
          <a:prstGeom prst="roundRect">
            <a:avLst>
              <a:gd name="adj" fmla="val 6364"/>
            </a:avLst>
          </a:prstGeom>
          <a:solidFill>
            <a:srgbClr val="F4F6F8"/>
          </a:solidFill>
          <a:ln w="12700">
            <a:solidFill>
              <a:srgbClr val="D7DCE1"/>
            </a:solidFill>
            <a:prstDash val="solid"/>
          </a:ln>
        </p:spPr>
      </p:sp>
      <p:sp>
        <p:nvSpPr>
          <p:cNvPr id="20" name="Text 18"/>
          <p:cNvSpPr txBox="1"/>
          <p:nvPr/>
        </p:nvSpPr>
        <p:spPr>
          <a:xfrm>
            <a:off x="777240" y="4480560"/>
            <a:ext cx="6309360" cy="320040"/>
          </a:xfrm>
          <a:prstGeom prst="rect">
            <a:avLst/>
          </a:prstGeom>
          <a:noFill/>
          <a:ln/>
        </p:spPr>
        <p:txBody>
          <a:bodyPr wrap="square" lIns="0" tIns="0" rIns="0" bIns="0" rtlCol="0" anchor="t"/>
          <a:lstStyle/>
          <a:p>
            <a:pPr marL="0" indent="0">
              <a:buNone/>
            </a:pPr>
            <a:r>
              <a:rPr lang="en-US" sz="1400" b="1" kern="0" spc="300" dirty="0">
                <a:solidFill>
                  <a:srgbClr val="000000"/>
                </a:solidFill>
                <a:latin typeface="Times New Roman" pitchFamily="34" charset="0"/>
                <a:ea typeface="Times New Roman" pitchFamily="34" charset="-122"/>
                <a:cs typeface="Times New Roman" pitchFamily="34" charset="-120"/>
              </a:rPr>
              <a:t>CATEGORY FEATURES (4)</a:t>
            </a:r>
            <a:endParaRPr lang="en-US" sz="1400" dirty="0"/>
          </a:p>
        </p:txBody>
      </p:sp>
      <p:sp>
        <p:nvSpPr>
          <p:cNvPr id="21" name="Text 19"/>
          <p:cNvSpPr txBox="1"/>
          <p:nvPr/>
        </p:nvSpPr>
        <p:spPr>
          <a:xfrm>
            <a:off x="777240" y="4782312"/>
            <a:ext cx="6309360" cy="594360"/>
          </a:xfrm>
          <a:prstGeom prst="rect">
            <a:avLst/>
          </a:prstGeom>
          <a:noFill/>
          <a:ln/>
        </p:spPr>
        <p:txBody>
          <a:bodyPr wrap="square" lIns="0" tIns="0" rIns="0" bIns="0" rtlCol="0" anchor="t"/>
          <a:lstStyle/>
          <a:p>
            <a:pPr marL="0" indent="0">
              <a:buNone/>
            </a:pPr>
            <a:r>
              <a:rPr lang="en-US" sz="1800" dirty="0">
                <a:solidFill>
                  <a:srgbClr val="000000"/>
                </a:solidFill>
                <a:latin typeface="Times New Roman" pitchFamily="34" charset="0"/>
                <a:ea typeface="Times New Roman" pitchFamily="34" charset="-122"/>
                <a:cs typeface="Times New Roman" pitchFamily="34" charset="-120"/>
              </a:rPr>
              <a:t>English_Proficiency, Academic_Performance, GitHub_Profile, Leadership_Experience</a:t>
            </a:r>
            <a:endParaRPr lang="en-US" sz="1800" dirty="0"/>
          </a:p>
        </p:txBody>
      </p:sp>
      <p:sp>
        <p:nvSpPr>
          <p:cNvPr id="22" name="Shape 20"/>
          <p:cNvSpPr/>
          <p:nvPr/>
        </p:nvSpPr>
        <p:spPr>
          <a:xfrm>
            <a:off x="548640" y="5486400"/>
            <a:ext cx="6766560" cy="777240"/>
          </a:xfrm>
          <a:prstGeom prst="roundRect">
            <a:avLst>
              <a:gd name="adj" fmla="val 8235"/>
            </a:avLst>
          </a:prstGeom>
          <a:solidFill>
            <a:srgbClr val="E7EBEF"/>
          </a:solidFill>
          <a:ln w="12700">
            <a:solidFill>
              <a:srgbClr val="D7DCE1"/>
            </a:solidFill>
            <a:prstDash val="solid"/>
          </a:ln>
        </p:spPr>
      </p:sp>
      <p:sp>
        <p:nvSpPr>
          <p:cNvPr id="23" name="Text 21"/>
          <p:cNvSpPr txBox="1"/>
          <p:nvPr/>
        </p:nvSpPr>
        <p:spPr>
          <a:xfrm>
            <a:off x="777240" y="5486400"/>
            <a:ext cx="6355080" cy="777240"/>
          </a:xfrm>
          <a:prstGeom prst="rect">
            <a:avLst/>
          </a:prstGeom>
          <a:noFill/>
          <a:ln/>
        </p:spPr>
        <p:txBody>
          <a:bodyPr wrap="square" lIns="0" tIns="0" rIns="0" bIns="0" rtlCol="0" anchor="ctr"/>
          <a:lstStyle/>
          <a:p>
            <a:pPr marL="0" indent="0">
              <a:buNone/>
            </a:pPr>
            <a:r>
              <a:rPr lang="en-US" sz="1300" b="1" kern="0" spc="200" dirty="0">
                <a:solidFill>
                  <a:srgbClr val="000000"/>
                </a:solidFill>
                <a:latin typeface="Times New Roman" pitchFamily="34" charset="0"/>
                <a:ea typeface="Times New Roman" pitchFamily="34" charset="-122"/>
                <a:cs typeface="Times New Roman" pitchFamily="34" charset="-120"/>
              </a:rPr>
              <a:t>LEFT OUT ON PURPOSE (6)   </a:t>
            </a:r>
            <a:r>
              <a:rPr lang="en-US" sz="1800" dirty="0">
                <a:solidFill>
                  <a:srgbClr val="000000"/>
                </a:solidFill>
                <a:latin typeface="Times New Roman" pitchFamily="34" charset="0"/>
                <a:ea typeface="Times New Roman" pitchFamily="34" charset="-122"/>
                <a:cs typeface="Times New Roman" pitchFamily="34" charset="-120"/>
              </a:rPr>
              <a:t>Age, Gender, University_Year, Major, Attendance_Percentage, LinkedIn_Profile</a:t>
            </a:r>
            <a:endParaRPr lang="en-US" sz="1800" dirty="0"/>
          </a:p>
        </p:txBody>
      </p:sp>
      <p:sp>
        <p:nvSpPr>
          <p:cNvPr id="24" name="Shape 22"/>
          <p:cNvSpPr/>
          <p:nvPr/>
        </p:nvSpPr>
        <p:spPr>
          <a:xfrm>
            <a:off x="7543800" y="2880360"/>
            <a:ext cx="4096512" cy="3383280"/>
          </a:xfrm>
          <a:prstGeom prst="roundRect">
            <a:avLst>
              <a:gd name="adj" fmla="val 1892"/>
            </a:avLst>
          </a:prstGeom>
          <a:solidFill>
            <a:srgbClr val="F4F6F8"/>
          </a:solidFill>
          <a:ln w="12700">
            <a:solidFill>
              <a:srgbClr val="D7DCE1"/>
            </a:solidFill>
            <a:prstDash val="solid"/>
          </a:ln>
        </p:spPr>
      </p:sp>
      <p:sp>
        <p:nvSpPr>
          <p:cNvPr id="25" name="Text 23"/>
          <p:cNvSpPr txBox="1"/>
          <p:nvPr/>
        </p:nvSpPr>
        <p:spPr>
          <a:xfrm>
            <a:off x="7772400" y="3017520"/>
            <a:ext cx="3657600" cy="320040"/>
          </a:xfrm>
          <a:prstGeom prst="rect">
            <a:avLst/>
          </a:prstGeom>
          <a:noFill/>
          <a:ln/>
        </p:spPr>
        <p:txBody>
          <a:bodyPr wrap="square" lIns="0" tIns="0" rIns="0" bIns="0" rtlCol="0" anchor="t"/>
          <a:lstStyle/>
          <a:p>
            <a:pPr marL="0" indent="0">
              <a:buNone/>
            </a:pPr>
            <a:r>
              <a:rPr lang="en-US" sz="1400" b="1" kern="0" spc="300" dirty="0">
                <a:solidFill>
                  <a:srgbClr val="000000"/>
                </a:solidFill>
                <a:latin typeface="Times New Roman" pitchFamily="34" charset="0"/>
                <a:ea typeface="Times New Roman" pitchFamily="34" charset="-122"/>
                <a:cs typeface="Times New Roman" pitchFamily="34" charset="-120"/>
              </a:rPr>
              <a:t>TARGET CLASSES</a:t>
            </a:r>
            <a:endParaRPr lang="en-US" sz="1400" dirty="0"/>
          </a:p>
        </p:txBody>
      </p:sp>
      <p:graphicFrame>
        <p:nvGraphicFramePr>
          <p:cNvPr id="26" name="Chart 0"/>
          <p:cNvGraphicFramePr/>
          <p:nvPr/>
        </p:nvGraphicFramePr>
        <p:xfrm>
          <a:off x="7680960" y="3337560"/>
          <a:ext cx="3840480" cy="2880360"/>
        </p:xfrm>
        <a:graphic>
          <a:graphicData uri="http://schemas.openxmlformats.org/drawingml/2006/chart">
            <c:chart xmlns:c="http://schemas.openxmlformats.org/drawingml/2006/chart" xmlns:r="http://schemas.openxmlformats.org/officeDocument/2006/relationships" r:id="rId3"/>
          </a:graphicData>
        </a:graphic>
      </p:graphicFrame>
      <p:sp>
        <p:nvSpPr>
          <p:cNvPr id="27"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B6B7C"/>
                </a:solidFill>
                <a:latin typeface="Times New Roman"/>
                <a:ea typeface="Times New Roman"/>
                <a:cs typeface="Times New Roman"/>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365760"/>
            <a:ext cx="10058400" cy="274320"/>
          </a:xfrm>
          <a:prstGeom prst="rect">
            <a:avLst/>
          </a:prstGeom>
          <a:noFill/>
          <a:ln/>
        </p:spPr>
        <p:txBody>
          <a:bodyPr wrap="square" lIns="0" tIns="0" rIns="0" bIns="0" rtlCol="0" anchor="t"/>
          <a:lstStyle/>
          <a:p>
            <a:pPr marL="0" indent="0">
              <a:buNone/>
            </a:pPr>
            <a:r>
              <a:rPr lang="en-US" sz="1400" b="1" kern="0" spc="300" dirty="0">
                <a:solidFill>
                  <a:srgbClr val="000000"/>
                </a:solidFill>
                <a:latin typeface="Times New Roman" pitchFamily="34" charset="0"/>
                <a:ea typeface="Times New Roman" pitchFamily="34" charset="-122"/>
                <a:cs typeface="Times New Roman" pitchFamily="34" charset="-120"/>
              </a:rPr>
              <a:t>CHAPTER 3 — METHOD</a:t>
            </a:r>
            <a:endParaRPr lang="en-US" sz="1400" dirty="0"/>
          </a:p>
        </p:txBody>
      </p:sp>
      <p:sp>
        <p:nvSpPr>
          <p:cNvPr id="3" name="Text 0"/>
          <p:cNvSpPr>
            <a:spLocks noGrp="1"/>
          </p:cNvSpPr>
          <p:nvPr>
            <p:ph type="title" idx="100" hasCustomPrompt="1"/>
          </p:nvPr>
        </p:nvSpPr>
        <p:spPr>
          <a:xfrm>
            <a:off x="548640" y="658368"/>
            <a:ext cx="11091672" cy="640080"/>
          </a:xfrm>
          <a:prstGeom prst="rect">
            <a:avLst/>
          </a:prstGeom>
          <a:noFill/>
          <a:ln/>
        </p:spPr>
        <p:txBody>
          <a:bodyPr wrap="square" lIns="0" tIns="0" rIns="0" bIns="0" rtlCol="0" anchor="ctr"/>
          <a:lstStyle/>
          <a:p>
            <a:pPr marL="0" indent="0" algn="l">
              <a:buNone/>
            </a:pPr>
            <a:r>
              <a:rPr lang="en-US" sz="2800" b="1" dirty="0">
                <a:solidFill>
                  <a:srgbClr val="000000"/>
                </a:solidFill>
                <a:latin typeface="Times New Roman" pitchFamily="34" charset="0"/>
                <a:ea typeface="Times New Roman" pitchFamily="34" charset="-122"/>
                <a:cs typeface="Times New Roman" pitchFamily="34" charset="-120"/>
              </a:rPr>
              <a:t>Our Step-by-Step Method</a:t>
            </a:r>
            <a:endParaRPr lang="en-US" sz="2800" dirty="0"/>
          </a:p>
        </p:txBody>
      </p:sp>
      <p:sp>
        <p:nvSpPr>
          <p:cNvPr id="4" name="Shape 2"/>
          <p:cNvSpPr/>
          <p:nvPr/>
        </p:nvSpPr>
        <p:spPr>
          <a:xfrm>
            <a:off x="548640" y="1463040"/>
            <a:ext cx="2514600" cy="1691640"/>
          </a:xfrm>
          <a:prstGeom prst="roundRect">
            <a:avLst>
              <a:gd name="adj" fmla="val 3784"/>
            </a:avLst>
          </a:prstGeom>
          <a:solidFill>
            <a:srgbClr val="F4F6F8"/>
          </a:solidFill>
          <a:ln w="12700">
            <a:solidFill>
              <a:srgbClr val="D7DCE1"/>
            </a:solidFill>
            <a:prstDash val="solid"/>
          </a:ln>
        </p:spPr>
      </p:sp>
      <p:sp>
        <p:nvSpPr>
          <p:cNvPr id="5" name="Shape 3"/>
          <p:cNvSpPr/>
          <p:nvPr/>
        </p:nvSpPr>
        <p:spPr>
          <a:xfrm>
            <a:off x="713232" y="1627632"/>
            <a:ext cx="402336" cy="402336"/>
          </a:xfrm>
          <a:prstGeom prst="ellipse">
            <a:avLst/>
          </a:prstGeom>
          <a:solidFill>
            <a:srgbClr val="FFFFFF"/>
          </a:solidFill>
          <a:ln w="12700">
            <a:solidFill>
              <a:srgbClr val="8C97A3"/>
            </a:solidFill>
            <a:prstDash val="solid"/>
          </a:ln>
        </p:spPr>
      </p:sp>
      <p:sp>
        <p:nvSpPr>
          <p:cNvPr id="6" name="Text 4"/>
          <p:cNvSpPr txBox="1"/>
          <p:nvPr/>
        </p:nvSpPr>
        <p:spPr>
          <a:xfrm>
            <a:off x="713232" y="1627632"/>
            <a:ext cx="402336" cy="402336"/>
          </a:xfrm>
          <a:prstGeom prst="rect">
            <a:avLst/>
          </a:prstGeom>
          <a:noFill/>
          <a:ln/>
        </p:spPr>
        <p:txBody>
          <a:bodyPr wrap="square" lIns="0" tIns="0" rIns="0" bIns="0" rtlCol="0" anchor="ctr"/>
          <a:lstStyle/>
          <a:p>
            <a:pPr marL="0" indent="0" algn="ctr">
              <a:buNone/>
            </a:pPr>
            <a:r>
              <a:rPr lang="en-US" sz="1600" b="1" dirty="0">
                <a:solidFill>
                  <a:srgbClr val="000000"/>
                </a:solidFill>
                <a:latin typeface="Times New Roman" pitchFamily="34" charset="0"/>
                <a:ea typeface="Times New Roman" pitchFamily="34" charset="-122"/>
                <a:cs typeface="Times New Roman" pitchFamily="34" charset="-120"/>
              </a:rPr>
              <a:t>1</a:t>
            </a:r>
            <a:endParaRPr lang="en-US" sz="1600" dirty="0"/>
          </a:p>
        </p:txBody>
      </p:sp>
      <p:sp>
        <p:nvSpPr>
          <p:cNvPr id="7" name="Text 5"/>
          <p:cNvSpPr txBox="1"/>
          <p:nvPr/>
        </p:nvSpPr>
        <p:spPr>
          <a:xfrm>
            <a:off x="1234440" y="1627632"/>
            <a:ext cx="1737360" cy="402336"/>
          </a:xfrm>
          <a:prstGeom prst="rect">
            <a:avLst/>
          </a:prstGeom>
          <a:noFill/>
          <a:ln/>
        </p:spPr>
        <p:txBody>
          <a:bodyPr wrap="square" lIns="0" tIns="0" rIns="0" bIns="0" rtlCol="0" anchor="ctr"/>
          <a:lstStyle/>
          <a:p>
            <a:pPr marL="0" indent="0">
              <a:buNone/>
            </a:pPr>
            <a:r>
              <a:rPr lang="en-US" sz="1800" b="1" dirty="0">
                <a:solidFill>
                  <a:srgbClr val="000000"/>
                </a:solidFill>
                <a:latin typeface="Times New Roman" pitchFamily="34" charset="0"/>
                <a:ea typeface="Times New Roman" pitchFamily="34" charset="-122"/>
                <a:cs typeface="Times New Roman" pitchFamily="34" charset="-120"/>
              </a:rPr>
              <a:t>Data</a:t>
            </a:r>
            <a:endParaRPr lang="en-US" sz="1800" dirty="0"/>
          </a:p>
        </p:txBody>
      </p:sp>
      <p:sp>
        <p:nvSpPr>
          <p:cNvPr id="8" name="Text 6"/>
          <p:cNvSpPr txBox="1"/>
          <p:nvPr/>
        </p:nvSpPr>
        <p:spPr>
          <a:xfrm>
            <a:off x="731520" y="2148840"/>
            <a:ext cx="2148840" cy="960120"/>
          </a:xfrm>
          <a:prstGeom prst="rect">
            <a:avLst/>
          </a:prstGeom>
          <a:noFill/>
          <a:ln/>
        </p:spPr>
        <p:txBody>
          <a:bodyPr wrap="square" lIns="0" tIns="0" rIns="0" bIns="0" rtlCol="0" anchor="t"/>
          <a:lstStyle/>
          <a:p>
            <a:pPr marL="0" indent="0">
              <a:buNone/>
            </a:pPr>
            <a:r>
              <a:rPr lang="en-US" sz="1600" dirty="0">
                <a:solidFill>
                  <a:srgbClr val="000000"/>
                </a:solidFill>
                <a:latin typeface="Times New Roman" pitchFamily="34" charset="0"/>
                <a:ea typeface="Times New Roman" pitchFamily="34" charset="-122"/>
                <a:cs typeface="Times New Roman" pitchFamily="34" charset="-120"/>
              </a:rPr>
              <a:t>50,000 records from Kaggle</a:t>
            </a:r>
            <a:endParaRPr lang="en-US" sz="1600" dirty="0"/>
          </a:p>
        </p:txBody>
      </p:sp>
      <p:sp>
        <p:nvSpPr>
          <p:cNvPr id="9" name="Shape 7"/>
          <p:cNvSpPr/>
          <p:nvPr/>
        </p:nvSpPr>
        <p:spPr>
          <a:xfrm>
            <a:off x="3401568" y="1463040"/>
            <a:ext cx="2514600" cy="1691640"/>
          </a:xfrm>
          <a:prstGeom prst="roundRect">
            <a:avLst>
              <a:gd name="adj" fmla="val 3784"/>
            </a:avLst>
          </a:prstGeom>
          <a:solidFill>
            <a:srgbClr val="F4F6F8"/>
          </a:solidFill>
          <a:ln w="12700">
            <a:solidFill>
              <a:srgbClr val="D7DCE1"/>
            </a:solidFill>
            <a:prstDash val="solid"/>
          </a:ln>
        </p:spPr>
      </p:sp>
      <p:sp>
        <p:nvSpPr>
          <p:cNvPr id="10" name="Shape 8"/>
          <p:cNvSpPr/>
          <p:nvPr/>
        </p:nvSpPr>
        <p:spPr>
          <a:xfrm>
            <a:off x="3566160" y="1627632"/>
            <a:ext cx="402336" cy="402336"/>
          </a:xfrm>
          <a:prstGeom prst="ellipse">
            <a:avLst/>
          </a:prstGeom>
          <a:solidFill>
            <a:srgbClr val="FFFFFF"/>
          </a:solidFill>
          <a:ln w="12700">
            <a:solidFill>
              <a:srgbClr val="8C97A3"/>
            </a:solidFill>
            <a:prstDash val="solid"/>
          </a:ln>
        </p:spPr>
      </p:sp>
      <p:sp>
        <p:nvSpPr>
          <p:cNvPr id="11" name="Text 9"/>
          <p:cNvSpPr txBox="1"/>
          <p:nvPr/>
        </p:nvSpPr>
        <p:spPr>
          <a:xfrm>
            <a:off x="3566160" y="1627632"/>
            <a:ext cx="402336" cy="402336"/>
          </a:xfrm>
          <a:prstGeom prst="rect">
            <a:avLst/>
          </a:prstGeom>
          <a:noFill/>
          <a:ln/>
        </p:spPr>
        <p:txBody>
          <a:bodyPr wrap="square" lIns="0" tIns="0" rIns="0" bIns="0" rtlCol="0" anchor="ctr"/>
          <a:lstStyle/>
          <a:p>
            <a:pPr marL="0" indent="0" algn="ctr">
              <a:buNone/>
            </a:pPr>
            <a:r>
              <a:rPr lang="en-US" sz="1600" b="1" dirty="0">
                <a:solidFill>
                  <a:srgbClr val="000000"/>
                </a:solidFill>
                <a:latin typeface="Times New Roman" pitchFamily="34" charset="0"/>
                <a:ea typeface="Times New Roman" pitchFamily="34" charset="-122"/>
                <a:cs typeface="Times New Roman" pitchFamily="34" charset="-120"/>
              </a:rPr>
              <a:t>2</a:t>
            </a:r>
            <a:endParaRPr lang="en-US" sz="1600" dirty="0"/>
          </a:p>
        </p:txBody>
      </p:sp>
      <p:sp>
        <p:nvSpPr>
          <p:cNvPr id="12" name="Text 10"/>
          <p:cNvSpPr txBox="1"/>
          <p:nvPr/>
        </p:nvSpPr>
        <p:spPr>
          <a:xfrm>
            <a:off x="4087368" y="1627632"/>
            <a:ext cx="1737360" cy="402336"/>
          </a:xfrm>
          <a:prstGeom prst="rect">
            <a:avLst/>
          </a:prstGeom>
          <a:noFill/>
          <a:ln/>
        </p:spPr>
        <p:txBody>
          <a:bodyPr wrap="square" lIns="0" tIns="0" rIns="0" bIns="0" rtlCol="0" anchor="ctr"/>
          <a:lstStyle/>
          <a:p>
            <a:pPr marL="0" indent="0">
              <a:buNone/>
            </a:pPr>
            <a:r>
              <a:rPr lang="en-US" sz="1800" b="1" dirty="0">
                <a:solidFill>
                  <a:srgbClr val="000000"/>
                </a:solidFill>
                <a:latin typeface="Times New Roman" pitchFamily="34" charset="0"/>
                <a:ea typeface="Times New Roman" pitchFamily="34" charset="-122"/>
                <a:cs typeface="Times New Roman" pitchFamily="34" charset="-120"/>
              </a:rPr>
              <a:t>Clean and prepare</a:t>
            </a:r>
            <a:endParaRPr lang="en-US" sz="1800" dirty="0"/>
          </a:p>
        </p:txBody>
      </p:sp>
      <p:sp>
        <p:nvSpPr>
          <p:cNvPr id="13" name="Text 11"/>
          <p:cNvSpPr txBox="1"/>
          <p:nvPr/>
        </p:nvSpPr>
        <p:spPr>
          <a:xfrm>
            <a:off x="3584448" y="2148840"/>
            <a:ext cx="2148840" cy="960120"/>
          </a:xfrm>
          <a:prstGeom prst="rect">
            <a:avLst/>
          </a:prstGeom>
          <a:noFill/>
          <a:ln/>
        </p:spPr>
        <p:txBody>
          <a:bodyPr wrap="square" lIns="0" tIns="0" rIns="0" bIns="0" rtlCol="0" anchor="t"/>
          <a:lstStyle/>
          <a:p>
            <a:pPr marL="0" indent="0">
              <a:buNone/>
            </a:pPr>
            <a:r>
              <a:rPr lang="en-US" sz="1600" dirty="0">
                <a:solidFill>
                  <a:srgbClr val="000000"/>
                </a:solidFill>
                <a:latin typeface="Times New Roman" pitchFamily="34" charset="0"/>
                <a:ea typeface="Times New Roman" pitchFamily="34" charset="-122"/>
                <a:cs typeface="Times New Roman" pitchFamily="34" charset="-120"/>
              </a:rPr>
              <a:t>Remove 6 columns, add 2 new ones: 18 features</a:t>
            </a:r>
            <a:endParaRPr lang="en-US" sz="1600" dirty="0"/>
          </a:p>
        </p:txBody>
      </p:sp>
      <p:sp>
        <p:nvSpPr>
          <p:cNvPr id="14" name="Shape 12"/>
          <p:cNvSpPr/>
          <p:nvPr/>
        </p:nvSpPr>
        <p:spPr>
          <a:xfrm>
            <a:off x="6254496" y="1463040"/>
            <a:ext cx="2514600" cy="1691640"/>
          </a:xfrm>
          <a:prstGeom prst="roundRect">
            <a:avLst>
              <a:gd name="adj" fmla="val 3784"/>
            </a:avLst>
          </a:prstGeom>
          <a:solidFill>
            <a:srgbClr val="F4F6F8"/>
          </a:solidFill>
          <a:ln w="12700">
            <a:solidFill>
              <a:srgbClr val="D7DCE1"/>
            </a:solidFill>
            <a:prstDash val="solid"/>
          </a:ln>
        </p:spPr>
      </p:sp>
      <p:sp>
        <p:nvSpPr>
          <p:cNvPr id="15" name="Shape 13"/>
          <p:cNvSpPr/>
          <p:nvPr/>
        </p:nvSpPr>
        <p:spPr>
          <a:xfrm>
            <a:off x="6419088" y="1627632"/>
            <a:ext cx="402336" cy="402336"/>
          </a:xfrm>
          <a:prstGeom prst="ellipse">
            <a:avLst/>
          </a:prstGeom>
          <a:solidFill>
            <a:srgbClr val="FFFFFF"/>
          </a:solidFill>
          <a:ln w="12700">
            <a:solidFill>
              <a:srgbClr val="8C97A3"/>
            </a:solidFill>
            <a:prstDash val="solid"/>
          </a:ln>
        </p:spPr>
      </p:sp>
      <p:sp>
        <p:nvSpPr>
          <p:cNvPr id="16" name="Text 14"/>
          <p:cNvSpPr txBox="1"/>
          <p:nvPr/>
        </p:nvSpPr>
        <p:spPr>
          <a:xfrm>
            <a:off x="6419088" y="1627632"/>
            <a:ext cx="402336" cy="402336"/>
          </a:xfrm>
          <a:prstGeom prst="rect">
            <a:avLst/>
          </a:prstGeom>
          <a:noFill/>
          <a:ln/>
        </p:spPr>
        <p:txBody>
          <a:bodyPr wrap="square" lIns="0" tIns="0" rIns="0" bIns="0" rtlCol="0" anchor="ctr"/>
          <a:lstStyle/>
          <a:p>
            <a:pPr marL="0" indent="0" algn="ctr">
              <a:buNone/>
            </a:pPr>
            <a:r>
              <a:rPr lang="en-US" sz="1600" b="1" dirty="0">
                <a:solidFill>
                  <a:srgbClr val="000000"/>
                </a:solidFill>
                <a:latin typeface="Times New Roman" pitchFamily="34" charset="0"/>
                <a:ea typeface="Times New Roman" pitchFamily="34" charset="-122"/>
                <a:cs typeface="Times New Roman" pitchFamily="34" charset="-120"/>
              </a:rPr>
              <a:t>3</a:t>
            </a:r>
            <a:endParaRPr lang="en-US" sz="1600" dirty="0"/>
          </a:p>
        </p:txBody>
      </p:sp>
      <p:sp>
        <p:nvSpPr>
          <p:cNvPr id="17" name="Text 15"/>
          <p:cNvSpPr txBox="1"/>
          <p:nvPr/>
        </p:nvSpPr>
        <p:spPr>
          <a:xfrm>
            <a:off x="6940296" y="1627632"/>
            <a:ext cx="1737360" cy="402336"/>
          </a:xfrm>
          <a:prstGeom prst="rect">
            <a:avLst/>
          </a:prstGeom>
          <a:noFill/>
          <a:ln/>
        </p:spPr>
        <p:txBody>
          <a:bodyPr wrap="square" lIns="0" tIns="0" rIns="0" bIns="0" rtlCol="0" anchor="ctr"/>
          <a:lstStyle/>
          <a:p>
            <a:pPr marL="0" indent="0">
              <a:buNone/>
            </a:pPr>
            <a:r>
              <a:rPr lang="en-US" sz="1800" b="1" dirty="0">
                <a:solidFill>
                  <a:srgbClr val="000000"/>
                </a:solidFill>
                <a:latin typeface="Times New Roman" pitchFamily="34" charset="0"/>
                <a:ea typeface="Times New Roman" pitchFamily="34" charset="-122"/>
                <a:cs typeface="Times New Roman" pitchFamily="34" charset="-120"/>
              </a:rPr>
              <a:t>Split the data</a:t>
            </a:r>
            <a:endParaRPr lang="en-US" sz="1800" dirty="0"/>
          </a:p>
        </p:txBody>
      </p:sp>
      <p:sp>
        <p:nvSpPr>
          <p:cNvPr id="18" name="Text 16"/>
          <p:cNvSpPr txBox="1"/>
          <p:nvPr/>
        </p:nvSpPr>
        <p:spPr>
          <a:xfrm>
            <a:off x="6437376" y="2148840"/>
            <a:ext cx="2148840" cy="960120"/>
          </a:xfrm>
          <a:prstGeom prst="rect">
            <a:avLst/>
          </a:prstGeom>
          <a:noFill/>
          <a:ln/>
        </p:spPr>
        <p:txBody>
          <a:bodyPr wrap="square" lIns="0" tIns="0" rIns="0" bIns="0" rtlCol="0" anchor="t"/>
          <a:lstStyle/>
          <a:p>
            <a:pPr marL="0" indent="0">
              <a:buNone/>
            </a:pPr>
            <a:r>
              <a:rPr lang="en-US" sz="1600" dirty="0">
                <a:solidFill>
                  <a:srgbClr val="000000"/>
                </a:solidFill>
                <a:latin typeface="Times New Roman" pitchFamily="34" charset="0"/>
                <a:ea typeface="Times New Roman" pitchFamily="34" charset="-122"/>
                <a:cs typeface="Times New Roman" pitchFamily="34" charset="-120"/>
              </a:rPr>
              <a:t>80% train, 20% test (40,000 and 10,000)</a:t>
            </a:r>
            <a:endParaRPr lang="en-US" sz="1600" dirty="0"/>
          </a:p>
        </p:txBody>
      </p:sp>
      <p:sp>
        <p:nvSpPr>
          <p:cNvPr id="19" name="Shape 17"/>
          <p:cNvSpPr/>
          <p:nvPr/>
        </p:nvSpPr>
        <p:spPr>
          <a:xfrm>
            <a:off x="9107424" y="1463040"/>
            <a:ext cx="2514600" cy="1691640"/>
          </a:xfrm>
          <a:prstGeom prst="roundRect">
            <a:avLst>
              <a:gd name="adj" fmla="val 3784"/>
            </a:avLst>
          </a:prstGeom>
          <a:solidFill>
            <a:srgbClr val="F4F6F8"/>
          </a:solidFill>
          <a:ln w="12700">
            <a:solidFill>
              <a:srgbClr val="D7DCE1"/>
            </a:solidFill>
            <a:prstDash val="solid"/>
          </a:ln>
        </p:spPr>
      </p:sp>
      <p:sp>
        <p:nvSpPr>
          <p:cNvPr id="20" name="Shape 18"/>
          <p:cNvSpPr/>
          <p:nvPr/>
        </p:nvSpPr>
        <p:spPr>
          <a:xfrm>
            <a:off x="9272016" y="1627632"/>
            <a:ext cx="402336" cy="402336"/>
          </a:xfrm>
          <a:prstGeom prst="ellipse">
            <a:avLst/>
          </a:prstGeom>
          <a:solidFill>
            <a:srgbClr val="FFFFFF"/>
          </a:solidFill>
          <a:ln w="12700">
            <a:solidFill>
              <a:srgbClr val="8C97A3"/>
            </a:solidFill>
            <a:prstDash val="solid"/>
          </a:ln>
        </p:spPr>
      </p:sp>
      <p:sp>
        <p:nvSpPr>
          <p:cNvPr id="21" name="Text 19"/>
          <p:cNvSpPr txBox="1"/>
          <p:nvPr/>
        </p:nvSpPr>
        <p:spPr>
          <a:xfrm>
            <a:off x="9272016" y="1627632"/>
            <a:ext cx="402336" cy="402336"/>
          </a:xfrm>
          <a:prstGeom prst="rect">
            <a:avLst/>
          </a:prstGeom>
          <a:noFill/>
          <a:ln/>
        </p:spPr>
        <p:txBody>
          <a:bodyPr wrap="square" lIns="0" tIns="0" rIns="0" bIns="0" rtlCol="0" anchor="ctr"/>
          <a:lstStyle/>
          <a:p>
            <a:pPr marL="0" indent="0" algn="ctr">
              <a:buNone/>
            </a:pPr>
            <a:r>
              <a:rPr lang="en-US" sz="1600" b="1" dirty="0">
                <a:solidFill>
                  <a:srgbClr val="000000"/>
                </a:solidFill>
                <a:latin typeface="Times New Roman" pitchFamily="34" charset="0"/>
                <a:ea typeface="Times New Roman" pitchFamily="34" charset="-122"/>
                <a:cs typeface="Times New Roman" pitchFamily="34" charset="-120"/>
              </a:rPr>
              <a:t>4</a:t>
            </a:r>
            <a:endParaRPr lang="en-US" sz="1600" dirty="0"/>
          </a:p>
        </p:txBody>
      </p:sp>
      <p:sp>
        <p:nvSpPr>
          <p:cNvPr id="22" name="Text 20"/>
          <p:cNvSpPr txBox="1"/>
          <p:nvPr/>
        </p:nvSpPr>
        <p:spPr>
          <a:xfrm>
            <a:off x="9793224" y="1627632"/>
            <a:ext cx="1737360" cy="402336"/>
          </a:xfrm>
          <a:prstGeom prst="rect">
            <a:avLst/>
          </a:prstGeom>
          <a:noFill/>
          <a:ln/>
        </p:spPr>
        <p:txBody>
          <a:bodyPr wrap="square" lIns="0" tIns="0" rIns="0" bIns="0" rtlCol="0" anchor="ctr"/>
          <a:lstStyle/>
          <a:p>
            <a:pPr marL="0" indent="0">
              <a:buNone/>
            </a:pPr>
            <a:r>
              <a:rPr lang="en-US" sz="1800" b="1" dirty="0">
                <a:solidFill>
                  <a:srgbClr val="000000"/>
                </a:solidFill>
                <a:latin typeface="Times New Roman" pitchFamily="34" charset="0"/>
                <a:ea typeface="Times New Roman" pitchFamily="34" charset="-122"/>
                <a:cs typeface="Times New Roman" pitchFamily="34" charset="-120"/>
              </a:rPr>
              <a:t>Preprocess</a:t>
            </a:r>
            <a:endParaRPr lang="en-US" sz="1800" dirty="0"/>
          </a:p>
        </p:txBody>
      </p:sp>
      <p:sp>
        <p:nvSpPr>
          <p:cNvPr id="23" name="Text 21"/>
          <p:cNvSpPr txBox="1"/>
          <p:nvPr/>
        </p:nvSpPr>
        <p:spPr>
          <a:xfrm>
            <a:off x="9290304" y="2148840"/>
            <a:ext cx="2148840" cy="960120"/>
          </a:xfrm>
          <a:prstGeom prst="rect">
            <a:avLst/>
          </a:prstGeom>
          <a:noFill/>
          <a:ln/>
        </p:spPr>
        <p:txBody>
          <a:bodyPr wrap="square" lIns="0" tIns="0" rIns="0" bIns="0" rtlCol="0" anchor="t"/>
          <a:lstStyle/>
          <a:p>
            <a:pPr marL="0" indent="0">
              <a:buNone/>
            </a:pPr>
            <a:r>
              <a:rPr lang="en-US" sz="1600" dirty="0">
                <a:solidFill>
                  <a:srgbClr val="000000"/>
                </a:solidFill>
                <a:latin typeface="Times New Roman" pitchFamily="34" charset="0"/>
                <a:ea typeface="Times New Roman" pitchFamily="34" charset="-122"/>
                <a:cs typeface="Times New Roman" pitchFamily="34" charset="-120"/>
              </a:rPr>
              <a:t>Fill gaps, scale numbers, encode categories</a:t>
            </a:r>
            <a:endParaRPr lang="en-US" sz="1600" dirty="0"/>
          </a:p>
        </p:txBody>
      </p:sp>
      <p:sp>
        <p:nvSpPr>
          <p:cNvPr id="24" name="Shape 22"/>
          <p:cNvSpPr/>
          <p:nvPr/>
        </p:nvSpPr>
        <p:spPr>
          <a:xfrm>
            <a:off x="9107424" y="3611880"/>
            <a:ext cx="2514600" cy="1691640"/>
          </a:xfrm>
          <a:prstGeom prst="roundRect">
            <a:avLst>
              <a:gd name="adj" fmla="val 3784"/>
            </a:avLst>
          </a:prstGeom>
          <a:solidFill>
            <a:srgbClr val="E7EBEF"/>
          </a:solidFill>
          <a:ln w="19050">
            <a:solidFill>
              <a:srgbClr val="000000"/>
            </a:solidFill>
            <a:prstDash val="solid"/>
          </a:ln>
        </p:spPr>
      </p:sp>
      <p:sp>
        <p:nvSpPr>
          <p:cNvPr id="25" name="Shape 23"/>
          <p:cNvSpPr/>
          <p:nvPr/>
        </p:nvSpPr>
        <p:spPr>
          <a:xfrm>
            <a:off x="9272016" y="3776472"/>
            <a:ext cx="402336" cy="402336"/>
          </a:xfrm>
          <a:prstGeom prst="ellipse">
            <a:avLst/>
          </a:prstGeom>
          <a:solidFill>
            <a:srgbClr val="FFFFFF"/>
          </a:solidFill>
          <a:ln w="12700">
            <a:solidFill>
              <a:srgbClr val="8C97A3"/>
            </a:solidFill>
            <a:prstDash val="solid"/>
          </a:ln>
        </p:spPr>
      </p:sp>
      <p:sp>
        <p:nvSpPr>
          <p:cNvPr id="26" name="Text 24"/>
          <p:cNvSpPr txBox="1"/>
          <p:nvPr/>
        </p:nvSpPr>
        <p:spPr>
          <a:xfrm>
            <a:off x="9272016" y="3776472"/>
            <a:ext cx="402336" cy="402336"/>
          </a:xfrm>
          <a:prstGeom prst="rect">
            <a:avLst/>
          </a:prstGeom>
          <a:noFill/>
          <a:ln/>
        </p:spPr>
        <p:txBody>
          <a:bodyPr wrap="square" lIns="0" tIns="0" rIns="0" bIns="0" rtlCol="0" anchor="ctr"/>
          <a:lstStyle/>
          <a:p>
            <a:pPr marL="0" indent="0" algn="ctr">
              <a:buNone/>
            </a:pPr>
            <a:r>
              <a:rPr lang="en-US" sz="1600" b="1" dirty="0">
                <a:solidFill>
                  <a:srgbClr val="000000"/>
                </a:solidFill>
                <a:latin typeface="Times New Roman" pitchFamily="34" charset="0"/>
                <a:ea typeface="Times New Roman" pitchFamily="34" charset="-122"/>
                <a:cs typeface="Times New Roman" pitchFamily="34" charset="-120"/>
              </a:rPr>
              <a:t>5</a:t>
            </a:r>
            <a:endParaRPr lang="en-US" sz="1600" dirty="0"/>
          </a:p>
        </p:txBody>
      </p:sp>
      <p:sp>
        <p:nvSpPr>
          <p:cNvPr id="27" name="Text 25"/>
          <p:cNvSpPr txBox="1"/>
          <p:nvPr/>
        </p:nvSpPr>
        <p:spPr>
          <a:xfrm>
            <a:off x="9793224" y="3776472"/>
            <a:ext cx="1737360" cy="402336"/>
          </a:xfrm>
          <a:prstGeom prst="rect">
            <a:avLst/>
          </a:prstGeom>
          <a:noFill/>
          <a:ln/>
        </p:spPr>
        <p:txBody>
          <a:bodyPr wrap="square" lIns="0" tIns="0" rIns="0" bIns="0" rtlCol="0" anchor="ctr"/>
          <a:lstStyle/>
          <a:p>
            <a:pPr marL="0" indent="0">
              <a:buNone/>
            </a:pPr>
            <a:r>
              <a:rPr lang="en-US" sz="1800" b="1" dirty="0">
                <a:solidFill>
                  <a:srgbClr val="000000"/>
                </a:solidFill>
                <a:latin typeface="Times New Roman" pitchFamily="34" charset="0"/>
                <a:ea typeface="Times New Roman" pitchFamily="34" charset="-122"/>
                <a:cs typeface="Times New Roman" pitchFamily="34" charset="-120"/>
              </a:rPr>
              <a:t>Train models</a:t>
            </a:r>
            <a:endParaRPr lang="en-US" sz="1800" dirty="0"/>
          </a:p>
        </p:txBody>
      </p:sp>
      <p:sp>
        <p:nvSpPr>
          <p:cNvPr id="28" name="Text 26"/>
          <p:cNvSpPr txBox="1"/>
          <p:nvPr/>
        </p:nvSpPr>
        <p:spPr>
          <a:xfrm>
            <a:off x="9290304" y="4297680"/>
            <a:ext cx="2148840" cy="960120"/>
          </a:xfrm>
          <a:prstGeom prst="rect">
            <a:avLst/>
          </a:prstGeom>
          <a:noFill/>
          <a:ln/>
        </p:spPr>
        <p:txBody>
          <a:bodyPr wrap="square" lIns="0" tIns="0" rIns="0" bIns="0" rtlCol="0" anchor="t"/>
          <a:lstStyle/>
          <a:p>
            <a:pPr marL="0" indent="0">
              <a:buNone/>
            </a:pPr>
            <a:r>
              <a:rPr lang="en-US" sz="1600" dirty="0">
                <a:solidFill>
                  <a:srgbClr val="000000"/>
                </a:solidFill>
                <a:latin typeface="Times New Roman" pitchFamily="34" charset="0"/>
                <a:ea typeface="Times New Roman" pitchFamily="34" charset="-122"/>
                <a:cs typeface="Times New Roman" pitchFamily="34" charset="-120"/>
              </a:rPr>
              <a:t>Train 4 models; tune XGBoost</a:t>
            </a:r>
            <a:endParaRPr lang="en-US" sz="1600" dirty="0"/>
          </a:p>
        </p:txBody>
      </p:sp>
      <p:sp>
        <p:nvSpPr>
          <p:cNvPr id="29" name="Shape 27"/>
          <p:cNvSpPr/>
          <p:nvPr/>
        </p:nvSpPr>
        <p:spPr>
          <a:xfrm>
            <a:off x="6254496" y="3611880"/>
            <a:ext cx="2514600" cy="1691640"/>
          </a:xfrm>
          <a:prstGeom prst="roundRect">
            <a:avLst>
              <a:gd name="adj" fmla="val 3784"/>
            </a:avLst>
          </a:prstGeom>
          <a:solidFill>
            <a:srgbClr val="F4F6F8"/>
          </a:solidFill>
          <a:ln w="12700">
            <a:solidFill>
              <a:srgbClr val="D7DCE1"/>
            </a:solidFill>
            <a:prstDash val="solid"/>
          </a:ln>
        </p:spPr>
      </p:sp>
      <p:sp>
        <p:nvSpPr>
          <p:cNvPr id="30" name="Shape 28"/>
          <p:cNvSpPr/>
          <p:nvPr/>
        </p:nvSpPr>
        <p:spPr>
          <a:xfrm>
            <a:off x="6419088" y="3776472"/>
            <a:ext cx="402336" cy="402336"/>
          </a:xfrm>
          <a:prstGeom prst="ellipse">
            <a:avLst/>
          </a:prstGeom>
          <a:solidFill>
            <a:srgbClr val="FFFFFF"/>
          </a:solidFill>
          <a:ln w="12700">
            <a:solidFill>
              <a:srgbClr val="8C97A3"/>
            </a:solidFill>
            <a:prstDash val="solid"/>
          </a:ln>
        </p:spPr>
      </p:sp>
      <p:sp>
        <p:nvSpPr>
          <p:cNvPr id="31" name="Text 29"/>
          <p:cNvSpPr txBox="1"/>
          <p:nvPr/>
        </p:nvSpPr>
        <p:spPr>
          <a:xfrm>
            <a:off x="6419088" y="3776472"/>
            <a:ext cx="402336" cy="402336"/>
          </a:xfrm>
          <a:prstGeom prst="rect">
            <a:avLst/>
          </a:prstGeom>
          <a:noFill/>
          <a:ln/>
        </p:spPr>
        <p:txBody>
          <a:bodyPr wrap="square" lIns="0" tIns="0" rIns="0" bIns="0" rtlCol="0" anchor="ctr"/>
          <a:lstStyle/>
          <a:p>
            <a:pPr marL="0" indent="0" algn="ctr">
              <a:buNone/>
            </a:pPr>
            <a:r>
              <a:rPr lang="en-US" sz="1600" b="1" dirty="0">
                <a:solidFill>
                  <a:srgbClr val="000000"/>
                </a:solidFill>
                <a:latin typeface="Times New Roman" pitchFamily="34" charset="0"/>
                <a:ea typeface="Times New Roman" pitchFamily="34" charset="-122"/>
                <a:cs typeface="Times New Roman" pitchFamily="34" charset="-120"/>
              </a:rPr>
              <a:t>6</a:t>
            </a:r>
            <a:endParaRPr lang="en-US" sz="1600" dirty="0"/>
          </a:p>
        </p:txBody>
      </p:sp>
      <p:sp>
        <p:nvSpPr>
          <p:cNvPr id="32" name="Text 30"/>
          <p:cNvSpPr txBox="1"/>
          <p:nvPr/>
        </p:nvSpPr>
        <p:spPr>
          <a:xfrm>
            <a:off x="6940296" y="3776472"/>
            <a:ext cx="1737360" cy="402336"/>
          </a:xfrm>
          <a:prstGeom prst="rect">
            <a:avLst/>
          </a:prstGeom>
          <a:noFill/>
          <a:ln/>
        </p:spPr>
        <p:txBody>
          <a:bodyPr wrap="square" lIns="0" tIns="0" rIns="0" bIns="0" rtlCol="0" anchor="ctr"/>
          <a:lstStyle/>
          <a:p>
            <a:pPr marL="0" indent="0">
              <a:buNone/>
            </a:pPr>
            <a:r>
              <a:rPr lang="en-US" sz="1800" b="1" dirty="0">
                <a:solidFill>
                  <a:srgbClr val="000000"/>
                </a:solidFill>
                <a:latin typeface="Times New Roman" pitchFamily="34" charset="0"/>
                <a:ea typeface="Times New Roman" pitchFamily="34" charset="-122"/>
                <a:cs typeface="Times New Roman" pitchFamily="34" charset="-120"/>
              </a:rPr>
              <a:t>Evaluate</a:t>
            </a:r>
            <a:endParaRPr lang="en-US" sz="1800" dirty="0"/>
          </a:p>
        </p:txBody>
      </p:sp>
      <p:sp>
        <p:nvSpPr>
          <p:cNvPr id="33" name="Text 31"/>
          <p:cNvSpPr txBox="1"/>
          <p:nvPr/>
        </p:nvSpPr>
        <p:spPr>
          <a:xfrm>
            <a:off x="6437376" y="4297680"/>
            <a:ext cx="2148840" cy="960120"/>
          </a:xfrm>
          <a:prstGeom prst="rect">
            <a:avLst/>
          </a:prstGeom>
          <a:noFill/>
          <a:ln/>
        </p:spPr>
        <p:txBody>
          <a:bodyPr wrap="square" lIns="0" tIns="0" rIns="0" bIns="0" rtlCol="0" anchor="t"/>
          <a:lstStyle/>
          <a:p>
            <a:pPr marL="0" indent="0">
              <a:buNone/>
            </a:pPr>
            <a:r>
              <a:rPr lang="en-US" sz="1600" dirty="0">
                <a:solidFill>
                  <a:srgbClr val="000000"/>
                </a:solidFill>
                <a:latin typeface="Times New Roman" pitchFamily="34" charset="0"/>
                <a:ea typeface="Times New Roman" pitchFamily="34" charset="-122"/>
                <a:cs typeface="Times New Roman" pitchFamily="34" charset="-120"/>
              </a:rPr>
              <a:t>Accuracy, precision, recall, F1, AUC, matrix</a:t>
            </a:r>
            <a:endParaRPr lang="en-US" sz="1600" dirty="0"/>
          </a:p>
        </p:txBody>
      </p:sp>
      <p:sp>
        <p:nvSpPr>
          <p:cNvPr id="34" name="Shape 32"/>
          <p:cNvSpPr/>
          <p:nvPr/>
        </p:nvSpPr>
        <p:spPr>
          <a:xfrm>
            <a:off x="3401568" y="3611880"/>
            <a:ext cx="2514600" cy="1691640"/>
          </a:xfrm>
          <a:prstGeom prst="roundRect">
            <a:avLst>
              <a:gd name="adj" fmla="val 3784"/>
            </a:avLst>
          </a:prstGeom>
          <a:solidFill>
            <a:srgbClr val="E7EBEF"/>
          </a:solidFill>
          <a:ln w="19050">
            <a:solidFill>
              <a:srgbClr val="000000"/>
            </a:solidFill>
            <a:prstDash val="solid"/>
          </a:ln>
        </p:spPr>
      </p:sp>
      <p:sp>
        <p:nvSpPr>
          <p:cNvPr id="35" name="Shape 33"/>
          <p:cNvSpPr/>
          <p:nvPr/>
        </p:nvSpPr>
        <p:spPr>
          <a:xfrm>
            <a:off x="3566160" y="3776472"/>
            <a:ext cx="402336" cy="402336"/>
          </a:xfrm>
          <a:prstGeom prst="ellipse">
            <a:avLst/>
          </a:prstGeom>
          <a:solidFill>
            <a:srgbClr val="FFFFFF"/>
          </a:solidFill>
          <a:ln w="12700">
            <a:solidFill>
              <a:srgbClr val="8C97A3"/>
            </a:solidFill>
            <a:prstDash val="solid"/>
          </a:ln>
        </p:spPr>
      </p:sp>
      <p:sp>
        <p:nvSpPr>
          <p:cNvPr id="36" name="Text 34"/>
          <p:cNvSpPr txBox="1"/>
          <p:nvPr/>
        </p:nvSpPr>
        <p:spPr>
          <a:xfrm>
            <a:off x="3566160" y="3776472"/>
            <a:ext cx="402336" cy="402336"/>
          </a:xfrm>
          <a:prstGeom prst="rect">
            <a:avLst/>
          </a:prstGeom>
          <a:noFill/>
          <a:ln/>
        </p:spPr>
        <p:txBody>
          <a:bodyPr wrap="square" lIns="0" tIns="0" rIns="0" bIns="0" rtlCol="0" anchor="ctr"/>
          <a:lstStyle/>
          <a:p>
            <a:pPr marL="0" indent="0" algn="ctr">
              <a:buNone/>
            </a:pPr>
            <a:r>
              <a:rPr lang="en-US" sz="1600" b="1" dirty="0">
                <a:solidFill>
                  <a:srgbClr val="000000"/>
                </a:solidFill>
                <a:latin typeface="Times New Roman" pitchFamily="34" charset="0"/>
                <a:ea typeface="Times New Roman" pitchFamily="34" charset="-122"/>
                <a:cs typeface="Times New Roman" pitchFamily="34" charset="-120"/>
              </a:rPr>
              <a:t>7</a:t>
            </a:r>
            <a:endParaRPr lang="en-US" sz="1600" dirty="0"/>
          </a:p>
        </p:txBody>
      </p:sp>
      <p:sp>
        <p:nvSpPr>
          <p:cNvPr id="37" name="Text 35"/>
          <p:cNvSpPr txBox="1"/>
          <p:nvPr/>
        </p:nvSpPr>
        <p:spPr>
          <a:xfrm>
            <a:off x="4087368" y="3776472"/>
            <a:ext cx="1737360" cy="402336"/>
          </a:xfrm>
          <a:prstGeom prst="rect">
            <a:avLst/>
          </a:prstGeom>
          <a:noFill/>
          <a:ln/>
        </p:spPr>
        <p:txBody>
          <a:bodyPr wrap="square" lIns="0" tIns="0" rIns="0" bIns="0" rtlCol="0" anchor="ctr"/>
          <a:lstStyle/>
          <a:p>
            <a:pPr marL="0" indent="0">
              <a:buNone/>
            </a:pPr>
            <a:r>
              <a:rPr lang="en-US" sz="1800" b="1" dirty="0">
                <a:solidFill>
                  <a:srgbClr val="000000"/>
                </a:solidFill>
                <a:latin typeface="Times New Roman" pitchFamily="34" charset="0"/>
                <a:ea typeface="Times New Roman" pitchFamily="34" charset="-122"/>
                <a:cs typeface="Times New Roman" pitchFamily="34" charset="-120"/>
              </a:rPr>
              <a:t>Choose threshold</a:t>
            </a:r>
            <a:endParaRPr lang="en-US" sz="1800" dirty="0"/>
          </a:p>
        </p:txBody>
      </p:sp>
      <p:sp>
        <p:nvSpPr>
          <p:cNvPr id="38" name="Text 36"/>
          <p:cNvSpPr txBox="1"/>
          <p:nvPr/>
        </p:nvSpPr>
        <p:spPr>
          <a:xfrm>
            <a:off x="3584448" y="4297680"/>
            <a:ext cx="2148840" cy="960120"/>
          </a:xfrm>
          <a:prstGeom prst="rect">
            <a:avLst/>
          </a:prstGeom>
          <a:noFill/>
          <a:ln/>
        </p:spPr>
        <p:txBody>
          <a:bodyPr wrap="square" lIns="0" tIns="0" rIns="0" bIns="0" rtlCol="0" anchor="t"/>
          <a:lstStyle/>
          <a:p>
            <a:pPr marL="0" indent="0">
              <a:buNone/>
            </a:pPr>
            <a:r>
              <a:rPr lang="en-US" sz="1600" dirty="0">
                <a:solidFill>
                  <a:srgbClr val="000000"/>
                </a:solidFill>
                <a:latin typeface="Times New Roman" pitchFamily="34" charset="0"/>
                <a:ea typeface="Times New Roman" pitchFamily="34" charset="-122"/>
                <a:cs typeface="Times New Roman" pitchFamily="34" charset="-120"/>
              </a:rPr>
              <a:t>Try cut-offs from 0.200 to 0.525; pick 0.300</a:t>
            </a:r>
            <a:endParaRPr lang="en-US" sz="1600" dirty="0"/>
          </a:p>
        </p:txBody>
      </p:sp>
      <p:sp>
        <p:nvSpPr>
          <p:cNvPr id="39" name="Shape 37"/>
          <p:cNvSpPr/>
          <p:nvPr/>
        </p:nvSpPr>
        <p:spPr>
          <a:xfrm>
            <a:off x="548640" y="3611880"/>
            <a:ext cx="2514600" cy="1691640"/>
          </a:xfrm>
          <a:prstGeom prst="roundRect">
            <a:avLst>
              <a:gd name="adj" fmla="val 3784"/>
            </a:avLst>
          </a:prstGeom>
          <a:solidFill>
            <a:srgbClr val="F4F6F8"/>
          </a:solidFill>
          <a:ln w="12700">
            <a:solidFill>
              <a:srgbClr val="D7DCE1"/>
            </a:solidFill>
            <a:prstDash val="solid"/>
          </a:ln>
        </p:spPr>
      </p:sp>
      <p:sp>
        <p:nvSpPr>
          <p:cNvPr id="40" name="Shape 38"/>
          <p:cNvSpPr/>
          <p:nvPr/>
        </p:nvSpPr>
        <p:spPr>
          <a:xfrm>
            <a:off x="713232" y="3776472"/>
            <a:ext cx="402336" cy="402336"/>
          </a:xfrm>
          <a:prstGeom prst="ellipse">
            <a:avLst/>
          </a:prstGeom>
          <a:solidFill>
            <a:srgbClr val="FFFFFF"/>
          </a:solidFill>
          <a:ln w="12700">
            <a:solidFill>
              <a:srgbClr val="8C97A3"/>
            </a:solidFill>
            <a:prstDash val="solid"/>
          </a:ln>
        </p:spPr>
      </p:sp>
      <p:sp>
        <p:nvSpPr>
          <p:cNvPr id="41" name="Text 39"/>
          <p:cNvSpPr txBox="1"/>
          <p:nvPr/>
        </p:nvSpPr>
        <p:spPr>
          <a:xfrm>
            <a:off x="713232" y="3776472"/>
            <a:ext cx="402336" cy="402336"/>
          </a:xfrm>
          <a:prstGeom prst="rect">
            <a:avLst/>
          </a:prstGeom>
          <a:noFill/>
          <a:ln/>
        </p:spPr>
        <p:txBody>
          <a:bodyPr wrap="square" lIns="0" tIns="0" rIns="0" bIns="0" rtlCol="0" anchor="ctr"/>
          <a:lstStyle/>
          <a:p>
            <a:pPr marL="0" indent="0" algn="ctr">
              <a:buNone/>
            </a:pPr>
            <a:r>
              <a:rPr lang="en-US" sz="1600" b="1" dirty="0">
                <a:solidFill>
                  <a:srgbClr val="000000"/>
                </a:solidFill>
                <a:latin typeface="Times New Roman" pitchFamily="34" charset="0"/>
                <a:ea typeface="Times New Roman" pitchFamily="34" charset="-122"/>
                <a:cs typeface="Times New Roman" pitchFamily="34" charset="-120"/>
              </a:rPr>
              <a:t>8</a:t>
            </a:r>
            <a:endParaRPr lang="en-US" sz="1600" dirty="0"/>
          </a:p>
        </p:txBody>
      </p:sp>
      <p:sp>
        <p:nvSpPr>
          <p:cNvPr id="42" name="Text 40"/>
          <p:cNvSpPr txBox="1"/>
          <p:nvPr/>
        </p:nvSpPr>
        <p:spPr>
          <a:xfrm>
            <a:off x="1234440" y="3776472"/>
            <a:ext cx="1737360" cy="402336"/>
          </a:xfrm>
          <a:prstGeom prst="rect">
            <a:avLst/>
          </a:prstGeom>
          <a:noFill/>
          <a:ln/>
        </p:spPr>
        <p:txBody>
          <a:bodyPr wrap="square" lIns="0" tIns="0" rIns="0" bIns="0" rtlCol="0" anchor="ctr"/>
          <a:lstStyle/>
          <a:p>
            <a:pPr marL="0" indent="0">
              <a:buNone/>
            </a:pPr>
            <a:r>
              <a:rPr lang="en-US" sz="1800" b="1" dirty="0">
                <a:solidFill>
                  <a:srgbClr val="000000"/>
                </a:solidFill>
                <a:latin typeface="Times New Roman" pitchFamily="34" charset="0"/>
                <a:ea typeface="Times New Roman" pitchFamily="34" charset="-122"/>
                <a:cs typeface="Times New Roman" pitchFamily="34" charset="-120"/>
              </a:rPr>
              <a:t>Predict</a:t>
            </a:r>
            <a:endParaRPr lang="en-US" sz="1800" dirty="0"/>
          </a:p>
        </p:txBody>
      </p:sp>
      <p:sp>
        <p:nvSpPr>
          <p:cNvPr id="43" name="Text 41"/>
          <p:cNvSpPr txBox="1"/>
          <p:nvPr/>
        </p:nvSpPr>
        <p:spPr>
          <a:xfrm>
            <a:off x="731520" y="4297680"/>
            <a:ext cx="2148840" cy="960120"/>
          </a:xfrm>
          <a:prstGeom prst="rect">
            <a:avLst/>
          </a:prstGeom>
          <a:noFill/>
          <a:ln/>
        </p:spPr>
        <p:txBody>
          <a:bodyPr wrap="square" lIns="0" tIns="0" rIns="0" bIns="0" rtlCol="0" anchor="t"/>
          <a:lstStyle/>
          <a:p>
            <a:pPr marL="0" indent="0">
              <a:buNone/>
            </a:pPr>
            <a:r>
              <a:rPr lang="en-US" sz="1600" dirty="0">
                <a:solidFill>
                  <a:srgbClr val="000000"/>
                </a:solidFill>
                <a:latin typeface="Times New Roman" pitchFamily="34" charset="0"/>
                <a:ea typeface="Times New Roman" pitchFamily="34" charset="-122"/>
                <a:cs typeface="Times New Roman" pitchFamily="34" charset="-120"/>
              </a:rPr>
              <a:t>An API gives the job-chance score</a:t>
            </a:r>
            <a:endParaRPr lang="en-US" sz="1600" dirty="0"/>
          </a:p>
        </p:txBody>
      </p:sp>
      <p:sp>
        <p:nvSpPr>
          <p:cNvPr id="44" name="Shape 42"/>
          <p:cNvSpPr/>
          <p:nvPr/>
        </p:nvSpPr>
        <p:spPr>
          <a:xfrm>
            <a:off x="3099816" y="2171700"/>
            <a:ext cx="265176" cy="274320"/>
          </a:xfrm>
          <a:prstGeom prst="rightArrow">
            <a:avLst/>
          </a:prstGeom>
          <a:solidFill>
            <a:srgbClr val="8C97A3"/>
          </a:solidFill>
          <a:ln w="12700">
            <a:solidFill>
              <a:srgbClr val="8C97A3"/>
            </a:solidFill>
            <a:prstDash val="solid"/>
          </a:ln>
        </p:spPr>
      </p:sp>
      <p:sp>
        <p:nvSpPr>
          <p:cNvPr id="45" name="Shape 43"/>
          <p:cNvSpPr/>
          <p:nvPr/>
        </p:nvSpPr>
        <p:spPr>
          <a:xfrm>
            <a:off x="3099816" y="4320540"/>
            <a:ext cx="265176" cy="274320"/>
          </a:xfrm>
          <a:prstGeom prst="leftArrow">
            <a:avLst/>
          </a:prstGeom>
          <a:solidFill>
            <a:srgbClr val="8C97A3"/>
          </a:solidFill>
          <a:ln w="12700">
            <a:solidFill>
              <a:srgbClr val="8C97A3"/>
            </a:solidFill>
            <a:prstDash val="solid"/>
          </a:ln>
        </p:spPr>
      </p:sp>
      <p:sp>
        <p:nvSpPr>
          <p:cNvPr id="46" name="Shape 44"/>
          <p:cNvSpPr/>
          <p:nvPr/>
        </p:nvSpPr>
        <p:spPr>
          <a:xfrm>
            <a:off x="5952744" y="2171700"/>
            <a:ext cx="265176" cy="274320"/>
          </a:xfrm>
          <a:prstGeom prst="rightArrow">
            <a:avLst/>
          </a:prstGeom>
          <a:solidFill>
            <a:srgbClr val="8C97A3"/>
          </a:solidFill>
          <a:ln w="12700">
            <a:solidFill>
              <a:srgbClr val="8C97A3"/>
            </a:solidFill>
            <a:prstDash val="solid"/>
          </a:ln>
        </p:spPr>
      </p:sp>
      <p:sp>
        <p:nvSpPr>
          <p:cNvPr id="47" name="Shape 45"/>
          <p:cNvSpPr/>
          <p:nvPr/>
        </p:nvSpPr>
        <p:spPr>
          <a:xfrm>
            <a:off x="5952744" y="4320540"/>
            <a:ext cx="265176" cy="274320"/>
          </a:xfrm>
          <a:prstGeom prst="leftArrow">
            <a:avLst/>
          </a:prstGeom>
          <a:solidFill>
            <a:srgbClr val="8C97A3"/>
          </a:solidFill>
          <a:ln w="12700">
            <a:solidFill>
              <a:srgbClr val="8C97A3"/>
            </a:solidFill>
            <a:prstDash val="solid"/>
          </a:ln>
        </p:spPr>
      </p:sp>
      <p:sp>
        <p:nvSpPr>
          <p:cNvPr id="48" name="Shape 46"/>
          <p:cNvSpPr/>
          <p:nvPr/>
        </p:nvSpPr>
        <p:spPr>
          <a:xfrm>
            <a:off x="8805672" y="2171700"/>
            <a:ext cx="265176" cy="274320"/>
          </a:xfrm>
          <a:prstGeom prst="rightArrow">
            <a:avLst/>
          </a:prstGeom>
          <a:solidFill>
            <a:srgbClr val="8C97A3"/>
          </a:solidFill>
          <a:ln w="12700">
            <a:solidFill>
              <a:srgbClr val="8C97A3"/>
            </a:solidFill>
            <a:prstDash val="solid"/>
          </a:ln>
        </p:spPr>
      </p:sp>
      <p:sp>
        <p:nvSpPr>
          <p:cNvPr id="49" name="Shape 47"/>
          <p:cNvSpPr/>
          <p:nvPr/>
        </p:nvSpPr>
        <p:spPr>
          <a:xfrm>
            <a:off x="8805672" y="4320540"/>
            <a:ext cx="265176" cy="274320"/>
          </a:xfrm>
          <a:prstGeom prst="leftArrow">
            <a:avLst/>
          </a:prstGeom>
          <a:solidFill>
            <a:srgbClr val="8C97A3"/>
          </a:solidFill>
          <a:ln w="12700">
            <a:solidFill>
              <a:srgbClr val="8C97A3"/>
            </a:solidFill>
            <a:prstDash val="solid"/>
          </a:ln>
        </p:spPr>
      </p:sp>
      <p:sp>
        <p:nvSpPr>
          <p:cNvPr id="50" name="Shape 48"/>
          <p:cNvSpPr/>
          <p:nvPr/>
        </p:nvSpPr>
        <p:spPr>
          <a:xfrm>
            <a:off x="10227564" y="3191256"/>
            <a:ext cx="274320" cy="384048"/>
          </a:xfrm>
          <a:prstGeom prst="downArrow">
            <a:avLst/>
          </a:prstGeom>
          <a:solidFill>
            <a:srgbClr val="8C97A3"/>
          </a:solidFill>
          <a:ln w="12700">
            <a:solidFill>
              <a:srgbClr val="8C97A3"/>
            </a:solidFill>
            <a:prstDash val="solid"/>
          </a:ln>
        </p:spPr>
      </p:sp>
      <p:sp>
        <p:nvSpPr>
          <p:cNvPr id="51" name="Shape 49"/>
          <p:cNvSpPr/>
          <p:nvPr/>
        </p:nvSpPr>
        <p:spPr>
          <a:xfrm>
            <a:off x="548640" y="5577840"/>
            <a:ext cx="11091672" cy="685800"/>
          </a:xfrm>
          <a:prstGeom prst="roundRect">
            <a:avLst>
              <a:gd name="adj" fmla="val 9333"/>
            </a:avLst>
          </a:prstGeom>
          <a:solidFill>
            <a:srgbClr val="E7EBEF"/>
          </a:solidFill>
          <a:ln w="12700">
            <a:solidFill>
              <a:srgbClr val="D7DCE1"/>
            </a:solidFill>
            <a:prstDash val="solid"/>
          </a:ln>
        </p:spPr>
      </p:sp>
      <p:sp>
        <p:nvSpPr>
          <p:cNvPr id="52" name="Text 50"/>
          <p:cNvSpPr txBox="1"/>
          <p:nvPr/>
        </p:nvSpPr>
        <p:spPr>
          <a:xfrm>
            <a:off x="777240" y="5577840"/>
            <a:ext cx="10652760" cy="685800"/>
          </a:xfrm>
          <a:prstGeom prst="rect">
            <a:avLst/>
          </a:prstGeom>
          <a:noFill/>
          <a:ln/>
        </p:spPr>
        <p:txBody>
          <a:bodyPr wrap="square" lIns="0" tIns="0" rIns="0" bIns="0" rtlCol="0" anchor="ctr"/>
          <a:lstStyle/>
          <a:p>
            <a:pPr marL="0" indent="0">
              <a:buNone/>
            </a:pPr>
            <a:r>
              <a:rPr lang="en-US" sz="1800" dirty="0">
                <a:solidFill>
                  <a:srgbClr val="000000"/>
                </a:solidFill>
                <a:latin typeface="Times New Roman" pitchFamily="34" charset="0"/>
                <a:ea typeface="Times New Roman" pitchFamily="34" charset="-122"/>
                <a:cs typeface="Times New Roman" pitchFamily="34" charset="-120"/>
              </a:rPr>
              <a:t>Preprocessing and the model sit in one pipeline, so the test data is never used for learning.</a:t>
            </a:r>
            <a:endParaRPr lang="en-US" sz="1800" dirty="0"/>
          </a:p>
        </p:txBody>
      </p:sp>
      <p:sp>
        <p:nvSpPr>
          <p:cNvPr id="53"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B6B7C"/>
                </a:solidFill>
                <a:latin typeface="Times New Roman"/>
                <a:ea typeface="Times New Roman"/>
                <a:cs typeface="Times New Roman"/>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365760"/>
            <a:ext cx="10058400" cy="274320"/>
          </a:xfrm>
          <a:prstGeom prst="rect">
            <a:avLst/>
          </a:prstGeom>
          <a:noFill/>
          <a:ln/>
        </p:spPr>
        <p:txBody>
          <a:bodyPr wrap="square" lIns="0" tIns="0" rIns="0" bIns="0" rtlCol="0" anchor="t"/>
          <a:lstStyle/>
          <a:p>
            <a:pPr marL="0" indent="0">
              <a:buNone/>
            </a:pPr>
            <a:r>
              <a:rPr lang="en-US" sz="1400" b="1" kern="0" spc="300" dirty="0">
                <a:solidFill>
                  <a:srgbClr val="000000"/>
                </a:solidFill>
                <a:latin typeface="Times New Roman" pitchFamily="34" charset="0"/>
                <a:ea typeface="Times New Roman" pitchFamily="34" charset="-122"/>
                <a:cs typeface="Times New Roman" pitchFamily="34" charset="-120"/>
              </a:rPr>
              <a:t>CHAPTER 5 — PREPROCESSING AND CLASS BALANCE</a:t>
            </a:r>
            <a:endParaRPr lang="en-US" sz="1400" dirty="0"/>
          </a:p>
        </p:txBody>
      </p:sp>
      <p:sp>
        <p:nvSpPr>
          <p:cNvPr id="3" name="Text 0"/>
          <p:cNvSpPr>
            <a:spLocks noGrp="1"/>
          </p:cNvSpPr>
          <p:nvPr>
            <p:ph type="title" idx="100" hasCustomPrompt="1"/>
          </p:nvPr>
        </p:nvSpPr>
        <p:spPr>
          <a:xfrm>
            <a:off x="548640" y="658368"/>
            <a:ext cx="11091672" cy="640080"/>
          </a:xfrm>
          <a:prstGeom prst="rect">
            <a:avLst/>
          </a:prstGeom>
          <a:noFill/>
          <a:ln/>
        </p:spPr>
        <p:txBody>
          <a:bodyPr wrap="square" lIns="0" tIns="0" rIns="0" bIns="0" rtlCol="0" anchor="ctr"/>
          <a:lstStyle/>
          <a:p>
            <a:pPr marL="0" indent="0" algn="l">
              <a:buNone/>
            </a:pPr>
            <a:r>
              <a:rPr lang="en-US" sz="2800" b="1" dirty="0">
                <a:solidFill>
                  <a:srgbClr val="000000"/>
                </a:solidFill>
                <a:latin typeface="Times New Roman" pitchFamily="34" charset="0"/>
                <a:ea typeface="Times New Roman" pitchFamily="34" charset="-122"/>
                <a:cs typeface="Times New Roman" pitchFamily="34" charset="-120"/>
              </a:rPr>
              <a:t>Preparing Data and Fixing Imbalance</a:t>
            </a:r>
            <a:endParaRPr lang="en-US" sz="2800" dirty="0"/>
          </a:p>
        </p:txBody>
      </p:sp>
      <p:sp>
        <p:nvSpPr>
          <p:cNvPr id="4" name="Shape 2"/>
          <p:cNvSpPr/>
          <p:nvPr/>
        </p:nvSpPr>
        <p:spPr>
          <a:xfrm>
            <a:off x="548640" y="1463040"/>
            <a:ext cx="5440680" cy="4800600"/>
          </a:xfrm>
          <a:prstGeom prst="roundRect">
            <a:avLst>
              <a:gd name="adj" fmla="val 1333"/>
            </a:avLst>
          </a:prstGeom>
          <a:solidFill>
            <a:srgbClr val="F4F6F8"/>
          </a:solidFill>
          <a:ln w="12700">
            <a:solidFill>
              <a:srgbClr val="D7DCE1"/>
            </a:solidFill>
            <a:prstDash val="solid"/>
          </a:ln>
        </p:spPr>
      </p:sp>
      <p:sp>
        <p:nvSpPr>
          <p:cNvPr id="5" name="Text 3"/>
          <p:cNvSpPr txBox="1"/>
          <p:nvPr/>
        </p:nvSpPr>
        <p:spPr>
          <a:xfrm>
            <a:off x="822960" y="1627632"/>
            <a:ext cx="4937760" cy="320040"/>
          </a:xfrm>
          <a:prstGeom prst="rect">
            <a:avLst/>
          </a:prstGeom>
          <a:noFill/>
          <a:ln/>
        </p:spPr>
        <p:txBody>
          <a:bodyPr wrap="square" lIns="0" tIns="0" rIns="0" bIns="0" rtlCol="0" anchor="t"/>
          <a:lstStyle/>
          <a:p>
            <a:pPr marL="0" indent="0">
              <a:buNone/>
            </a:pPr>
            <a:r>
              <a:rPr lang="en-US" sz="1400" b="1" kern="0" spc="300" dirty="0">
                <a:solidFill>
                  <a:srgbClr val="000000"/>
                </a:solidFill>
                <a:latin typeface="Times New Roman" pitchFamily="34" charset="0"/>
                <a:ea typeface="Times New Roman" pitchFamily="34" charset="-122"/>
                <a:cs typeface="Times New Roman" pitchFamily="34" charset="-120"/>
              </a:rPr>
              <a:t>PREPROCESSING STEPS</a:t>
            </a:r>
            <a:endParaRPr lang="en-US" sz="1400" dirty="0"/>
          </a:p>
        </p:txBody>
      </p:sp>
      <p:sp>
        <p:nvSpPr>
          <p:cNvPr id="6" name="Shape 4"/>
          <p:cNvSpPr/>
          <p:nvPr/>
        </p:nvSpPr>
        <p:spPr>
          <a:xfrm>
            <a:off x="822960" y="2148840"/>
            <a:ext cx="384048" cy="384048"/>
          </a:xfrm>
          <a:prstGeom prst="ellipse">
            <a:avLst/>
          </a:prstGeom>
          <a:solidFill>
            <a:srgbClr val="FFFFFF"/>
          </a:solidFill>
          <a:ln w="12700">
            <a:solidFill>
              <a:srgbClr val="8C97A3"/>
            </a:solidFill>
            <a:prstDash val="solid"/>
          </a:ln>
        </p:spPr>
      </p:sp>
      <p:sp>
        <p:nvSpPr>
          <p:cNvPr id="7" name="Text 5"/>
          <p:cNvSpPr txBox="1"/>
          <p:nvPr/>
        </p:nvSpPr>
        <p:spPr>
          <a:xfrm>
            <a:off x="822960" y="2148840"/>
            <a:ext cx="384048" cy="384048"/>
          </a:xfrm>
          <a:prstGeom prst="rect">
            <a:avLst/>
          </a:prstGeom>
          <a:noFill/>
          <a:ln/>
        </p:spPr>
        <p:txBody>
          <a:bodyPr wrap="square" lIns="0" tIns="0" rIns="0" bIns="0" rtlCol="0" anchor="ctr"/>
          <a:lstStyle/>
          <a:p>
            <a:pPr marL="0" indent="0" algn="ctr">
              <a:buNone/>
            </a:pPr>
            <a:r>
              <a:rPr lang="en-US" sz="1600" b="1" dirty="0">
                <a:solidFill>
                  <a:srgbClr val="000000"/>
                </a:solidFill>
                <a:latin typeface="Times New Roman" pitchFamily="34" charset="0"/>
                <a:ea typeface="Times New Roman" pitchFamily="34" charset="-122"/>
                <a:cs typeface="Times New Roman" pitchFamily="34" charset="-120"/>
              </a:rPr>
              <a:t>1</a:t>
            </a:r>
            <a:endParaRPr lang="en-US" sz="1600" dirty="0"/>
          </a:p>
        </p:txBody>
      </p:sp>
      <p:sp>
        <p:nvSpPr>
          <p:cNvPr id="8" name="Text 6"/>
          <p:cNvSpPr txBox="1"/>
          <p:nvPr/>
        </p:nvSpPr>
        <p:spPr>
          <a:xfrm>
            <a:off x="1417320" y="2103120"/>
            <a:ext cx="4434840" cy="640080"/>
          </a:xfrm>
          <a:prstGeom prst="rect">
            <a:avLst/>
          </a:prstGeom>
          <a:noFill/>
          <a:ln/>
        </p:spPr>
        <p:txBody>
          <a:bodyPr wrap="square" lIns="0" tIns="0" rIns="0" bIns="0" rtlCol="0" anchor="ctr"/>
          <a:lstStyle/>
          <a:p>
            <a:pPr marL="0" indent="0">
              <a:buNone/>
            </a:pPr>
            <a:r>
              <a:rPr lang="en-US" sz="1800" b="1" dirty="0">
                <a:solidFill>
                  <a:srgbClr val="000000"/>
                </a:solidFill>
                <a:latin typeface="Times New Roman" pitchFamily="34" charset="0"/>
                <a:ea typeface="Times New Roman" pitchFamily="34" charset="-122"/>
                <a:cs typeface="Times New Roman" pitchFamily="34" charset="-120"/>
              </a:rPr>
              <a:t>Missing values: </a:t>
            </a:r>
            <a:r>
              <a:rPr lang="en-US" sz="1800" dirty="0">
                <a:solidFill>
                  <a:srgbClr val="000000"/>
                </a:solidFill>
                <a:latin typeface="Times New Roman" pitchFamily="34" charset="0"/>
                <a:ea typeface="Times New Roman" pitchFamily="34" charset="-122"/>
                <a:cs typeface="Times New Roman" pitchFamily="34" charset="-120"/>
              </a:rPr>
              <a:t>fill with median or most common value (none were missing)</a:t>
            </a:r>
            <a:endParaRPr lang="en-US" sz="1800" dirty="0"/>
          </a:p>
        </p:txBody>
      </p:sp>
      <p:sp>
        <p:nvSpPr>
          <p:cNvPr id="9" name="Shape 7"/>
          <p:cNvSpPr/>
          <p:nvPr/>
        </p:nvSpPr>
        <p:spPr>
          <a:xfrm>
            <a:off x="822960" y="2834640"/>
            <a:ext cx="384048" cy="384048"/>
          </a:xfrm>
          <a:prstGeom prst="ellipse">
            <a:avLst/>
          </a:prstGeom>
          <a:solidFill>
            <a:srgbClr val="FFFFFF"/>
          </a:solidFill>
          <a:ln w="12700">
            <a:solidFill>
              <a:srgbClr val="8C97A3"/>
            </a:solidFill>
            <a:prstDash val="solid"/>
          </a:ln>
        </p:spPr>
      </p:sp>
      <p:sp>
        <p:nvSpPr>
          <p:cNvPr id="10" name="Text 8"/>
          <p:cNvSpPr txBox="1"/>
          <p:nvPr/>
        </p:nvSpPr>
        <p:spPr>
          <a:xfrm>
            <a:off x="822960" y="2834640"/>
            <a:ext cx="384048" cy="384048"/>
          </a:xfrm>
          <a:prstGeom prst="rect">
            <a:avLst/>
          </a:prstGeom>
          <a:noFill/>
          <a:ln/>
        </p:spPr>
        <p:txBody>
          <a:bodyPr wrap="square" lIns="0" tIns="0" rIns="0" bIns="0" rtlCol="0" anchor="ctr"/>
          <a:lstStyle/>
          <a:p>
            <a:pPr marL="0" indent="0" algn="ctr">
              <a:buNone/>
            </a:pPr>
            <a:r>
              <a:rPr lang="en-US" sz="1600" b="1" dirty="0">
                <a:solidFill>
                  <a:srgbClr val="000000"/>
                </a:solidFill>
                <a:latin typeface="Times New Roman" pitchFamily="34" charset="0"/>
                <a:ea typeface="Times New Roman" pitchFamily="34" charset="-122"/>
                <a:cs typeface="Times New Roman" pitchFamily="34" charset="-120"/>
              </a:rPr>
              <a:t>2</a:t>
            </a:r>
            <a:endParaRPr lang="en-US" sz="1600" dirty="0"/>
          </a:p>
        </p:txBody>
      </p:sp>
      <p:sp>
        <p:nvSpPr>
          <p:cNvPr id="11" name="Text 9"/>
          <p:cNvSpPr txBox="1"/>
          <p:nvPr/>
        </p:nvSpPr>
        <p:spPr>
          <a:xfrm>
            <a:off x="1417320" y="2788920"/>
            <a:ext cx="4434840" cy="640080"/>
          </a:xfrm>
          <a:prstGeom prst="rect">
            <a:avLst/>
          </a:prstGeom>
          <a:noFill/>
          <a:ln/>
        </p:spPr>
        <p:txBody>
          <a:bodyPr wrap="square" lIns="0" tIns="0" rIns="0" bIns="0" rtlCol="0" anchor="ctr"/>
          <a:lstStyle/>
          <a:p>
            <a:pPr marL="0" indent="0">
              <a:buNone/>
            </a:pPr>
            <a:r>
              <a:rPr lang="en-US" sz="1800" b="1" dirty="0">
                <a:solidFill>
                  <a:srgbClr val="000000"/>
                </a:solidFill>
                <a:latin typeface="Times New Roman" pitchFamily="34" charset="0"/>
                <a:ea typeface="Times New Roman" pitchFamily="34" charset="-122"/>
                <a:cs typeface="Times New Roman" pitchFamily="34" charset="-120"/>
              </a:rPr>
              <a:t>Scaling: </a:t>
            </a:r>
            <a:r>
              <a:rPr lang="en-US" sz="1800" dirty="0">
                <a:solidFill>
                  <a:srgbClr val="000000"/>
                </a:solidFill>
                <a:latin typeface="Times New Roman" pitchFamily="34" charset="0"/>
                <a:ea typeface="Times New Roman" pitchFamily="34" charset="-122"/>
                <a:cs typeface="Times New Roman" pitchFamily="34" charset="-120"/>
              </a:rPr>
              <a:t>put the 14 number features on the same scale</a:t>
            </a:r>
            <a:endParaRPr lang="en-US" sz="1800" dirty="0"/>
          </a:p>
        </p:txBody>
      </p:sp>
      <p:sp>
        <p:nvSpPr>
          <p:cNvPr id="12" name="Shape 10"/>
          <p:cNvSpPr/>
          <p:nvPr/>
        </p:nvSpPr>
        <p:spPr>
          <a:xfrm>
            <a:off x="822960" y="3520440"/>
            <a:ext cx="384048" cy="384048"/>
          </a:xfrm>
          <a:prstGeom prst="ellipse">
            <a:avLst/>
          </a:prstGeom>
          <a:solidFill>
            <a:srgbClr val="FFFFFF"/>
          </a:solidFill>
          <a:ln w="12700">
            <a:solidFill>
              <a:srgbClr val="8C97A3"/>
            </a:solidFill>
            <a:prstDash val="solid"/>
          </a:ln>
        </p:spPr>
      </p:sp>
      <p:sp>
        <p:nvSpPr>
          <p:cNvPr id="13" name="Text 11"/>
          <p:cNvSpPr txBox="1"/>
          <p:nvPr/>
        </p:nvSpPr>
        <p:spPr>
          <a:xfrm>
            <a:off x="822960" y="3520440"/>
            <a:ext cx="384048" cy="384048"/>
          </a:xfrm>
          <a:prstGeom prst="rect">
            <a:avLst/>
          </a:prstGeom>
          <a:noFill/>
          <a:ln/>
        </p:spPr>
        <p:txBody>
          <a:bodyPr wrap="square" lIns="0" tIns="0" rIns="0" bIns="0" rtlCol="0" anchor="ctr"/>
          <a:lstStyle/>
          <a:p>
            <a:pPr marL="0" indent="0" algn="ctr">
              <a:buNone/>
            </a:pPr>
            <a:r>
              <a:rPr lang="en-US" sz="1600" b="1" dirty="0">
                <a:solidFill>
                  <a:srgbClr val="000000"/>
                </a:solidFill>
                <a:latin typeface="Times New Roman" pitchFamily="34" charset="0"/>
                <a:ea typeface="Times New Roman" pitchFamily="34" charset="-122"/>
                <a:cs typeface="Times New Roman" pitchFamily="34" charset="-120"/>
              </a:rPr>
              <a:t>3</a:t>
            </a:r>
            <a:endParaRPr lang="en-US" sz="1600" dirty="0"/>
          </a:p>
        </p:txBody>
      </p:sp>
      <p:sp>
        <p:nvSpPr>
          <p:cNvPr id="14" name="Text 12"/>
          <p:cNvSpPr txBox="1"/>
          <p:nvPr/>
        </p:nvSpPr>
        <p:spPr>
          <a:xfrm>
            <a:off x="1417320" y="3474720"/>
            <a:ext cx="4434840" cy="640080"/>
          </a:xfrm>
          <a:prstGeom prst="rect">
            <a:avLst/>
          </a:prstGeom>
          <a:noFill/>
          <a:ln/>
        </p:spPr>
        <p:txBody>
          <a:bodyPr wrap="square" lIns="0" tIns="0" rIns="0" bIns="0" rtlCol="0" anchor="ctr"/>
          <a:lstStyle/>
          <a:p>
            <a:pPr marL="0" indent="0">
              <a:buNone/>
            </a:pPr>
            <a:r>
              <a:rPr lang="en-US" sz="1800" b="1" dirty="0">
                <a:solidFill>
                  <a:srgbClr val="000000"/>
                </a:solidFill>
                <a:latin typeface="Times New Roman" pitchFamily="34" charset="0"/>
                <a:ea typeface="Times New Roman" pitchFamily="34" charset="-122"/>
                <a:cs typeface="Times New Roman" pitchFamily="34" charset="-120"/>
              </a:rPr>
              <a:t>Encoding: </a:t>
            </a:r>
            <a:r>
              <a:rPr lang="en-US" sz="1800" dirty="0">
                <a:solidFill>
                  <a:srgbClr val="000000"/>
                </a:solidFill>
                <a:latin typeface="Times New Roman" pitchFamily="34" charset="0"/>
                <a:ea typeface="Times New Roman" pitchFamily="34" charset="-122"/>
                <a:cs typeface="Times New Roman" pitchFamily="34" charset="-120"/>
              </a:rPr>
              <a:t>turn categories into numbers</a:t>
            </a:r>
            <a:endParaRPr lang="en-US" sz="1800" dirty="0"/>
          </a:p>
        </p:txBody>
      </p:sp>
      <p:sp>
        <p:nvSpPr>
          <p:cNvPr id="15" name="Shape 13"/>
          <p:cNvSpPr/>
          <p:nvPr/>
        </p:nvSpPr>
        <p:spPr>
          <a:xfrm>
            <a:off x="822960" y="4206240"/>
            <a:ext cx="384048" cy="384048"/>
          </a:xfrm>
          <a:prstGeom prst="ellipse">
            <a:avLst/>
          </a:prstGeom>
          <a:solidFill>
            <a:srgbClr val="FFFFFF"/>
          </a:solidFill>
          <a:ln w="12700">
            <a:solidFill>
              <a:srgbClr val="8C97A3"/>
            </a:solidFill>
            <a:prstDash val="solid"/>
          </a:ln>
        </p:spPr>
      </p:sp>
      <p:sp>
        <p:nvSpPr>
          <p:cNvPr id="16" name="Text 14"/>
          <p:cNvSpPr txBox="1"/>
          <p:nvPr/>
        </p:nvSpPr>
        <p:spPr>
          <a:xfrm>
            <a:off x="822960" y="4206240"/>
            <a:ext cx="384048" cy="384048"/>
          </a:xfrm>
          <a:prstGeom prst="rect">
            <a:avLst/>
          </a:prstGeom>
          <a:noFill/>
          <a:ln/>
        </p:spPr>
        <p:txBody>
          <a:bodyPr wrap="square" lIns="0" tIns="0" rIns="0" bIns="0" rtlCol="0" anchor="ctr"/>
          <a:lstStyle/>
          <a:p>
            <a:pPr marL="0" indent="0" algn="ctr">
              <a:buNone/>
            </a:pPr>
            <a:r>
              <a:rPr lang="en-US" sz="1600" b="1" dirty="0">
                <a:solidFill>
                  <a:srgbClr val="000000"/>
                </a:solidFill>
                <a:latin typeface="Times New Roman" pitchFamily="34" charset="0"/>
                <a:ea typeface="Times New Roman" pitchFamily="34" charset="-122"/>
                <a:cs typeface="Times New Roman" pitchFamily="34" charset="-120"/>
              </a:rPr>
              <a:t>4</a:t>
            </a:r>
            <a:endParaRPr lang="en-US" sz="1600" dirty="0"/>
          </a:p>
        </p:txBody>
      </p:sp>
      <p:sp>
        <p:nvSpPr>
          <p:cNvPr id="17" name="Text 15"/>
          <p:cNvSpPr txBox="1"/>
          <p:nvPr/>
        </p:nvSpPr>
        <p:spPr>
          <a:xfrm>
            <a:off x="1417320" y="4160520"/>
            <a:ext cx="4434840" cy="640080"/>
          </a:xfrm>
          <a:prstGeom prst="rect">
            <a:avLst/>
          </a:prstGeom>
          <a:noFill/>
          <a:ln/>
        </p:spPr>
        <p:txBody>
          <a:bodyPr wrap="square" lIns="0" tIns="0" rIns="0" bIns="0" rtlCol="0" anchor="ctr"/>
          <a:lstStyle/>
          <a:p>
            <a:pPr marL="0" indent="0">
              <a:buNone/>
            </a:pPr>
            <a:r>
              <a:rPr lang="en-US" sz="1800" b="1" dirty="0">
                <a:solidFill>
                  <a:srgbClr val="000000"/>
                </a:solidFill>
                <a:latin typeface="Times New Roman" pitchFamily="34" charset="0"/>
                <a:ea typeface="Times New Roman" pitchFamily="34" charset="-122"/>
                <a:cs typeface="Times New Roman" pitchFamily="34" charset="-120"/>
              </a:rPr>
              <a:t>Split: </a:t>
            </a:r>
            <a:r>
              <a:rPr lang="en-US" sz="1800" dirty="0">
                <a:solidFill>
                  <a:srgbClr val="000000"/>
                </a:solidFill>
                <a:latin typeface="Times New Roman" pitchFamily="34" charset="0"/>
                <a:ea typeface="Times New Roman" pitchFamily="34" charset="-122"/>
                <a:cs typeface="Times New Roman" pitchFamily="34" charset="-120"/>
              </a:rPr>
              <a:t>80:20, same class ratio in both parts, seed 42</a:t>
            </a:r>
            <a:endParaRPr lang="en-US" sz="1800" dirty="0"/>
          </a:p>
        </p:txBody>
      </p:sp>
      <p:sp>
        <p:nvSpPr>
          <p:cNvPr id="18" name="Shape 16"/>
          <p:cNvSpPr/>
          <p:nvPr/>
        </p:nvSpPr>
        <p:spPr>
          <a:xfrm>
            <a:off x="822960" y="4892040"/>
            <a:ext cx="384048" cy="384048"/>
          </a:xfrm>
          <a:prstGeom prst="ellipse">
            <a:avLst/>
          </a:prstGeom>
          <a:solidFill>
            <a:srgbClr val="FFFFFF"/>
          </a:solidFill>
          <a:ln w="12700">
            <a:solidFill>
              <a:srgbClr val="8C97A3"/>
            </a:solidFill>
            <a:prstDash val="solid"/>
          </a:ln>
        </p:spPr>
      </p:sp>
      <p:sp>
        <p:nvSpPr>
          <p:cNvPr id="19" name="Text 17"/>
          <p:cNvSpPr txBox="1"/>
          <p:nvPr/>
        </p:nvSpPr>
        <p:spPr>
          <a:xfrm>
            <a:off x="822960" y="4892040"/>
            <a:ext cx="384048" cy="384048"/>
          </a:xfrm>
          <a:prstGeom prst="rect">
            <a:avLst/>
          </a:prstGeom>
          <a:noFill/>
          <a:ln/>
        </p:spPr>
        <p:txBody>
          <a:bodyPr wrap="square" lIns="0" tIns="0" rIns="0" bIns="0" rtlCol="0" anchor="ctr"/>
          <a:lstStyle/>
          <a:p>
            <a:pPr marL="0" indent="0" algn="ctr">
              <a:buNone/>
            </a:pPr>
            <a:r>
              <a:rPr lang="en-US" sz="1600" b="1" dirty="0">
                <a:solidFill>
                  <a:srgbClr val="000000"/>
                </a:solidFill>
                <a:latin typeface="Times New Roman" pitchFamily="34" charset="0"/>
                <a:ea typeface="Times New Roman" pitchFamily="34" charset="-122"/>
                <a:cs typeface="Times New Roman" pitchFamily="34" charset="-120"/>
              </a:rPr>
              <a:t>5</a:t>
            </a:r>
            <a:endParaRPr lang="en-US" sz="1600" dirty="0"/>
          </a:p>
        </p:txBody>
      </p:sp>
      <p:sp>
        <p:nvSpPr>
          <p:cNvPr id="20" name="Text 18"/>
          <p:cNvSpPr txBox="1"/>
          <p:nvPr/>
        </p:nvSpPr>
        <p:spPr>
          <a:xfrm>
            <a:off x="1417320" y="4846320"/>
            <a:ext cx="4434840" cy="640080"/>
          </a:xfrm>
          <a:prstGeom prst="rect">
            <a:avLst/>
          </a:prstGeom>
          <a:noFill/>
          <a:ln/>
        </p:spPr>
        <p:txBody>
          <a:bodyPr wrap="square" lIns="0" tIns="0" rIns="0" bIns="0" rtlCol="0" anchor="ctr"/>
          <a:lstStyle/>
          <a:p>
            <a:pPr marL="0" indent="0">
              <a:buNone/>
            </a:pPr>
            <a:r>
              <a:rPr lang="en-US" sz="1800" b="1" dirty="0">
                <a:solidFill>
                  <a:srgbClr val="000000"/>
                </a:solidFill>
                <a:latin typeface="Times New Roman" pitchFamily="34" charset="0"/>
                <a:ea typeface="Times New Roman" pitchFamily="34" charset="-122"/>
                <a:cs typeface="Times New Roman" pitchFamily="34" charset="-120"/>
              </a:rPr>
              <a:t>No leakage: </a:t>
            </a:r>
            <a:r>
              <a:rPr lang="en-US" sz="1800" dirty="0">
                <a:solidFill>
                  <a:srgbClr val="000000"/>
                </a:solidFill>
                <a:latin typeface="Times New Roman" pitchFamily="34" charset="0"/>
                <a:ea typeface="Times New Roman" pitchFamily="34" charset="-122"/>
                <a:cs typeface="Times New Roman" pitchFamily="34" charset="-120"/>
              </a:rPr>
              <a:t>every step learns from training data only</a:t>
            </a:r>
            <a:endParaRPr lang="en-US" sz="1800" dirty="0"/>
          </a:p>
        </p:txBody>
      </p:sp>
      <p:sp>
        <p:nvSpPr>
          <p:cNvPr id="21" name="Shape 19"/>
          <p:cNvSpPr/>
          <p:nvPr/>
        </p:nvSpPr>
        <p:spPr>
          <a:xfrm>
            <a:off x="822960" y="5577840"/>
            <a:ext cx="384048" cy="384048"/>
          </a:xfrm>
          <a:prstGeom prst="ellipse">
            <a:avLst/>
          </a:prstGeom>
          <a:solidFill>
            <a:srgbClr val="FFFFFF"/>
          </a:solidFill>
          <a:ln w="12700">
            <a:solidFill>
              <a:srgbClr val="8C97A3"/>
            </a:solidFill>
            <a:prstDash val="solid"/>
          </a:ln>
        </p:spPr>
      </p:sp>
      <p:sp>
        <p:nvSpPr>
          <p:cNvPr id="22" name="Text 20"/>
          <p:cNvSpPr txBox="1"/>
          <p:nvPr/>
        </p:nvSpPr>
        <p:spPr>
          <a:xfrm>
            <a:off x="822960" y="5577840"/>
            <a:ext cx="384048" cy="384048"/>
          </a:xfrm>
          <a:prstGeom prst="rect">
            <a:avLst/>
          </a:prstGeom>
          <a:noFill/>
          <a:ln/>
        </p:spPr>
        <p:txBody>
          <a:bodyPr wrap="square" lIns="0" tIns="0" rIns="0" bIns="0" rtlCol="0" anchor="ctr"/>
          <a:lstStyle/>
          <a:p>
            <a:pPr marL="0" indent="0" algn="ctr">
              <a:buNone/>
            </a:pPr>
            <a:r>
              <a:rPr lang="en-US" sz="1600" b="1" dirty="0">
                <a:solidFill>
                  <a:srgbClr val="000000"/>
                </a:solidFill>
                <a:latin typeface="Times New Roman" pitchFamily="34" charset="0"/>
                <a:ea typeface="Times New Roman" pitchFamily="34" charset="-122"/>
                <a:cs typeface="Times New Roman" pitchFamily="34" charset="-120"/>
              </a:rPr>
              <a:t>6</a:t>
            </a:r>
            <a:endParaRPr lang="en-US" sz="1600" dirty="0"/>
          </a:p>
        </p:txBody>
      </p:sp>
      <p:sp>
        <p:nvSpPr>
          <p:cNvPr id="23" name="Text 21"/>
          <p:cNvSpPr txBox="1"/>
          <p:nvPr/>
        </p:nvSpPr>
        <p:spPr>
          <a:xfrm>
            <a:off x="1417320" y="5532120"/>
            <a:ext cx="4434840" cy="640080"/>
          </a:xfrm>
          <a:prstGeom prst="rect">
            <a:avLst/>
          </a:prstGeom>
          <a:noFill/>
          <a:ln/>
        </p:spPr>
        <p:txBody>
          <a:bodyPr wrap="square" lIns="0" tIns="0" rIns="0" bIns="0" rtlCol="0" anchor="ctr"/>
          <a:lstStyle/>
          <a:p>
            <a:pPr marL="0" indent="0">
              <a:buNone/>
            </a:pPr>
            <a:r>
              <a:rPr lang="en-US" sz="1800" b="1" dirty="0">
                <a:solidFill>
                  <a:srgbClr val="000000"/>
                </a:solidFill>
                <a:latin typeface="Times New Roman" pitchFamily="34" charset="0"/>
                <a:ea typeface="Times New Roman" pitchFamily="34" charset="-122"/>
                <a:cs typeface="Times New Roman" pitchFamily="34" charset="-120"/>
              </a:rPr>
              <a:t>Imbalance: </a:t>
            </a:r>
            <a:r>
              <a:rPr lang="en-US" sz="1800" dirty="0">
                <a:solidFill>
                  <a:srgbClr val="000000"/>
                </a:solidFill>
                <a:latin typeface="Times New Roman" pitchFamily="34" charset="0"/>
                <a:ea typeface="Times New Roman" pitchFamily="34" charset="-122"/>
                <a:cs typeface="Times New Roman" pitchFamily="34" charset="-120"/>
              </a:rPr>
              <a:t>78.08 : 21.92, so "always Employable" scores 78.08%</a:t>
            </a:r>
            <a:endParaRPr lang="en-US" sz="1800" dirty="0"/>
          </a:p>
        </p:txBody>
      </p:sp>
      <p:sp>
        <p:nvSpPr>
          <p:cNvPr id="24" name="Shape 22"/>
          <p:cNvSpPr/>
          <p:nvPr/>
        </p:nvSpPr>
        <p:spPr>
          <a:xfrm>
            <a:off x="6217920" y="1463040"/>
            <a:ext cx="5422392" cy="3611880"/>
          </a:xfrm>
          <a:prstGeom prst="roundRect">
            <a:avLst>
              <a:gd name="adj" fmla="val 1772"/>
            </a:avLst>
          </a:prstGeom>
          <a:solidFill>
            <a:srgbClr val="F4F6F8"/>
          </a:solidFill>
          <a:ln w="12700">
            <a:solidFill>
              <a:srgbClr val="D7DCE1"/>
            </a:solidFill>
            <a:prstDash val="solid"/>
          </a:ln>
        </p:spPr>
      </p:sp>
      <p:sp>
        <p:nvSpPr>
          <p:cNvPr id="25" name="Text 23"/>
          <p:cNvSpPr txBox="1"/>
          <p:nvPr/>
        </p:nvSpPr>
        <p:spPr>
          <a:xfrm>
            <a:off x="6446520" y="1627632"/>
            <a:ext cx="5029200" cy="320040"/>
          </a:xfrm>
          <a:prstGeom prst="rect">
            <a:avLst/>
          </a:prstGeom>
          <a:noFill/>
          <a:ln/>
        </p:spPr>
        <p:txBody>
          <a:bodyPr wrap="square" lIns="0" tIns="0" rIns="0" bIns="0" rtlCol="0" anchor="t"/>
          <a:lstStyle/>
          <a:p>
            <a:pPr marL="0" indent="0">
              <a:buNone/>
            </a:pPr>
            <a:r>
              <a:rPr lang="en-US" sz="1400" b="1" kern="0" spc="300" dirty="0">
                <a:solidFill>
                  <a:srgbClr val="000000"/>
                </a:solidFill>
                <a:latin typeface="Times New Roman" pitchFamily="34" charset="0"/>
                <a:ea typeface="Times New Roman" pitchFamily="34" charset="-122"/>
                <a:cs typeface="Times New Roman" pitchFamily="34" charset="-120"/>
              </a:rPr>
              <a:t>THREE WAYS TO FIX IMBALANCE (%)</a:t>
            </a:r>
            <a:endParaRPr lang="en-US" sz="1400" dirty="0"/>
          </a:p>
        </p:txBody>
      </p:sp>
      <p:graphicFrame>
        <p:nvGraphicFramePr>
          <p:cNvPr id="26" name="Chart 0"/>
          <p:cNvGraphicFramePr/>
          <p:nvPr/>
        </p:nvGraphicFramePr>
        <p:xfrm>
          <a:off x="6355080" y="1965960"/>
          <a:ext cx="5166360" cy="3063240"/>
        </p:xfrm>
        <a:graphic>
          <a:graphicData uri="http://schemas.openxmlformats.org/drawingml/2006/chart">
            <c:chart xmlns:c="http://schemas.openxmlformats.org/drawingml/2006/chart" xmlns:r="http://schemas.openxmlformats.org/officeDocument/2006/relationships" r:id="rId3"/>
          </a:graphicData>
        </a:graphic>
      </p:graphicFrame>
      <p:sp>
        <p:nvSpPr>
          <p:cNvPr id="27" name="Shape 24"/>
          <p:cNvSpPr/>
          <p:nvPr/>
        </p:nvSpPr>
        <p:spPr>
          <a:xfrm>
            <a:off x="6217920" y="5212080"/>
            <a:ext cx="5422392" cy="1051560"/>
          </a:xfrm>
          <a:prstGeom prst="roundRect">
            <a:avLst>
              <a:gd name="adj" fmla="val 6087"/>
            </a:avLst>
          </a:prstGeom>
          <a:solidFill>
            <a:srgbClr val="E7EBEF"/>
          </a:solidFill>
          <a:ln w="12700">
            <a:solidFill>
              <a:srgbClr val="D7DCE1"/>
            </a:solidFill>
            <a:prstDash val="solid"/>
          </a:ln>
        </p:spPr>
      </p:sp>
      <p:sp>
        <p:nvSpPr>
          <p:cNvPr id="28" name="Text 25"/>
          <p:cNvSpPr txBox="1"/>
          <p:nvPr/>
        </p:nvSpPr>
        <p:spPr>
          <a:xfrm>
            <a:off x="6446520" y="5212080"/>
            <a:ext cx="4983480" cy="1051560"/>
          </a:xfrm>
          <a:prstGeom prst="rect">
            <a:avLst/>
          </a:prstGeom>
          <a:noFill/>
          <a:ln/>
        </p:spPr>
        <p:txBody>
          <a:bodyPr wrap="square" lIns="0" tIns="0" rIns="0" bIns="0" rtlCol="0" anchor="ctr"/>
          <a:lstStyle/>
          <a:p>
            <a:pPr marL="0" indent="0">
              <a:buNone/>
            </a:pPr>
            <a:r>
              <a:rPr lang="en-US" sz="1800" dirty="0">
                <a:solidFill>
                  <a:srgbClr val="000000"/>
                </a:solidFill>
                <a:latin typeface="Times New Roman" pitchFamily="34" charset="0"/>
                <a:ea typeface="Times New Roman" pitchFamily="34" charset="-122"/>
                <a:cs typeface="Times New Roman" pitchFamily="34" charset="-120"/>
              </a:rPr>
              <a:t>SMOTE gave only 63.84% accuracy, below the 78.08% baseline. We removed it and chose 0.300.</a:t>
            </a:r>
            <a:endParaRPr lang="en-US" sz="1800" dirty="0"/>
          </a:p>
        </p:txBody>
      </p:sp>
      <p:sp>
        <p:nvSpPr>
          <p:cNvPr id="29"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B6B7C"/>
                </a:solidFill>
                <a:latin typeface="Times New Roman"/>
                <a:ea typeface="Times New Roman"/>
                <a:cs typeface="Times New Roman"/>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365760"/>
            <a:ext cx="10058400" cy="274320"/>
          </a:xfrm>
          <a:prstGeom prst="rect">
            <a:avLst/>
          </a:prstGeom>
          <a:noFill/>
          <a:ln/>
        </p:spPr>
        <p:txBody>
          <a:bodyPr wrap="square" lIns="0" tIns="0" rIns="0" bIns="0" rtlCol="0" anchor="t"/>
          <a:lstStyle/>
          <a:p>
            <a:pPr marL="0" indent="0">
              <a:buNone/>
            </a:pPr>
            <a:r>
              <a:rPr lang="en-US" sz="1400" b="1" kern="0" spc="300" dirty="0">
                <a:solidFill>
                  <a:srgbClr val="000000"/>
                </a:solidFill>
                <a:latin typeface="Times New Roman" pitchFamily="34" charset="0"/>
                <a:ea typeface="Times New Roman" pitchFamily="34" charset="-122"/>
                <a:cs typeface="Times New Roman" pitchFamily="34" charset="-120"/>
              </a:rPr>
              <a:t>CHAPTER 5 — MODELS</a:t>
            </a:r>
            <a:endParaRPr lang="en-US" sz="1400" dirty="0"/>
          </a:p>
        </p:txBody>
      </p:sp>
      <p:sp>
        <p:nvSpPr>
          <p:cNvPr id="3" name="Text 0"/>
          <p:cNvSpPr>
            <a:spLocks noGrp="1"/>
          </p:cNvSpPr>
          <p:nvPr>
            <p:ph type="title" idx="100" hasCustomPrompt="1"/>
          </p:nvPr>
        </p:nvSpPr>
        <p:spPr>
          <a:xfrm>
            <a:off x="548640" y="658368"/>
            <a:ext cx="11091672" cy="640080"/>
          </a:xfrm>
          <a:prstGeom prst="rect">
            <a:avLst/>
          </a:prstGeom>
          <a:noFill/>
          <a:ln/>
        </p:spPr>
        <p:txBody>
          <a:bodyPr wrap="square" lIns="0" tIns="0" rIns="0" bIns="0" rtlCol="0" anchor="ctr"/>
          <a:lstStyle/>
          <a:p>
            <a:pPr marL="0" indent="0" algn="l">
              <a:buNone/>
            </a:pPr>
            <a:r>
              <a:rPr lang="en-US" sz="2800" b="1" dirty="0">
                <a:solidFill>
                  <a:srgbClr val="000000"/>
                </a:solidFill>
                <a:latin typeface="Times New Roman" pitchFamily="34" charset="0"/>
                <a:ea typeface="Times New Roman" pitchFamily="34" charset="-122"/>
                <a:cs typeface="Times New Roman" pitchFamily="34" charset="-120"/>
              </a:rPr>
              <a:t>Four Models Compared</a:t>
            </a:r>
            <a:endParaRPr lang="en-US" sz="2800" dirty="0"/>
          </a:p>
        </p:txBody>
      </p:sp>
      <p:sp>
        <p:nvSpPr>
          <p:cNvPr id="4" name="Shape 2"/>
          <p:cNvSpPr/>
          <p:nvPr/>
        </p:nvSpPr>
        <p:spPr>
          <a:xfrm>
            <a:off x="548640" y="1463040"/>
            <a:ext cx="5486400" cy="1874520"/>
          </a:xfrm>
          <a:prstGeom prst="roundRect">
            <a:avLst>
              <a:gd name="adj" fmla="val 3415"/>
            </a:avLst>
          </a:prstGeom>
          <a:solidFill>
            <a:srgbClr val="F4F6F8"/>
          </a:solidFill>
          <a:ln w="12700">
            <a:solidFill>
              <a:srgbClr val="D7DCE1"/>
            </a:solidFill>
            <a:prstDash val="solid"/>
          </a:ln>
        </p:spPr>
      </p:sp>
      <p:sp>
        <p:nvSpPr>
          <p:cNvPr id="5" name="Shape 3"/>
          <p:cNvSpPr/>
          <p:nvPr/>
        </p:nvSpPr>
        <p:spPr>
          <a:xfrm>
            <a:off x="548640" y="1463040"/>
            <a:ext cx="5486400" cy="548640"/>
          </a:xfrm>
          <a:prstGeom prst="roundRect">
            <a:avLst>
              <a:gd name="adj" fmla="val 11667"/>
            </a:avLst>
          </a:prstGeom>
          <a:solidFill>
            <a:srgbClr val="E7EBEF"/>
          </a:solidFill>
          <a:ln w="12700">
            <a:solidFill>
              <a:srgbClr val="E7EBEF"/>
            </a:solidFill>
            <a:prstDash val="solid"/>
          </a:ln>
        </p:spPr>
      </p:sp>
      <p:sp>
        <p:nvSpPr>
          <p:cNvPr id="6" name="Text 4"/>
          <p:cNvSpPr txBox="1"/>
          <p:nvPr/>
        </p:nvSpPr>
        <p:spPr>
          <a:xfrm>
            <a:off x="777240" y="1463040"/>
            <a:ext cx="3657600" cy="548640"/>
          </a:xfrm>
          <a:prstGeom prst="rect">
            <a:avLst/>
          </a:prstGeom>
          <a:noFill/>
          <a:ln/>
        </p:spPr>
        <p:txBody>
          <a:bodyPr wrap="square" lIns="0" tIns="0" rIns="0" bIns="0" rtlCol="0" anchor="ctr"/>
          <a:lstStyle/>
          <a:p>
            <a:pPr marL="0" indent="0">
              <a:buNone/>
            </a:pPr>
            <a:r>
              <a:rPr lang="en-US" sz="2000" b="1" dirty="0">
                <a:solidFill>
                  <a:srgbClr val="000000"/>
                </a:solidFill>
                <a:latin typeface="Times New Roman" pitchFamily="34" charset="0"/>
                <a:ea typeface="Times New Roman" pitchFamily="34" charset="-122"/>
                <a:cs typeface="Times New Roman" pitchFamily="34" charset="-120"/>
              </a:rPr>
              <a:t>Logistic Regression</a:t>
            </a:r>
            <a:endParaRPr lang="en-US" sz="2000" dirty="0"/>
          </a:p>
        </p:txBody>
      </p:sp>
      <p:sp>
        <p:nvSpPr>
          <p:cNvPr id="7" name="Text 5"/>
          <p:cNvSpPr txBox="1"/>
          <p:nvPr/>
        </p:nvSpPr>
        <p:spPr>
          <a:xfrm>
            <a:off x="777240" y="2121408"/>
            <a:ext cx="5029200" cy="548640"/>
          </a:xfrm>
          <a:prstGeom prst="rect">
            <a:avLst/>
          </a:prstGeom>
          <a:noFill/>
          <a:ln/>
        </p:spPr>
        <p:txBody>
          <a:bodyPr wrap="square" lIns="0" tIns="0" rIns="0" bIns="0" rtlCol="0" anchor="t"/>
          <a:lstStyle/>
          <a:p>
            <a:pPr marL="0" indent="0">
              <a:buNone/>
            </a:pPr>
            <a:r>
              <a:rPr lang="en-US" sz="1800" dirty="0">
                <a:solidFill>
                  <a:srgbClr val="000000"/>
                </a:solidFill>
                <a:latin typeface="Times New Roman" pitchFamily="34" charset="0"/>
                <a:ea typeface="Times New Roman" pitchFamily="34" charset="-122"/>
                <a:cs typeface="Times New Roman" pitchFamily="34" charset="-120"/>
              </a:rPr>
              <a:t>A simple straight-line model.</a:t>
            </a:r>
            <a:endParaRPr lang="en-US" sz="1800" dirty="0"/>
          </a:p>
        </p:txBody>
      </p:sp>
      <p:sp>
        <p:nvSpPr>
          <p:cNvPr id="8" name="Text 6"/>
          <p:cNvSpPr txBox="1"/>
          <p:nvPr/>
        </p:nvSpPr>
        <p:spPr>
          <a:xfrm>
            <a:off x="777240" y="2761488"/>
            <a:ext cx="5029200" cy="548640"/>
          </a:xfrm>
          <a:prstGeom prst="rect">
            <a:avLst/>
          </a:prstGeom>
          <a:noFill/>
          <a:ln/>
        </p:spPr>
        <p:txBody>
          <a:bodyPr wrap="square" lIns="0" tIns="0" rIns="0" bIns="0" rtlCol="0" anchor="t"/>
          <a:lstStyle/>
          <a:p>
            <a:pPr marL="0" indent="0">
              <a:buNone/>
            </a:pPr>
            <a:r>
              <a:rPr lang="en-US" sz="1800" b="1" dirty="0">
                <a:solidFill>
                  <a:srgbClr val="000000"/>
                </a:solidFill>
                <a:latin typeface="Times New Roman" pitchFamily="34" charset="0"/>
                <a:ea typeface="Times New Roman" pitchFamily="34" charset="-122"/>
                <a:cs typeface="Times New Roman" pitchFamily="34" charset="-120"/>
              </a:rPr>
              <a:t>Why: </a:t>
            </a:r>
            <a:r>
              <a:rPr lang="en-US" sz="1800" dirty="0">
                <a:solidFill>
                  <a:srgbClr val="000000"/>
                </a:solidFill>
                <a:latin typeface="Times New Roman" pitchFamily="34" charset="0"/>
                <a:ea typeface="Times New Roman" pitchFamily="34" charset="-122"/>
                <a:cs typeface="Times New Roman" pitchFamily="34" charset="-120"/>
              </a:rPr>
              <a:t>A basic model to beat.</a:t>
            </a:r>
            <a:endParaRPr lang="en-US" sz="1800" dirty="0"/>
          </a:p>
        </p:txBody>
      </p:sp>
      <p:sp>
        <p:nvSpPr>
          <p:cNvPr id="9" name="Shape 7"/>
          <p:cNvSpPr/>
          <p:nvPr/>
        </p:nvSpPr>
        <p:spPr>
          <a:xfrm>
            <a:off x="6153912" y="1463040"/>
            <a:ext cx="5486400" cy="1874520"/>
          </a:xfrm>
          <a:prstGeom prst="roundRect">
            <a:avLst>
              <a:gd name="adj" fmla="val 3415"/>
            </a:avLst>
          </a:prstGeom>
          <a:solidFill>
            <a:srgbClr val="F4F6F8"/>
          </a:solidFill>
          <a:ln w="12700">
            <a:solidFill>
              <a:srgbClr val="D7DCE1"/>
            </a:solidFill>
            <a:prstDash val="solid"/>
          </a:ln>
        </p:spPr>
      </p:sp>
      <p:sp>
        <p:nvSpPr>
          <p:cNvPr id="10" name="Shape 8"/>
          <p:cNvSpPr/>
          <p:nvPr/>
        </p:nvSpPr>
        <p:spPr>
          <a:xfrm>
            <a:off x="6153912" y="1463040"/>
            <a:ext cx="5486400" cy="548640"/>
          </a:xfrm>
          <a:prstGeom prst="roundRect">
            <a:avLst>
              <a:gd name="adj" fmla="val 11667"/>
            </a:avLst>
          </a:prstGeom>
          <a:solidFill>
            <a:srgbClr val="E7EBEF"/>
          </a:solidFill>
          <a:ln w="12700">
            <a:solidFill>
              <a:srgbClr val="E7EBEF"/>
            </a:solidFill>
            <a:prstDash val="solid"/>
          </a:ln>
        </p:spPr>
      </p:sp>
      <p:sp>
        <p:nvSpPr>
          <p:cNvPr id="11" name="Text 9"/>
          <p:cNvSpPr txBox="1"/>
          <p:nvPr/>
        </p:nvSpPr>
        <p:spPr>
          <a:xfrm>
            <a:off x="6382512" y="1463040"/>
            <a:ext cx="3657600" cy="548640"/>
          </a:xfrm>
          <a:prstGeom prst="rect">
            <a:avLst/>
          </a:prstGeom>
          <a:noFill/>
          <a:ln/>
        </p:spPr>
        <p:txBody>
          <a:bodyPr wrap="square" lIns="0" tIns="0" rIns="0" bIns="0" rtlCol="0" anchor="ctr"/>
          <a:lstStyle/>
          <a:p>
            <a:pPr marL="0" indent="0">
              <a:buNone/>
            </a:pPr>
            <a:r>
              <a:rPr lang="en-US" sz="2000" b="1" dirty="0">
                <a:solidFill>
                  <a:srgbClr val="000000"/>
                </a:solidFill>
                <a:latin typeface="Times New Roman" pitchFamily="34" charset="0"/>
                <a:ea typeface="Times New Roman" pitchFamily="34" charset="-122"/>
                <a:cs typeface="Times New Roman" pitchFamily="34" charset="-120"/>
              </a:rPr>
              <a:t>Decision Tree</a:t>
            </a:r>
            <a:endParaRPr lang="en-US" sz="2000" dirty="0"/>
          </a:p>
        </p:txBody>
      </p:sp>
      <p:sp>
        <p:nvSpPr>
          <p:cNvPr id="12" name="Text 10"/>
          <p:cNvSpPr txBox="1"/>
          <p:nvPr/>
        </p:nvSpPr>
        <p:spPr>
          <a:xfrm>
            <a:off x="6382512" y="2121408"/>
            <a:ext cx="5029200" cy="548640"/>
          </a:xfrm>
          <a:prstGeom prst="rect">
            <a:avLst/>
          </a:prstGeom>
          <a:noFill/>
          <a:ln/>
        </p:spPr>
        <p:txBody>
          <a:bodyPr wrap="square" lIns="0" tIns="0" rIns="0" bIns="0" rtlCol="0" anchor="t"/>
          <a:lstStyle/>
          <a:p>
            <a:pPr marL="0" indent="0">
              <a:buNone/>
            </a:pPr>
            <a:r>
              <a:rPr lang="en-US" sz="1800" dirty="0">
                <a:solidFill>
                  <a:srgbClr val="000000"/>
                </a:solidFill>
                <a:latin typeface="Times New Roman" pitchFamily="34" charset="0"/>
                <a:ea typeface="Times New Roman" pitchFamily="34" charset="-122"/>
                <a:cs typeface="Times New Roman" pitchFamily="34" charset="-120"/>
              </a:rPr>
              <a:t>Follows simple if-then rules.</a:t>
            </a:r>
            <a:endParaRPr lang="en-US" sz="1800" dirty="0"/>
          </a:p>
        </p:txBody>
      </p:sp>
      <p:sp>
        <p:nvSpPr>
          <p:cNvPr id="13" name="Text 11"/>
          <p:cNvSpPr txBox="1"/>
          <p:nvPr/>
        </p:nvSpPr>
        <p:spPr>
          <a:xfrm>
            <a:off x="6382512" y="2761488"/>
            <a:ext cx="5029200" cy="548640"/>
          </a:xfrm>
          <a:prstGeom prst="rect">
            <a:avLst/>
          </a:prstGeom>
          <a:noFill/>
          <a:ln/>
        </p:spPr>
        <p:txBody>
          <a:bodyPr wrap="square" lIns="0" tIns="0" rIns="0" bIns="0" rtlCol="0" anchor="t"/>
          <a:lstStyle/>
          <a:p>
            <a:pPr marL="0" indent="0">
              <a:buNone/>
            </a:pPr>
            <a:r>
              <a:rPr lang="en-US" sz="1800" b="1" dirty="0">
                <a:solidFill>
                  <a:srgbClr val="000000"/>
                </a:solidFill>
                <a:latin typeface="Times New Roman" pitchFamily="34" charset="0"/>
                <a:ea typeface="Times New Roman" pitchFamily="34" charset="-122"/>
                <a:cs typeface="Times New Roman" pitchFamily="34" charset="-120"/>
              </a:rPr>
              <a:t>Why: </a:t>
            </a:r>
            <a:r>
              <a:rPr lang="en-US" sz="1800" dirty="0">
                <a:solidFill>
                  <a:srgbClr val="000000"/>
                </a:solidFill>
                <a:latin typeface="Times New Roman" pitchFamily="34" charset="0"/>
                <a:ea typeface="Times New Roman" pitchFamily="34" charset="-122"/>
                <a:cs typeface="Times New Roman" pitchFamily="34" charset="-120"/>
              </a:rPr>
              <a:t>Easy to read and understand.</a:t>
            </a:r>
            <a:endParaRPr lang="en-US" sz="1800" dirty="0"/>
          </a:p>
        </p:txBody>
      </p:sp>
      <p:sp>
        <p:nvSpPr>
          <p:cNvPr id="14" name="Shape 12"/>
          <p:cNvSpPr/>
          <p:nvPr/>
        </p:nvSpPr>
        <p:spPr>
          <a:xfrm>
            <a:off x="548640" y="3474720"/>
            <a:ext cx="5486400" cy="1874520"/>
          </a:xfrm>
          <a:prstGeom prst="roundRect">
            <a:avLst>
              <a:gd name="adj" fmla="val 3415"/>
            </a:avLst>
          </a:prstGeom>
          <a:solidFill>
            <a:srgbClr val="F4F6F8"/>
          </a:solidFill>
          <a:ln w="12700">
            <a:solidFill>
              <a:srgbClr val="D7DCE1"/>
            </a:solidFill>
            <a:prstDash val="solid"/>
          </a:ln>
        </p:spPr>
      </p:sp>
      <p:sp>
        <p:nvSpPr>
          <p:cNvPr id="15" name="Shape 13"/>
          <p:cNvSpPr/>
          <p:nvPr/>
        </p:nvSpPr>
        <p:spPr>
          <a:xfrm>
            <a:off x="548640" y="3474720"/>
            <a:ext cx="5486400" cy="548640"/>
          </a:xfrm>
          <a:prstGeom prst="roundRect">
            <a:avLst>
              <a:gd name="adj" fmla="val 11667"/>
            </a:avLst>
          </a:prstGeom>
          <a:solidFill>
            <a:srgbClr val="E7EBEF"/>
          </a:solidFill>
          <a:ln w="12700">
            <a:solidFill>
              <a:srgbClr val="E7EBEF"/>
            </a:solidFill>
            <a:prstDash val="solid"/>
          </a:ln>
        </p:spPr>
      </p:sp>
      <p:sp>
        <p:nvSpPr>
          <p:cNvPr id="16" name="Text 14"/>
          <p:cNvSpPr txBox="1"/>
          <p:nvPr/>
        </p:nvSpPr>
        <p:spPr>
          <a:xfrm>
            <a:off x="777240" y="3474720"/>
            <a:ext cx="3657600" cy="548640"/>
          </a:xfrm>
          <a:prstGeom prst="rect">
            <a:avLst/>
          </a:prstGeom>
          <a:noFill/>
          <a:ln/>
        </p:spPr>
        <p:txBody>
          <a:bodyPr wrap="square" lIns="0" tIns="0" rIns="0" bIns="0" rtlCol="0" anchor="ctr"/>
          <a:lstStyle/>
          <a:p>
            <a:pPr marL="0" indent="0">
              <a:buNone/>
            </a:pPr>
            <a:r>
              <a:rPr lang="en-US" sz="2000" b="1" dirty="0">
                <a:solidFill>
                  <a:srgbClr val="000000"/>
                </a:solidFill>
                <a:latin typeface="Times New Roman" pitchFamily="34" charset="0"/>
                <a:ea typeface="Times New Roman" pitchFamily="34" charset="-122"/>
                <a:cs typeface="Times New Roman" pitchFamily="34" charset="-120"/>
              </a:rPr>
              <a:t>Random Forest</a:t>
            </a:r>
            <a:endParaRPr lang="en-US" sz="2000" dirty="0"/>
          </a:p>
        </p:txBody>
      </p:sp>
      <p:sp>
        <p:nvSpPr>
          <p:cNvPr id="17" name="Text 15"/>
          <p:cNvSpPr txBox="1"/>
          <p:nvPr/>
        </p:nvSpPr>
        <p:spPr>
          <a:xfrm>
            <a:off x="777240" y="4133088"/>
            <a:ext cx="5029200" cy="548640"/>
          </a:xfrm>
          <a:prstGeom prst="rect">
            <a:avLst/>
          </a:prstGeom>
          <a:noFill/>
          <a:ln/>
        </p:spPr>
        <p:txBody>
          <a:bodyPr wrap="square" lIns="0" tIns="0" rIns="0" bIns="0" rtlCol="0" anchor="t"/>
          <a:lstStyle/>
          <a:p>
            <a:pPr marL="0" indent="0">
              <a:buNone/>
            </a:pPr>
            <a:r>
              <a:rPr lang="en-US" sz="1800" dirty="0">
                <a:solidFill>
                  <a:srgbClr val="000000"/>
                </a:solidFill>
                <a:latin typeface="Times New Roman" pitchFamily="34" charset="0"/>
                <a:ea typeface="Times New Roman" pitchFamily="34" charset="-122"/>
                <a:cs typeface="Times New Roman" pitchFamily="34" charset="-120"/>
              </a:rPr>
              <a:t>Many trees vote together.</a:t>
            </a:r>
            <a:endParaRPr lang="en-US" sz="1800" dirty="0"/>
          </a:p>
        </p:txBody>
      </p:sp>
      <p:sp>
        <p:nvSpPr>
          <p:cNvPr id="18" name="Text 16"/>
          <p:cNvSpPr txBox="1"/>
          <p:nvPr/>
        </p:nvSpPr>
        <p:spPr>
          <a:xfrm>
            <a:off x="777240" y="4773168"/>
            <a:ext cx="5029200" cy="548640"/>
          </a:xfrm>
          <a:prstGeom prst="rect">
            <a:avLst/>
          </a:prstGeom>
          <a:noFill/>
          <a:ln/>
        </p:spPr>
        <p:txBody>
          <a:bodyPr wrap="square" lIns="0" tIns="0" rIns="0" bIns="0" rtlCol="0" anchor="t"/>
          <a:lstStyle/>
          <a:p>
            <a:pPr marL="0" indent="0">
              <a:buNone/>
            </a:pPr>
            <a:r>
              <a:rPr lang="en-US" sz="1800" b="1" dirty="0">
                <a:solidFill>
                  <a:srgbClr val="000000"/>
                </a:solidFill>
                <a:latin typeface="Times New Roman" pitchFamily="34" charset="0"/>
                <a:ea typeface="Times New Roman" pitchFamily="34" charset="-122"/>
                <a:cs typeface="Times New Roman" pitchFamily="34" charset="-120"/>
              </a:rPr>
              <a:t>Why: </a:t>
            </a:r>
            <a:r>
              <a:rPr lang="en-US" sz="1800" dirty="0">
                <a:solidFill>
                  <a:srgbClr val="000000"/>
                </a:solidFill>
                <a:latin typeface="Times New Roman" pitchFamily="34" charset="0"/>
                <a:ea typeface="Times New Roman" pitchFamily="34" charset="-122"/>
                <a:cs typeface="Times New Roman" pitchFamily="34" charset="-120"/>
              </a:rPr>
              <a:t>More stable than one tree.</a:t>
            </a:r>
            <a:endParaRPr lang="en-US" sz="1800" dirty="0"/>
          </a:p>
        </p:txBody>
      </p:sp>
      <p:sp>
        <p:nvSpPr>
          <p:cNvPr id="19" name="Shape 17"/>
          <p:cNvSpPr/>
          <p:nvPr/>
        </p:nvSpPr>
        <p:spPr>
          <a:xfrm>
            <a:off x="6153912" y="3474720"/>
            <a:ext cx="5486400" cy="1874520"/>
          </a:xfrm>
          <a:prstGeom prst="roundRect">
            <a:avLst>
              <a:gd name="adj" fmla="val 3415"/>
            </a:avLst>
          </a:prstGeom>
          <a:solidFill>
            <a:srgbClr val="F4F6F8"/>
          </a:solidFill>
          <a:ln w="19050">
            <a:solidFill>
              <a:srgbClr val="000000"/>
            </a:solidFill>
            <a:prstDash val="solid"/>
          </a:ln>
        </p:spPr>
      </p:sp>
      <p:sp>
        <p:nvSpPr>
          <p:cNvPr id="20" name="Shape 18"/>
          <p:cNvSpPr/>
          <p:nvPr/>
        </p:nvSpPr>
        <p:spPr>
          <a:xfrm>
            <a:off x="6153912" y="3474720"/>
            <a:ext cx="5486400" cy="548640"/>
          </a:xfrm>
          <a:prstGeom prst="roundRect">
            <a:avLst>
              <a:gd name="adj" fmla="val 11667"/>
            </a:avLst>
          </a:prstGeom>
          <a:solidFill>
            <a:srgbClr val="E7EBEF"/>
          </a:solidFill>
          <a:ln w="12700">
            <a:solidFill>
              <a:srgbClr val="E7EBEF"/>
            </a:solidFill>
            <a:prstDash val="solid"/>
          </a:ln>
        </p:spPr>
      </p:sp>
      <p:sp>
        <p:nvSpPr>
          <p:cNvPr id="21" name="Text 19"/>
          <p:cNvSpPr txBox="1"/>
          <p:nvPr/>
        </p:nvSpPr>
        <p:spPr>
          <a:xfrm>
            <a:off x="6382512" y="3474720"/>
            <a:ext cx="3657600" cy="548640"/>
          </a:xfrm>
          <a:prstGeom prst="rect">
            <a:avLst/>
          </a:prstGeom>
          <a:noFill/>
          <a:ln/>
        </p:spPr>
        <p:txBody>
          <a:bodyPr wrap="square" lIns="0" tIns="0" rIns="0" bIns="0" rtlCol="0" anchor="ctr"/>
          <a:lstStyle/>
          <a:p>
            <a:pPr marL="0" indent="0">
              <a:buNone/>
            </a:pPr>
            <a:r>
              <a:rPr lang="en-US" sz="2000" b="1" dirty="0">
                <a:solidFill>
                  <a:srgbClr val="000000"/>
                </a:solidFill>
                <a:latin typeface="Times New Roman" pitchFamily="34" charset="0"/>
                <a:ea typeface="Times New Roman" pitchFamily="34" charset="-122"/>
                <a:cs typeface="Times New Roman" pitchFamily="34" charset="-120"/>
              </a:rPr>
              <a:t>XGBoost</a:t>
            </a:r>
            <a:endParaRPr lang="en-US" sz="2000" dirty="0"/>
          </a:p>
        </p:txBody>
      </p:sp>
      <p:sp>
        <p:nvSpPr>
          <p:cNvPr id="22" name="Text 20"/>
          <p:cNvSpPr txBox="1"/>
          <p:nvPr/>
        </p:nvSpPr>
        <p:spPr>
          <a:xfrm>
            <a:off x="9811512" y="3593592"/>
            <a:ext cx="1600200" cy="320040"/>
          </a:xfrm>
          <a:prstGeom prst="rect">
            <a:avLst/>
          </a:prstGeom>
          <a:noFill/>
          <a:ln/>
        </p:spPr>
        <p:txBody>
          <a:bodyPr wrap="square" lIns="0" tIns="0" rIns="0" bIns="0" rtlCol="0" anchor="t"/>
          <a:lstStyle/>
          <a:p>
            <a:pPr marL="0" indent="0" algn="r">
              <a:buNone/>
            </a:pPr>
            <a:r>
              <a:rPr lang="en-US" sz="1400" b="1" kern="0" spc="300" dirty="0">
                <a:solidFill>
                  <a:srgbClr val="5B6B7C"/>
                </a:solidFill>
                <a:latin typeface="Times New Roman" pitchFamily="34" charset="0"/>
                <a:ea typeface="Times New Roman" pitchFamily="34" charset="-122"/>
                <a:cs typeface="Times New Roman" pitchFamily="34" charset="-120"/>
              </a:rPr>
              <a:t>SELECTED</a:t>
            </a:r>
            <a:endParaRPr lang="en-US" sz="1400" dirty="0"/>
          </a:p>
        </p:txBody>
      </p:sp>
      <p:sp>
        <p:nvSpPr>
          <p:cNvPr id="23" name="Text 21"/>
          <p:cNvSpPr txBox="1"/>
          <p:nvPr/>
        </p:nvSpPr>
        <p:spPr>
          <a:xfrm>
            <a:off x="6382512" y="4133088"/>
            <a:ext cx="5029200" cy="548640"/>
          </a:xfrm>
          <a:prstGeom prst="rect">
            <a:avLst/>
          </a:prstGeom>
          <a:noFill/>
          <a:ln/>
        </p:spPr>
        <p:txBody>
          <a:bodyPr wrap="square" lIns="0" tIns="0" rIns="0" bIns="0" rtlCol="0" anchor="t"/>
          <a:lstStyle/>
          <a:p>
            <a:pPr marL="0" indent="0">
              <a:buNone/>
            </a:pPr>
            <a:r>
              <a:rPr lang="en-US" sz="1800" dirty="0">
                <a:solidFill>
                  <a:srgbClr val="000000"/>
                </a:solidFill>
                <a:latin typeface="Times New Roman" pitchFamily="34" charset="0"/>
                <a:ea typeface="Times New Roman" pitchFamily="34" charset="-122"/>
                <a:cs typeface="Times New Roman" pitchFamily="34" charset="-120"/>
              </a:rPr>
              <a:t>Each tree fixes the last tree's mistakes.</a:t>
            </a:r>
            <a:endParaRPr lang="en-US" sz="1800" dirty="0"/>
          </a:p>
        </p:txBody>
      </p:sp>
      <p:sp>
        <p:nvSpPr>
          <p:cNvPr id="24" name="Text 22"/>
          <p:cNvSpPr txBox="1"/>
          <p:nvPr/>
        </p:nvSpPr>
        <p:spPr>
          <a:xfrm>
            <a:off x="6382512" y="4773168"/>
            <a:ext cx="5029200" cy="548640"/>
          </a:xfrm>
          <a:prstGeom prst="rect">
            <a:avLst/>
          </a:prstGeom>
          <a:noFill/>
          <a:ln/>
        </p:spPr>
        <p:txBody>
          <a:bodyPr wrap="square" lIns="0" tIns="0" rIns="0" bIns="0" rtlCol="0" anchor="t"/>
          <a:lstStyle/>
          <a:p>
            <a:pPr marL="0" indent="0">
              <a:buNone/>
            </a:pPr>
            <a:r>
              <a:rPr lang="en-US" sz="1800" b="1" dirty="0">
                <a:solidFill>
                  <a:srgbClr val="000000"/>
                </a:solidFill>
                <a:latin typeface="Times New Roman" pitchFamily="34" charset="0"/>
                <a:ea typeface="Times New Roman" pitchFamily="34" charset="-122"/>
                <a:cs typeface="Times New Roman" pitchFamily="34" charset="-120"/>
              </a:rPr>
              <a:t>Why: </a:t>
            </a:r>
            <a:r>
              <a:rPr lang="en-US" sz="1800" dirty="0">
                <a:solidFill>
                  <a:srgbClr val="000000"/>
                </a:solidFill>
                <a:latin typeface="Times New Roman" pitchFamily="34" charset="0"/>
                <a:ea typeface="Times New Roman" pitchFamily="34" charset="-122"/>
                <a:cs typeface="Times New Roman" pitchFamily="34" charset="-120"/>
              </a:rPr>
              <a:t>Strong; shows feature importance.</a:t>
            </a:r>
            <a:endParaRPr lang="en-US" sz="1800" dirty="0"/>
          </a:p>
        </p:txBody>
      </p:sp>
      <p:sp>
        <p:nvSpPr>
          <p:cNvPr id="25" name="Shape 23"/>
          <p:cNvSpPr/>
          <p:nvPr/>
        </p:nvSpPr>
        <p:spPr>
          <a:xfrm>
            <a:off x="548640" y="5486400"/>
            <a:ext cx="11091672" cy="731520"/>
          </a:xfrm>
          <a:prstGeom prst="roundRect">
            <a:avLst>
              <a:gd name="adj" fmla="val 8750"/>
            </a:avLst>
          </a:prstGeom>
          <a:solidFill>
            <a:srgbClr val="F4F6F8"/>
          </a:solidFill>
          <a:ln w="15875">
            <a:solidFill>
              <a:srgbClr val="8C97A3"/>
            </a:solidFill>
            <a:prstDash val="dash"/>
          </a:ln>
        </p:spPr>
      </p:sp>
      <p:sp>
        <p:nvSpPr>
          <p:cNvPr id="26" name="Text 24"/>
          <p:cNvSpPr txBox="1"/>
          <p:nvPr/>
        </p:nvSpPr>
        <p:spPr>
          <a:xfrm>
            <a:off x="777240" y="5486400"/>
            <a:ext cx="10698480" cy="731520"/>
          </a:xfrm>
          <a:prstGeom prst="rect">
            <a:avLst/>
          </a:prstGeom>
          <a:noFill/>
          <a:ln/>
        </p:spPr>
        <p:txBody>
          <a:bodyPr wrap="square" lIns="0" tIns="0" rIns="0" bIns="0" rtlCol="0" anchor="ctr"/>
          <a:lstStyle/>
          <a:p>
            <a:pPr marL="0" indent="0">
              <a:buNone/>
            </a:pPr>
            <a:r>
              <a:rPr lang="en-US" sz="1800" b="1" dirty="0">
                <a:solidFill>
                  <a:srgbClr val="000000"/>
                </a:solidFill>
                <a:latin typeface="Times New Roman" pitchFamily="34" charset="0"/>
                <a:ea typeface="Times New Roman" pitchFamily="34" charset="-122"/>
                <a:cs typeface="Times New Roman" pitchFamily="34" charset="-120"/>
              </a:rPr>
              <a:t>Support Vector Machine: </a:t>
            </a:r>
            <a:r>
              <a:rPr lang="en-US" sz="1800" dirty="0">
                <a:solidFill>
                  <a:srgbClr val="5B6B7C"/>
                </a:solidFill>
                <a:latin typeface="Times New Roman" pitchFamily="34" charset="0"/>
                <a:ea typeface="Times New Roman" pitchFamily="34" charset="-122"/>
                <a:cs typeface="Times New Roman" pitchFamily="34" charset="-120"/>
              </a:rPr>
              <a:t>planned, but not run. Too slow for 50,000 records.</a:t>
            </a:r>
            <a:endParaRPr lang="en-US" sz="1800" dirty="0"/>
          </a:p>
        </p:txBody>
      </p:sp>
      <p:sp>
        <p:nvSpPr>
          <p:cNvPr id="27"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B6B7C"/>
                </a:solidFill>
                <a:latin typeface="Times New Roman"/>
                <a:ea typeface="Times New Roman"/>
                <a:cs typeface="Times New Roman"/>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365760"/>
            <a:ext cx="10058400" cy="274320"/>
          </a:xfrm>
          <a:prstGeom prst="rect">
            <a:avLst/>
          </a:prstGeom>
          <a:noFill/>
          <a:ln/>
        </p:spPr>
        <p:txBody>
          <a:bodyPr wrap="square" lIns="0" tIns="0" rIns="0" bIns="0" rtlCol="0" anchor="t"/>
          <a:lstStyle/>
          <a:p>
            <a:pPr marL="0" indent="0">
              <a:buNone/>
            </a:pPr>
            <a:r>
              <a:rPr lang="en-US" sz="1400" b="1" kern="0" spc="300" dirty="0">
                <a:solidFill>
                  <a:srgbClr val="000000"/>
                </a:solidFill>
                <a:latin typeface="Times New Roman" pitchFamily="34" charset="0"/>
                <a:ea typeface="Times New Roman" pitchFamily="34" charset="-122"/>
                <a:cs typeface="Times New Roman" pitchFamily="34" charset="-120"/>
              </a:rPr>
              <a:t>CHAPTER 5 — MODEL COMPARISON</a:t>
            </a:r>
            <a:endParaRPr lang="en-US" sz="1400" dirty="0"/>
          </a:p>
        </p:txBody>
      </p:sp>
      <p:sp>
        <p:nvSpPr>
          <p:cNvPr id="3" name="Text 0"/>
          <p:cNvSpPr>
            <a:spLocks noGrp="1"/>
          </p:cNvSpPr>
          <p:nvPr>
            <p:ph type="title" idx="100" hasCustomPrompt="1"/>
          </p:nvPr>
        </p:nvSpPr>
        <p:spPr>
          <a:xfrm>
            <a:off x="548640" y="658368"/>
            <a:ext cx="11091672" cy="640080"/>
          </a:xfrm>
          <a:prstGeom prst="rect">
            <a:avLst/>
          </a:prstGeom>
          <a:noFill/>
          <a:ln/>
        </p:spPr>
        <p:txBody>
          <a:bodyPr wrap="square" lIns="0" tIns="0" rIns="0" bIns="0" rtlCol="0" anchor="ctr"/>
          <a:lstStyle/>
          <a:p>
            <a:pPr marL="0" indent="0" algn="l">
              <a:buNone/>
            </a:pPr>
            <a:r>
              <a:rPr lang="en-US" sz="2800" b="1" dirty="0">
                <a:solidFill>
                  <a:srgbClr val="000000"/>
                </a:solidFill>
                <a:latin typeface="Times New Roman" pitchFamily="34" charset="0"/>
                <a:ea typeface="Times New Roman" pitchFamily="34" charset="-122"/>
                <a:cs typeface="Times New Roman" pitchFamily="34" charset="-120"/>
              </a:rPr>
              <a:t>How the Models Compared</a:t>
            </a:r>
            <a:endParaRPr lang="en-US" sz="28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1672" cy="2743200"/>
        </p:xfrm>
        <a:graphic>
          <a:graphicData uri="http://schemas.openxmlformats.org/drawingml/2006/table">
            <a:tbl>
              <a:tblPr/>
              <a:tblGrid>
                <a:gridCol w="3319272"/>
                <a:gridCol w="1554480"/>
                <a:gridCol w="1554480"/>
                <a:gridCol w="1554480"/>
                <a:gridCol w="1554480"/>
                <a:gridCol w="1554480"/>
              </a:tblGrid>
              <a:tr h="457200">
                <a:tc>
                  <a:txBody>
                    <a:bodyPr/>
                    <a:lstStyle/>
                    <a:p>
                      <a:pPr marL="0" indent="0" algn="l">
                        <a:buNone/>
                      </a:pPr>
                      <a:r>
                        <a:rPr lang="en-US" sz="1600" b="1" dirty="0">
                          <a:solidFill>
                            <a:srgbClr val="000000"/>
                          </a:solidFill>
                          <a:latin typeface="Times New Roman" pitchFamily="34" charset="0"/>
                          <a:ea typeface="Times New Roman" pitchFamily="34" charset="-122"/>
                          <a:cs typeface="Times New Roman" pitchFamily="34" charset="-120"/>
                        </a:rPr>
                        <a:t>Model</a:t>
                      </a:r>
                      <a:endParaRPr lang="en-US" sz="1600" dirty="0">
                        <a:latin typeface="Times New Roman" charset="0"/>
                        <a:ea typeface="Times New Roman" charset="0"/>
                        <a:cs typeface="Times New Roman" charset="0"/>
                      </a:endParaRPr>
                    </a:p>
                  </a:txBody>
                  <a:tcPr marL="109728" marR="109728" marT="27432" marB="27432" anchor="ctr">
                    <a:lnL w="12700" cap="flat" cmpd="sng" algn="ctr">
                      <a:solidFill>
                        <a:srgbClr val="D7DCE1"/>
                      </a:solidFill>
                      <a:prstDash val="solid"/>
                      <a:round/>
                      <a:headEnd type="none" w="med" len="med"/>
                      <a:tailEnd type="none" w="med" len="med"/>
                    </a:lnL>
                    <a:lnR w="12700" cap="flat" cmpd="sng" algn="ctr">
                      <a:solidFill>
                        <a:srgbClr val="D7DCE1"/>
                      </a:solidFill>
                      <a:prstDash val="solid"/>
                      <a:round/>
                      <a:headEnd type="none" w="med" len="med"/>
                      <a:tailEnd type="none" w="med" len="med"/>
                    </a:lnR>
                    <a:lnT w="12700" cap="flat" cmpd="sng" algn="ctr">
                      <a:solidFill>
                        <a:srgbClr val="D7DCE1"/>
                      </a:solidFill>
                      <a:prstDash val="solid"/>
                      <a:round/>
                      <a:headEnd type="none" w="med" len="med"/>
                      <a:tailEnd type="none" w="med" len="med"/>
                    </a:lnT>
                    <a:lnB w="12700" cap="flat" cmpd="sng" algn="ctr">
                      <a:solidFill>
                        <a:srgbClr val="D7DCE1"/>
                      </a:solidFill>
                      <a:prstDash val="solid"/>
                      <a:round/>
                      <a:headEnd type="none" w="med" len="med"/>
                      <a:tailEnd type="none" w="med" len="med"/>
                    </a:lnB>
                    <a:solidFill>
                      <a:srgbClr val="E7EBEF"/>
                    </a:solidFill>
                  </a:tcPr>
                </a:tc>
                <a:tc>
                  <a:txBody>
                    <a:bodyPr/>
                    <a:lstStyle/>
                    <a:p>
                      <a:pPr marL="0" indent="0" algn="ctr">
                        <a:buNone/>
                      </a:pPr>
                      <a:r>
                        <a:rPr lang="en-US" sz="1600" b="1" dirty="0">
                          <a:solidFill>
                            <a:srgbClr val="000000"/>
                          </a:solidFill>
                          <a:latin typeface="Times New Roman" pitchFamily="34" charset="0"/>
                          <a:ea typeface="Times New Roman" pitchFamily="34" charset="-122"/>
                          <a:cs typeface="Times New Roman" pitchFamily="34" charset="-120"/>
                        </a:rPr>
                        <a:t>Accuracy</a:t>
                      </a:r>
                      <a:endParaRPr lang="en-US" sz="1600" dirty="0">
                        <a:latin typeface="Times New Roman" charset="0"/>
                        <a:ea typeface="Times New Roman" charset="0"/>
                        <a:cs typeface="Times New Roman" charset="0"/>
                      </a:endParaRPr>
                    </a:p>
                  </a:txBody>
                  <a:tcPr marL="109728" marR="109728" marT="27432" marB="27432" anchor="ctr">
                    <a:lnL w="12700" cap="flat" cmpd="sng" algn="ctr">
                      <a:solidFill>
                        <a:srgbClr val="D7DCE1"/>
                      </a:solidFill>
                      <a:prstDash val="solid"/>
                      <a:round/>
                      <a:headEnd type="none" w="med" len="med"/>
                      <a:tailEnd type="none" w="med" len="med"/>
                    </a:lnL>
                    <a:lnR w="12700" cap="flat" cmpd="sng" algn="ctr">
                      <a:solidFill>
                        <a:srgbClr val="D7DCE1"/>
                      </a:solidFill>
                      <a:prstDash val="solid"/>
                      <a:round/>
                      <a:headEnd type="none" w="med" len="med"/>
                      <a:tailEnd type="none" w="med" len="med"/>
                    </a:lnR>
                    <a:lnT w="12700" cap="flat" cmpd="sng" algn="ctr">
                      <a:solidFill>
                        <a:srgbClr val="D7DCE1"/>
                      </a:solidFill>
                      <a:prstDash val="solid"/>
                      <a:round/>
                      <a:headEnd type="none" w="med" len="med"/>
                      <a:tailEnd type="none" w="med" len="med"/>
                    </a:lnT>
                    <a:lnB w="12700" cap="flat" cmpd="sng" algn="ctr">
                      <a:solidFill>
                        <a:srgbClr val="D7DCE1"/>
                      </a:solidFill>
                      <a:prstDash val="solid"/>
                      <a:round/>
                      <a:headEnd type="none" w="med" len="med"/>
                      <a:tailEnd type="none" w="med" len="med"/>
                    </a:lnB>
                    <a:solidFill>
                      <a:srgbClr val="E7EBEF"/>
                    </a:solidFill>
                  </a:tcPr>
                </a:tc>
                <a:tc>
                  <a:txBody>
                    <a:bodyPr/>
                    <a:lstStyle/>
                    <a:p>
                      <a:pPr marL="0" indent="0" algn="ctr">
                        <a:buNone/>
                      </a:pPr>
                      <a:r>
                        <a:rPr lang="en-US" sz="1600" b="1" dirty="0">
                          <a:solidFill>
                            <a:srgbClr val="000000"/>
                          </a:solidFill>
                          <a:latin typeface="Times New Roman" pitchFamily="34" charset="0"/>
                          <a:ea typeface="Times New Roman" pitchFamily="34" charset="-122"/>
                          <a:cs typeface="Times New Roman" pitchFamily="34" charset="-120"/>
                        </a:rPr>
                        <a:t>Precision*</a:t>
                      </a:r>
                      <a:endParaRPr lang="en-US" sz="1600" dirty="0">
                        <a:latin typeface="Times New Roman" charset="0"/>
                        <a:ea typeface="Times New Roman" charset="0"/>
                        <a:cs typeface="Times New Roman" charset="0"/>
                      </a:endParaRPr>
                    </a:p>
                  </a:txBody>
                  <a:tcPr marL="109728" marR="109728" marT="27432" marB="27432" anchor="ctr">
                    <a:lnL w="12700" cap="flat" cmpd="sng" algn="ctr">
                      <a:solidFill>
                        <a:srgbClr val="D7DCE1"/>
                      </a:solidFill>
                      <a:prstDash val="solid"/>
                      <a:round/>
                      <a:headEnd type="none" w="med" len="med"/>
                      <a:tailEnd type="none" w="med" len="med"/>
                    </a:lnL>
                    <a:lnR w="12700" cap="flat" cmpd="sng" algn="ctr">
                      <a:solidFill>
                        <a:srgbClr val="D7DCE1"/>
                      </a:solidFill>
                      <a:prstDash val="solid"/>
                      <a:round/>
                      <a:headEnd type="none" w="med" len="med"/>
                      <a:tailEnd type="none" w="med" len="med"/>
                    </a:lnR>
                    <a:lnT w="12700" cap="flat" cmpd="sng" algn="ctr">
                      <a:solidFill>
                        <a:srgbClr val="D7DCE1"/>
                      </a:solidFill>
                      <a:prstDash val="solid"/>
                      <a:round/>
                      <a:headEnd type="none" w="med" len="med"/>
                      <a:tailEnd type="none" w="med" len="med"/>
                    </a:lnT>
                    <a:lnB w="12700" cap="flat" cmpd="sng" algn="ctr">
                      <a:solidFill>
                        <a:srgbClr val="D7DCE1"/>
                      </a:solidFill>
                      <a:prstDash val="solid"/>
                      <a:round/>
                      <a:headEnd type="none" w="med" len="med"/>
                      <a:tailEnd type="none" w="med" len="med"/>
                    </a:lnB>
                    <a:solidFill>
                      <a:srgbClr val="E7EBEF"/>
                    </a:solidFill>
                  </a:tcPr>
                </a:tc>
                <a:tc>
                  <a:txBody>
                    <a:bodyPr/>
                    <a:lstStyle/>
                    <a:p>
                      <a:pPr marL="0" indent="0" algn="ctr">
                        <a:buNone/>
                      </a:pPr>
                      <a:r>
                        <a:rPr lang="en-US" sz="1600" b="1" dirty="0">
                          <a:solidFill>
                            <a:srgbClr val="000000"/>
                          </a:solidFill>
                          <a:latin typeface="Times New Roman" pitchFamily="34" charset="0"/>
                          <a:ea typeface="Times New Roman" pitchFamily="34" charset="-122"/>
                          <a:cs typeface="Times New Roman" pitchFamily="34" charset="-120"/>
                        </a:rPr>
                        <a:t>Recall*</a:t>
                      </a:r>
                      <a:endParaRPr lang="en-US" sz="1600" dirty="0">
                        <a:latin typeface="Times New Roman" charset="0"/>
                        <a:ea typeface="Times New Roman" charset="0"/>
                        <a:cs typeface="Times New Roman" charset="0"/>
                      </a:endParaRPr>
                    </a:p>
                  </a:txBody>
                  <a:tcPr marL="109728" marR="109728" marT="27432" marB="27432" anchor="ctr">
                    <a:lnL w="12700" cap="flat" cmpd="sng" algn="ctr">
                      <a:solidFill>
                        <a:srgbClr val="D7DCE1"/>
                      </a:solidFill>
                      <a:prstDash val="solid"/>
                      <a:round/>
                      <a:headEnd type="none" w="med" len="med"/>
                      <a:tailEnd type="none" w="med" len="med"/>
                    </a:lnL>
                    <a:lnR w="12700" cap="flat" cmpd="sng" algn="ctr">
                      <a:solidFill>
                        <a:srgbClr val="D7DCE1"/>
                      </a:solidFill>
                      <a:prstDash val="solid"/>
                      <a:round/>
                      <a:headEnd type="none" w="med" len="med"/>
                      <a:tailEnd type="none" w="med" len="med"/>
                    </a:lnR>
                    <a:lnT w="12700" cap="flat" cmpd="sng" algn="ctr">
                      <a:solidFill>
                        <a:srgbClr val="D7DCE1"/>
                      </a:solidFill>
                      <a:prstDash val="solid"/>
                      <a:round/>
                      <a:headEnd type="none" w="med" len="med"/>
                      <a:tailEnd type="none" w="med" len="med"/>
                    </a:lnT>
                    <a:lnB w="12700" cap="flat" cmpd="sng" algn="ctr">
                      <a:solidFill>
                        <a:srgbClr val="D7DCE1"/>
                      </a:solidFill>
                      <a:prstDash val="solid"/>
                      <a:round/>
                      <a:headEnd type="none" w="med" len="med"/>
                      <a:tailEnd type="none" w="med" len="med"/>
                    </a:lnB>
                    <a:solidFill>
                      <a:srgbClr val="E7EBEF"/>
                    </a:solidFill>
                  </a:tcPr>
                </a:tc>
                <a:tc>
                  <a:txBody>
                    <a:bodyPr/>
                    <a:lstStyle/>
                    <a:p>
                      <a:pPr marL="0" indent="0" algn="ctr">
                        <a:buNone/>
                      </a:pPr>
                      <a:r>
                        <a:rPr lang="en-US" sz="1600" b="1" dirty="0">
                          <a:solidFill>
                            <a:srgbClr val="000000"/>
                          </a:solidFill>
                          <a:latin typeface="Times New Roman" pitchFamily="34" charset="0"/>
                          <a:ea typeface="Times New Roman" pitchFamily="34" charset="-122"/>
                          <a:cs typeface="Times New Roman" pitchFamily="34" charset="-120"/>
                        </a:rPr>
                        <a:t>F1-score*</a:t>
                      </a:r>
                      <a:endParaRPr lang="en-US" sz="1600" dirty="0">
                        <a:latin typeface="Times New Roman" charset="0"/>
                        <a:ea typeface="Times New Roman" charset="0"/>
                        <a:cs typeface="Times New Roman" charset="0"/>
                      </a:endParaRPr>
                    </a:p>
                  </a:txBody>
                  <a:tcPr marL="109728" marR="109728" marT="27432" marB="27432" anchor="ctr">
                    <a:lnL w="12700" cap="flat" cmpd="sng" algn="ctr">
                      <a:solidFill>
                        <a:srgbClr val="D7DCE1"/>
                      </a:solidFill>
                      <a:prstDash val="solid"/>
                      <a:round/>
                      <a:headEnd type="none" w="med" len="med"/>
                      <a:tailEnd type="none" w="med" len="med"/>
                    </a:lnL>
                    <a:lnR w="12700" cap="flat" cmpd="sng" algn="ctr">
                      <a:solidFill>
                        <a:srgbClr val="D7DCE1"/>
                      </a:solidFill>
                      <a:prstDash val="solid"/>
                      <a:round/>
                      <a:headEnd type="none" w="med" len="med"/>
                      <a:tailEnd type="none" w="med" len="med"/>
                    </a:lnR>
                    <a:lnT w="12700" cap="flat" cmpd="sng" algn="ctr">
                      <a:solidFill>
                        <a:srgbClr val="D7DCE1"/>
                      </a:solidFill>
                      <a:prstDash val="solid"/>
                      <a:round/>
                      <a:headEnd type="none" w="med" len="med"/>
                      <a:tailEnd type="none" w="med" len="med"/>
                    </a:lnT>
                    <a:lnB w="12700" cap="flat" cmpd="sng" algn="ctr">
                      <a:solidFill>
                        <a:srgbClr val="D7DCE1"/>
                      </a:solidFill>
                      <a:prstDash val="solid"/>
                      <a:round/>
                      <a:headEnd type="none" w="med" len="med"/>
                      <a:tailEnd type="none" w="med" len="med"/>
                    </a:lnB>
                    <a:solidFill>
                      <a:srgbClr val="E7EBEF"/>
                    </a:solidFill>
                  </a:tcPr>
                </a:tc>
                <a:tc>
                  <a:txBody>
                    <a:bodyPr/>
                    <a:lstStyle/>
                    <a:p>
                      <a:pPr marL="0" indent="0" algn="ctr">
                        <a:buNone/>
                      </a:pPr>
                      <a:r>
                        <a:rPr lang="en-US" sz="1600" b="1" dirty="0">
                          <a:solidFill>
                            <a:srgbClr val="000000"/>
                          </a:solidFill>
                          <a:latin typeface="Times New Roman" pitchFamily="34" charset="0"/>
                          <a:ea typeface="Times New Roman" pitchFamily="34" charset="-122"/>
                          <a:cs typeface="Times New Roman" pitchFamily="34" charset="-120"/>
                        </a:rPr>
                        <a:t>ROC-AUC</a:t>
                      </a:r>
                      <a:endParaRPr lang="en-US" sz="1600" dirty="0">
                        <a:latin typeface="Times New Roman" charset="0"/>
                        <a:ea typeface="Times New Roman" charset="0"/>
                        <a:cs typeface="Times New Roman" charset="0"/>
                      </a:endParaRPr>
                    </a:p>
                  </a:txBody>
                  <a:tcPr marL="109728" marR="109728" marT="27432" marB="27432" anchor="ctr">
                    <a:lnL w="12700" cap="flat" cmpd="sng" algn="ctr">
                      <a:solidFill>
                        <a:srgbClr val="D7DCE1"/>
                      </a:solidFill>
                      <a:prstDash val="solid"/>
                      <a:round/>
                      <a:headEnd type="none" w="med" len="med"/>
                      <a:tailEnd type="none" w="med" len="med"/>
                    </a:lnL>
                    <a:lnR w="12700" cap="flat" cmpd="sng" algn="ctr">
                      <a:solidFill>
                        <a:srgbClr val="D7DCE1"/>
                      </a:solidFill>
                      <a:prstDash val="solid"/>
                      <a:round/>
                      <a:headEnd type="none" w="med" len="med"/>
                      <a:tailEnd type="none" w="med" len="med"/>
                    </a:lnR>
                    <a:lnT w="12700" cap="flat" cmpd="sng" algn="ctr">
                      <a:solidFill>
                        <a:srgbClr val="D7DCE1"/>
                      </a:solidFill>
                      <a:prstDash val="solid"/>
                      <a:round/>
                      <a:headEnd type="none" w="med" len="med"/>
                      <a:tailEnd type="none" w="med" len="med"/>
                    </a:lnT>
                    <a:lnB w="12700" cap="flat" cmpd="sng" algn="ctr">
                      <a:solidFill>
                        <a:srgbClr val="D7DCE1"/>
                      </a:solidFill>
                      <a:prstDash val="solid"/>
                      <a:round/>
                      <a:headEnd type="none" w="med" len="med"/>
                      <a:tailEnd type="none" w="med" len="med"/>
                    </a:lnB>
                    <a:solidFill>
                      <a:srgbClr val="E7EBEF"/>
                    </a:solidFill>
                  </a:tcPr>
                </a:tc>
              </a:tr>
              <a:tr h="457200">
                <a:tc>
                  <a:txBody>
                    <a:bodyPr/>
                    <a:lstStyle/>
                    <a:p>
                      <a:pPr marL="0" indent="0" algn="l">
                        <a:buNone/>
                      </a:pPr>
                      <a:r>
                        <a:rPr lang="en-US" sz="1600" dirty="0">
                          <a:solidFill>
                            <a:srgbClr val="000000"/>
                          </a:solidFill>
                          <a:latin typeface="Times New Roman" pitchFamily="34" charset="0"/>
                          <a:ea typeface="Times New Roman" pitchFamily="34" charset="-122"/>
                          <a:cs typeface="Times New Roman" pitchFamily="34" charset="-120"/>
                        </a:rPr>
                        <a:t>Logistic Regression</a:t>
                      </a:r>
                      <a:endParaRPr lang="en-US" sz="1600" dirty="0">
                        <a:latin typeface="Times New Roman" charset="0"/>
                        <a:ea typeface="Times New Roman" charset="0"/>
                        <a:cs typeface="Times New Roman" charset="0"/>
                      </a:endParaRPr>
                    </a:p>
                  </a:txBody>
                  <a:tcPr marL="109728" marR="109728" marT="27432" marB="27432" anchor="ctr">
                    <a:lnL w="12700" cap="flat" cmpd="sng" algn="ctr">
                      <a:solidFill>
                        <a:srgbClr val="D7DCE1"/>
                      </a:solidFill>
                      <a:prstDash val="solid"/>
                      <a:round/>
                      <a:headEnd type="none" w="med" len="med"/>
                      <a:tailEnd type="none" w="med" len="med"/>
                    </a:lnL>
                    <a:lnR w="12700" cap="flat" cmpd="sng" algn="ctr">
                      <a:solidFill>
                        <a:srgbClr val="D7DCE1"/>
                      </a:solidFill>
                      <a:prstDash val="solid"/>
                      <a:round/>
                      <a:headEnd type="none" w="med" len="med"/>
                      <a:tailEnd type="none" w="med" len="med"/>
                    </a:lnR>
                    <a:lnT w="12700" cap="flat" cmpd="sng" algn="ctr">
                      <a:solidFill>
                        <a:srgbClr val="D7DCE1"/>
                      </a:solidFill>
                      <a:prstDash val="solid"/>
                      <a:round/>
                      <a:headEnd type="none" w="med" len="med"/>
                      <a:tailEnd type="none" w="med" len="med"/>
                    </a:lnT>
                    <a:lnB w="12700" cap="flat" cmpd="sng" algn="ctr">
                      <a:solidFill>
                        <a:srgbClr val="D7DCE1"/>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00000"/>
                          </a:solidFill>
                          <a:latin typeface="Times New Roman" pitchFamily="34" charset="0"/>
                          <a:ea typeface="Times New Roman" pitchFamily="34" charset="-122"/>
                          <a:cs typeface="Times New Roman" pitchFamily="34" charset="-120"/>
                        </a:rPr>
                        <a:t>0.8196</a:t>
                      </a:r>
                      <a:endParaRPr lang="en-US" sz="1600" dirty="0">
                        <a:latin typeface="Times New Roman" charset="0"/>
                        <a:ea typeface="Times New Roman" charset="0"/>
                        <a:cs typeface="Times New Roman" charset="0"/>
                      </a:endParaRPr>
                    </a:p>
                  </a:txBody>
                  <a:tcPr marL="109728" marR="109728" marT="27432" marB="27432" anchor="ctr">
                    <a:lnL w="12700" cap="flat" cmpd="sng" algn="ctr">
                      <a:solidFill>
                        <a:srgbClr val="D7DCE1"/>
                      </a:solidFill>
                      <a:prstDash val="solid"/>
                      <a:round/>
                      <a:headEnd type="none" w="med" len="med"/>
                      <a:tailEnd type="none" w="med" len="med"/>
                    </a:lnL>
                    <a:lnR w="12700" cap="flat" cmpd="sng" algn="ctr">
                      <a:solidFill>
                        <a:srgbClr val="D7DCE1"/>
                      </a:solidFill>
                      <a:prstDash val="solid"/>
                      <a:round/>
                      <a:headEnd type="none" w="med" len="med"/>
                      <a:tailEnd type="none" w="med" len="med"/>
                    </a:lnR>
                    <a:lnT w="12700" cap="flat" cmpd="sng" algn="ctr">
                      <a:solidFill>
                        <a:srgbClr val="D7DCE1"/>
                      </a:solidFill>
                      <a:prstDash val="solid"/>
                      <a:round/>
                      <a:headEnd type="none" w="med" len="med"/>
                      <a:tailEnd type="none" w="med" len="med"/>
                    </a:lnT>
                    <a:lnB w="12700" cap="flat" cmpd="sng" algn="ctr">
                      <a:solidFill>
                        <a:srgbClr val="D7DCE1"/>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00000"/>
                          </a:solidFill>
                          <a:latin typeface="Times New Roman" pitchFamily="34" charset="0"/>
                          <a:ea typeface="Times New Roman" pitchFamily="34" charset="-122"/>
                          <a:cs typeface="Times New Roman" pitchFamily="34" charset="-120"/>
                        </a:rPr>
                        <a:t>0.80</a:t>
                      </a:r>
                      <a:endParaRPr lang="en-US" sz="1600" dirty="0">
                        <a:latin typeface="Times New Roman" charset="0"/>
                        <a:ea typeface="Times New Roman" charset="0"/>
                        <a:cs typeface="Times New Roman" charset="0"/>
                      </a:endParaRPr>
                    </a:p>
                  </a:txBody>
                  <a:tcPr marL="109728" marR="109728" marT="27432" marB="27432" anchor="ctr">
                    <a:lnL w="12700" cap="flat" cmpd="sng" algn="ctr">
                      <a:solidFill>
                        <a:srgbClr val="D7DCE1"/>
                      </a:solidFill>
                      <a:prstDash val="solid"/>
                      <a:round/>
                      <a:headEnd type="none" w="med" len="med"/>
                      <a:tailEnd type="none" w="med" len="med"/>
                    </a:lnL>
                    <a:lnR w="12700" cap="flat" cmpd="sng" algn="ctr">
                      <a:solidFill>
                        <a:srgbClr val="D7DCE1"/>
                      </a:solidFill>
                      <a:prstDash val="solid"/>
                      <a:round/>
                      <a:headEnd type="none" w="med" len="med"/>
                      <a:tailEnd type="none" w="med" len="med"/>
                    </a:lnR>
                    <a:lnT w="12700" cap="flat" cmpd="sng" algn="ctr">
                      <a:solidFill>
                        <a:srgbClr val="D7DCE1"/>
                      </a:solidFill>
                      <a:prstDash val="solid"/>
                      <a:round/>
                      <a:headEnd type="none" w="med" len="med"/>
                      <a:tailEnd type="none" w="med" len="med"/>
                    </a:lnT>
                    <a:lnB w="12700" cap="flat" cmpd="sng" algn="ctr">
                      <a:solidFill>
                        <a:srgbClr val="D7DCE1"/>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00000"/>
                          </a:solidFill>
                          <a:latin typeface="Times New Roman" pitchFamily="34" charset="0"/>
                          <a:ea typeface="Times New Roman" pitchFamily="34" charset="-122"/>
                          <a:cs typeface="Times New Roman" pitchFamily="34" charset="-120"/>
                        </a:rPr>
                        <a:t>0.82</a:t>
                      </a:r>
                      <a:endParaRPr lang="en-US" sz="1600" dirty="0">
                        <a:latin typeface="Times New Roman" charset="0"/>
                        <a:ea typeface="Times New Roman" charset="0"/>
                        <a:cs typeface="Times New Roman" charset="0"/>
                      </a:endParaRPr>
                    </a:p>
                  </a:txBody>
                  <a:tcPr marL="109728" marR="109728" marT="27432" marB="27432" anchor="ctr">
                    <a:lnL w="12700" cap="flat" cmpd="sng" algn="ctr">
                      <a:solidFill>
                        <a:srgbClr val="D7DCE1"/>
                      </a:solidFill>
                      <a:prstDash val="solid"/>
                      <a:round/>
                      <a:headEnd type="none" w="med" len="med"/>
                      <a:tailEnd type="none" w="med" len="med"/>
                    </a:lnL>
                    <a:lnR w="12700" cap="flat" cmpd="sng" algn="ctr">
                      <a:solidFill>
                        <a:srgbClr val="D7DCE1"/>
                      </a:solidFill>
                      <a:prstDash val="solid"/>
                      <a:round/>
                      <a:headEnd type="none" w="med" len="med"/>
                      <a:tailEnd type="none" w="med" len="med"/>
                    </a:lnR>
                    <a:lnT w="12700" cap="flat" cmpd="sng" algn="ctr">
                      <a:solidFill>
                        <a:srgbClr val="D7DCE1"/>
                      </a:solidFill>
                      <a:prstDash val="solid"/>
                      <a:round/>
                      <a:headEnd type="none" w="med" len="med"/>
                      <a:tailEnd type="none" w="med" len="med"/>
                    </a:lnT>
                    <a:lnB w="12700" cap="flat" cmpd="sng" algn="ctr">
                      <a:solidFill>
                        <a:srgbClr val="D7DCE1"/>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00000"/>
                          </a:solidFill>
                          <a:latin typeface="Times New Roman" pitchFamily="34" charset="0"/>
                          <a:ea typeface="Times New Roman" pitchFamily="34" charset="-122"/>
                          <a:cs typeface="Times New Roman" pitchFamily="34" charset="-120"/>
                        </a:rPr>
                        <a:t>0.80</a:t>
                      </a:r>
                      <a:endParaRPr lang="en-US" sz="1600" dirty="0">
                        <a:latin typeface="Times New Roman" charset="0"/>
                        <a:ea typeface="Times New Roman" charset="0"/>
                        <a:cs typeface="Times New Roman" charset="0"/>
                      </a:endParaRPr>
                    </a:p>
                  </a:txBody>
                  <a:tcPr marL="109728" marR="109728" marT="27432" marB="27432" anchor="ctr">
                    <a:lnL w="12700" cap="flat" cmpd="sng" algn="ctr">
                      <a:solidFill>
                        <a:srgbClr val="D7DCE1"/>
                      </a:solidFill>
                      <a:prstDash val="solid"/>
                      <a:round/>
                      <a:headEnd type="none" w="med" len="med"/>
                      <a:tailEnd type="none" w="med" len="med"/>
                    </a:lnL>
                    <a:lnR w="12700" cap="flat" cmpd="sng" algn="ctr">
                      <a:solidFill>
                        <a:srgbClr val="D7DCE1"/>
                      </a:solidFill>
                      <a:prstDash val="solid"/>
                      <a:round/>
                      <a:headEnd type="none" w="med" len="med"/>
                      <a:tailEnd type="none" w="med" len="med"/>
                    </a:lnR>
                    <a:lnT w="12700" cap="flat" cmpd="sng" algn="ctr">
                      <a:solidFill>
                        <a:srgbClr val="D7DCE1"/>
                      </a:solidFill>
                      <a:prstDash val="solid"/>
                      <a:round/>
                      <a:headEnd type="none" w="med" len="med"/>
                      <a:tailEnd type="none" w="med" len="med"/>
                    </a:lnT>
                    <a:lnB w="12700" cap="flat" cmpd="sng" algn="ctr">
                      <a:solidFill>
                        <a:srgbClr val="D7DCE1"/>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00000"/>
                          </a:solidFill>
                          <a:latin typeface="Times New Roman" pitchFamily="34" charset="0"/>
                          <a:ea typeface="Times New Roman" pitchFamily="34" charset="-122"/>
                          <a:cs typeface="Times New Roman" pitchFamily="34" charset="-120"/>
                        </a:rPr>
                        <a:t>0.8094</a:t>
                      </a:r>
                      <a:endParaRPr lang="en-US" sz="1600" dirty="0">
                        <a:latin typeface="Times New Roman" charset="0"/>
                        <a:ea typeface="Times New Roman" charset="0"/>
                        <a:cs typeface="Times New Roman" charset="0"/>
                      </a:endParaRPr>
                    </a:p>
                  </a:txBody>
                  <a:tcPr marL="109728" marR="109728" marT="27432" marB="27432" anchor="ctr">
                    <a:lnL w="12700" cap="flat" cmpd="sng" algn="ctr">
                      <a:solidFill>
                        <a:srgbClr val="D7DCE1"/>
                      </a:solidFill>
                      <a:prstDash val="solid"/>
                      <a:round/>
                      <a:headEnd type="none" w="med" len="med"/>
                      <a:tailEnd type="none" w="med" len="med"/>
                    </a:lnL>
                    <a:lnR w="12700" cap="flat" cmpd="sng" algn="ctr">
                      <a:solidFill>
                        <a:srgbClr val="D7DCE1"/>
                      </a:solidFill>
                      <a:prstDash val="solid"/>
                      <a:round/>
                      <a:headEnd type="none" w="med" len="med"/>
                      <a:tailEnd type="none" w="med" len="med"/>
                    </a:lnR>
                    <a:lnT w="12700" cap="flat" cmpd="sng" algn="ctr">
                      <a:solidFill>
                        <a:srgbClr val="D7DCE1"/>
                      </a:solidFill>
                      <a:prstDash val="solid"/>
                      <a:round/>
                      <a:headEnd type="none" w="med" len="med"/>
                      <a:tailEnd type="none" w="med" len="med"/>
                    </a:lnT>
                    <a:lnB w="12700" cap="flat" cmpd="sng" algn="ctr">
                      <a:solidFill>
                        <a:srgbClr val="D7DCE1"/>
                      </a:solidFill>
                      <a:prstDash val="solid"/>
                      <a:round/>
                      <a:headEnd type="none" w="med" len="med"/>
                      <a:tailEnd type="none" w="med" len="med"/>
                    </a:lnB>
                    <a:solidFill>
                      <a:srgbClr val="FFFFFF"/>
                    </a:solidFill>
                  </a:tcPr>
                </a:tc>
              </a:tr>
              <a:tr h="457200">
                <a:tc>
                  <a:txBody>
                    <a:bodyPr/>
                    <a:lstStyle/>
                    <a:p>
                      <a:pPr marL="0" indent="0" algn="l">
                        <a:buNone/>
                      </a:pPr>
                      <a:r>
                        <a:rPr lang="en-US" sz="1600" dirty="0">
                          <a:solidFill>
                            <a:srgbClr val="000000"/>
                          </a:solidFill>
                          <a:latin typeface="Times New Roman" pitchFamily="34" charset="0"/>
                          <a:ea typeface="Times New Roman" pitchFamily="34" charset="-122"/>
                          <a:cs typeface="Times New Roman" pitchFamily="34" charset="-120"/>
                        </a:rPr>
                        <a:t>Decision Tree</a:t>
                      </a:r>
                      <a:endParaRPr lang="en-US" sz="1600" dirty="0">
                        <a:latin typeface="Times New Roman" charset="0"/>
                        <a:ea typeface="Times New Roman" charset="0"/>
                        <a:cs typeface="Times New Roman" charset="0"/>
                      </a:endParaRPr>
                    </a:p>
                  </a:txBody>
                  <a:tcPr marL="109728" marR="109728" marT="27432" marB="27432" anchor="ctr">
                    <a:lnL w="12700" cap="flat" cmpd="sng" algn="ctr">
                      <a:solidFill>
                        <a:srgbClr val="D7DCE1"/>
                      </a:solidFill>
                      <a:prstDash val="solid"/>
                      <a:round/>
                      <a:headEnd type="none" w="med" len="med"/>
                      <a:tailEnd type="none" w="med" len="med"/>
                    </a:lnL>
                    <a:lnR w="12700" cap="flat" cmpd="sng" algn="ctr">
                      <a:solidFill>
                        <a:srgbClr val="D7DCE1"/>
                      </a:solidFill>
                      <a:prstDash val="solid"/>
                      <a:round/>
                      <a:headEnd type="none" w="med" len="med"/>
                      <a:tailEnd type="none" w="med" len="med"/>
                    </a:lnR>
                    <a:lnT w="12700" cap="flat" cmpd="sng" algn="ctr">
                      <a:solidFill>
                        <a:srgbClr val="D7DCE1"/>
                      </a:solidFill>
                      <a:prstDash val="solid"/>
                      <a:round/>
                      <a:headEnd type="none" w="med" len="med"/>
                      <a:tailEnd type="none" w="med" len="med"/>
                    </a:lnT>
                    <a:lnB w="12700" cap="flat" cmpd="sng" algn="ctr">
                      <a:solidFill>
                        <a:srgbClr val="D7DCE1"/>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00000"/>
                          </a:solidFill>
                          <a:latin typeface="Times New Roman" pitchFamily="34" charset="0"/>
                          <a:ea typeface="Times New Roman" pitchFamily="34" charset="-122"/>
                          <a:cs typeface="Times New Roman" pitchFamily="34" charset="-120"/>
                        </a:rPr>
                        <a:t>0.8109</a:t>
                      </a:r>
                      <a:endParaRPr lang="en-US" sz="1600" dirty="0">
                        <a:latin typeface="Times New Roman" charset="0"/>
                        <a:ea typeface="Times New Roman" charset="0"/>
                        <a:cs typeface="Times New Roman" charset="0"/>
                      </a:endParaRPr>
                    </a:p>
                  </a:txBody>
                  <a:tcPr marL="109728" marR="109728" marT="27432" marB="27432" anchor="ctr">
                    <a:lnL w="12700" cap="flat" cmpd="sng" algn="ctr">
                      <a:solidFill>
                        <a:srgbClr val="D7DCE1"/>
                      </a:solidFill>
                      <a:prstDash val="solid"/>
                      <a:round/>
                      <a:headEnd type="none" w="med" len="med"/>
                      <a:tailEnd type="none" w="med" len="med"/>
                    </a:lnL>
                    <a:lnR w="12700" cap="flat" cmpd="sng" algn="ctr">
                      <a:solidFill>
                        <a:srgbClr val="D7DCE1"/>
                      </a:solidFill>
                      <a:prstDash val="solid"/>
                      <a:round/>
                      <a:headEnd type="none" w="med" len="med"/>
                      <a:tailEnd type="none" w="med" len="med"/>
                    </a:lnR>
                    <a:lnT w="12700" cap="flat" cmpd="sng" algn="ctr">
                      <a:solidFill>
                        <a:srgbClr val="D7DCE1"/>
                      </a:solidFill>
                      <a:prstDash val="solid"/>
                      <a:round/>
                      <a:headEnd type="none" w="med" len="med"/>
                      <a:tailEnd type="none" w="med" len="med"/>
                    </a:lnT>
                    <a:lnB w="12700" cap="flat" cmpd="sng" algn="ctr">
                      <a:solidFill>
                        <a:srgbClr val="D7DCE1"/>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00000"/>
                          </a:solidFill>
                          <a:latin typeface="Times New Roman" pitchFamily="34" charset="0"/>
                          <a:ea typeface="Times New Roman" pitchFamily="34" charset="-122"/>
                          <a:cs typeface="Times New Roman" pitchFamily="34" charset="-120"/>
                        </a:rPr>
                        <a:t>0.79</a:t>
                      </a:r>
                      <a:endParaRPr lang="en-US" sz="1600" dirty="0">
                        <a:latin typeface="Times New Roman" charset="0"/>
                        <a:ea typeface="Times New Roman" charset="0"/>
                        <a:cs typeface="Times New Roman" charset="0"/>
                      </a:endParaRPr>
                    </a:p>
                  </a:txBody>
                  <a:tcPr marL="109728" marR="109728" marT="27432" marB="27432" anchor="ctr">
                    <a:lnL w="12700" cap="flat" cmpd="sng" algn="ctr">
                      <a:solidFill>
                        <a:srgbClr val="D7DCE1"/>
                      </a:solidFill>
                      <a:prstDash val="solid"/>
                      <a:round/>
                      <a:headEnd type="none" w="med" len="med"/>
                      <a:tailEnd type="none" w="med" len="med"/>
                    </a:lnL>
                    <a:lnR w="12700" cap="flat" cmpd="sng" algn="ctr">
                      <a:solidFill>
                        <a:srgbClr val="D7DCE1"/>
                      </a:solidFill>
                      <a:prstDash val="solid"/>
                      <a:round/>
                      <a:headEnd type="none" w="med" len="med"/>
                      <a:tailEnd type="none" w="med" len="med"/>
                    </a:lnR>
                    <a:lnT w="12700" cap="flat" cmpd="sng" algn="ctr">
                      <a:solidFill>
                        <a:srgbClr val="D7DCE1"/>
                      </a:solidFill>
                      <a:prstDash val="solid"/>
                      <a:round/>
                      <a:headEnd type="none" w="med" len="med"/>
                      <a:tailEnd type="none" w="med" len="med"/>
                    </a:lnT>
                    <a:lnB w="12700" cap="flat" cmpd="sng" algn="ctr">
                      <a:solidFill>
                        <a:srgbClr val="D7DCE1"/>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00000"/>
                          </a:solidFill>
                          <a:latin typeface="Times New Roman" pitchFamily="34" charset="0"/>
                          <a:ea typeface="Times New Roman" pitchFamily="34" charset="-122"/>
                          <a:cs typeface="Times New Roman" pitchFamily="34" charset="-120"/>
                        </a:rPr>
                        <a:t>0.81</a:t>
                      </a:r>
                      <a:endParaRPr lang="en-US" sz="1600" dirty="0">
                        <a:latin typeface="Times New Roman" charset="0"/>
                        <a:ea typeface="Times New Roman" charset="0"/>
                        <a:cs typeface="Times New Roman" charset="0"/>
                      </a:endParaRPr>
                    </a:p>
                  </a:txBody>
                  <a:tcPr marL="109728" marR="109728" marT="27432" marB="27432" anchor="ctr">
                    <a:lnL w="12700" cap="flat" cmpd="sng" algn="ctr">
                      <a:solidFill>
                        <a:srgbClr val="D7DCE1"/>
                      </a:solidFill>
                      <a:prstDash val="solid"/>
                      <a:round/>
                      <a:headEnd type="none" w="med" len="med"/>
                      <a:tailEnd type="none" w="med" len="med"/>
                    </a:lnL>
                    <a:lnR w="12700" cap="flat" cmpd="sng" algn="ctr">
                      <a:solidFill>
                        <a:srgbClr val="D7DCE1"/>
                      </a:solidFill>
                      <a:prstDash val="solid"/>
                      <a:round/>
                      <a:headEnd type="none" w="med" len="med"/>
                      <a:tailEnd type="none" w="med" len="med"/>
                    </a:lnR>
                    <a:lnT w="12700" cap="flat" cmpd="sng" algn="ctr">
                      <a:solidFill>
                        <a:srgbClr val="D7DCE1"/>
                      </a:solidFill>
                      <a:prstDash val="solid"/>
                      <a:round/>
                      <a:headEnd type="none" w="med" len="med"/>
                      <a:tailEnd type="none" w="med" len="med"/>
                    </a:lnT>
                    <a:lnB w="12700" cap="flat" cmpd="sng" algn="ctr">
                      <a:solidFill>
                        <a:srgbClr val="D7DCE1"/>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00000"/>
                          </a:solidFill>
                          <a:latin typeface="Times New Roman" pitchFamily="34" charset="0"/>
                          <a:ea typeface="Times New Roman" pitchFamily="34" charset="-122"/>
                          <a:cs typeface="Times New Roman" pitchFamily="34" charset="-120"/>
                        </a:rPr>
                        <a:t>0.78</a:t>
                      </a:r>
                      <a:endParaRPr lang="en-US" sz="1600" dirty="0">
                        <a:latin typeface="Times New Roman" charset="0"/>
                        <a:ea typeface="Times New Roman" charset="0"/>
                        <a:cs typeface="Times New Roman" charset="0"/>
                      </a:endParaRPr>
                    </a:p>
                  </a:txBody>
                  <a:tcPr marL="109728" marR="109728" marT="27432" marB="27432" anchor="ctr">
                    <a:lnL w="12700" cap="flat" cmpd="sng" algn="ctr">
                      <a:solidFill>
                        <a:srgbClr val="D7DCE1"/>
                      </a:solidFill>
                      <a:prstDash val="solid"/>
                      <a:round/>
                      <a:headEnd type="none" w="med" len="med"/>
                      <a:tailEnd type="none" w="med" len="med"/>
                    </a:lnL>
                    <a:lnR w="12700" cap="flat" cmpd="sng" algn="ctr">
                      <a:solidFill>
                        <a:srgbClr val="D7DCE1"/>
                      </a:solidFill>
                      <a:prstDash val="solid"/>
                      <a:round/>
                      <a:headEnd type="none" w="med" len="med"/>
                      <a:tailEnd type="none" w="med" len="med"/>
                    </a:lnR>
                    <a:lnT w="12700" cap="flat" cmpd="sng" algn="ctr">
                      <a:solidFill>
                        <a:srgbClr val="D7DCE1"/>
                      </a:solidFill>
                      <a:prstDash val="solid"/>
                      <a:round/>
                      <a:headEnd type="none" w="med" len="med"/>
                      <a:tailEnd type="none" w="med" len="med"/>
                    </a:lnT>
                    <a:lnB w="12700" cap="flat" cmpd="sng" algn="ctr">
                      <a:solidFill>
                        <a:srgbClr val="D7DCE1"/>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00000"/>
                          </a:solidFill>
                          <a:latin typeface="Times New Roman" pitchFamily="34" charset="0"/>
                          <a:ea typeface="Times New Roman" pitchFamily="34" charset="-122"/>
                          <a:cs typeface="Times New Roman" pitchFamily="34" charset="-120"/>
                        </a:rPr>
                        <a:t>n/r</a:t>
                      </a:r>
                      <a:endParaRPr lang="en-US" sz="1600" dirty="0">
                        <a:latin typeface="Times New Roman" charset="0"/>
                        <a:ea typeface="Times New Roman" charset="0"/>
                        <a:cs typeface="Times New Roman" charset="0"/>
                      </a:endParaRPr>
                    </a:p>
                  </a:txBody>
                  <a:tcPr marL="109728" marR="109728" marT="27432" marB="27432" anchor="ctr">
                    <a:lnL w="12700" cap="flat" cmpd="sng" algn="ctr">
                      <a:solidFill>
                        <a:srgbClr val="D7DCE1"/>
                      </a:solidFill>
                      <a:prstDash val="solid"/>
                      <a:round/>
                      <a:headEnd type="none" w="med" len="med"/>
                      <a:tailEnd type="none" w="med" len="med"/>
                    </a:lnL>
                    <a:lnR w="12700" cap="flat" cmpd="sng" algn="ctr">
                      <a:solidFill>
                        <a:srgbClr val="D7DCE1"/>
                      </a:solidFill>
                      <a:prstDash val="solid"/>
                      <a:round/>
                      <a:headEnd type="none" w="med" len="med"/>
                      <a:tailEnd type="none" w="med" len="med"/>
                    </a:lnR>
                    <a:lnT w="12700" cap="flat" cmpd="sng" algn="ctr">
                      <a:solidFill>
                        <a:srgbClr val="D7DCE1"/>
                      </a:solidFill>
                      <a:prstDash val="solid"/>
                      <a:round/>
                      <a:headEnd type="none" w="med" len="med"/>
                      <a:tailEnd type="none" w="med" len="med"/>
                    </a:lnT>
                    <a:lnB w="12700" cap="flat" cmpd="sng" algn="ctr">
                      <a:solidFill>
                        <a:srgbClr val="D7DCE1"/>
                      </a:solidFill>
                      <a:prstDash val="solid"/>
                      <a:round/>
                      <a:headEnd type="none" w="med" len="med"/>
                      <a:tailEnd type="none" w="med" len="med"/>
                    </a:lnB>
                    <a:solidFill>
                      <a:srgbClr val="FFFFFF"/>
                    </a:solidFill>
                  </a:tcPr>
                </a:tc>
              </a:tr>
              <a:tr h="457200">
                <a:tc>
                  <a:txBody>
                    <a:bodyPr/>
                    <a:lstStyle/>
                    <a:p>
                      <a:pPr marL="0" indent="0" algn="l">
                        <a:buNone/>
                      </a:pPr>
                      <a:r>
                        <a:rPr lang="en-US" sz="1600" dirty="0">
                          <a:solidFill>
                            <a:srgbClr val="000000"/>
                          </a:solidFill>
                          <a:latin typeface="Times New Roman" pitchFamily="34" charset="0"/>
                          <a:ea typeface="Times New Roman" pitchFamily="34" charset="-122"/>
                          <a:cs typeface="Times New Roman" pitchFamily="34" charset="-120"/>
                        </a:rPr>
                        <a:t>Random Forest</a:t>
                      </a:r>
                      <a:endParaRPr lang="en-US" sz="1600" dirty="0">
                        <a:latin typeface="Times New Roman" charset="0"/>
                        <a:ea typeface="Times New Roman" charset="0"/>
                        <a:cs typeface="Times New Roman" charset="0"/>
                      </a:endParaRPr>
                    </a:p>
                  </a:txBody>
                  <a:tcPr marL="109728" marR="109728" marT="27432" marB="27432" anchor="ctr">
                    <a:lnL w="12700" cap="flat" cmpd="sng" algn="ctr">
                      <a:solidFill>
                        <a:srgbClr val="D7DCE1"/>
                      </a:solidFill>
                      <a:prstDash val="solid"/>
                      <a:round/>
                      <a:headEnd type="none" w="med" len="med"/>
                      <a:tailEnd type="none" w="med" len="med"/>
                    </a:lnL>
                    <a:lnR w="12700" cap="flat" cmpd="sng" algn="ctr">
                      <a:solidFill>
                        <a:srgbClr val="D7DCE1"/>
                      </a:solidFill>
                      <a:prstDash val="solid"/>
                      <a:round/>
                      <a:headEnd type="none" w="med" len="med"/>
                      <a:tailEnd type="none" w="med" len="med"/>
                    </a:lnR>
                    <a:lnT w="12700" cap="flat" cmpd="sng" algn="ctr">
                      <a:solidFill>
                        <a:srgbClr val="D7DCE1"/>
                      </a:solidFill>
                      <a:prstDash val="solid"/>
                      <a:round/>
                      <a:headEnd type="none" w="med" len="med"/>
                      <a:tailEnd type="none" w="med" len="med"/>
                    </a:lnT>
                    <a:lnB w="12700" cap="flat" cmpd="sng" algn="ctr">
                      <a:solidFill>
                        <a:srgbClr val="D7DCE1"/>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00000"/>
                          </a:solidFill>
                          <a:latin typeface="Times New Roman" pitchFamily="34" charset="0"/>
                          <a:ea typeface="Times New Roman" pitchFamily="34" charset="-122"/>
                          <a:cs typeface="Times New Roman" pitchFamily="34" charset="-120"/>
                        </a:rPr>
                        <a:t>0.8138</a:t>
                      </a:r>
                      <a:endParaRPr lang="en-US" sz="1600" dirty="0">
                        <a:latin typeface="Times New Roman" charset="0"/>
                        <a:ea typeface="Times New Roman" charset="0"/>
                        <a:cs typeface="Times New Roman" charset="0"/>
                      </a:endParaRPr>
                    </a:p>
                  </a:txBody>
                  <a:tcPr marL="109728" marR="109728" marT="27432" marB="27432" anchor="ctr">
                    <a:lnL w="12700" cap="flat" cmpd="sng" algn="ctr">
                      <a:solidFill>
                        <a:srgbClr val="D7DCE1"/>
                      </a:solidFill>
                      <a:prstDash val="solid"/>
                      <a:round/>
                      <a:headEnd type="none" w="med" len="med"/>
                      <a:tailEnd type="none" w="med" len="med"/>
                    </a:lnL>
                    <a:lnR w="12700" cap="flat" cmpd="sng" algn="ctr">
                      <a:solidFill>
                        <a:srgbClr val="D7DCE1"/>
                      </a:solidFill>
                      <a:prstDash val="solid"/>
                      <a:round/>
                      <a:headEnd type="none" w="med" len="med"/>
                      <a:tailEnd type="none" w="med" len="med"/>
                    </a:lnR>
                    <a:lnT w="12700" cap="flat" cmpd="sng" algn="ctr">
                      <a:solidFill>
                        <a:srgbClr val="D7DCE1"/>
                      </a:solidFill>
                      <a:prstDash val="solid"/>
                      <a:round/>
                      <a:headEnd type="none" w="med" len="med"/>
                      <a:tailEnd type="none" w="med" len="med"/>
                    </a:lnT>
                    <a:lnB w="12700" cap="flat" cmpd="sng" algn="ctr">
                      <a:solidFill>
                        <a:srgbClr val="D7DCE1"/>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00000"/>
                          </a:solidFill>
                          <a:latin typeface="Times New Roman" pitchFamily="34" charset="0"/>
                          <a:ea typeface="Times New Roman" pitchFamily="34" charset="-122"/>
                          <a:cs typeface="Times New Roman" pitchFamily="34" charset="-120"/>
                        </a:rPr>
                        <a:t>0.79</a:t>
                      </a:r>
                      <a:endParaRPr lang="en-US" sz="1600" dirty="0">
                        <a:latin typeface="Times New Roman" charset="0"/>
                        <a:ea typeface="Times New Roman" charset="0"/>
                        <a:cs typeface="Times New Roman" charset="0"/>
                      </a:endParaRPr>
                    </a:p>
                  </a:txBody>
                  <a:tcPr marL="109728" marR="109728" marT="27432" marB="27432" anchor="ctr">
                    <a:lnL w="12700" cap="flat" cmpd="sng" algn="ctr">
                      <a:solidFill>
                        <a:srgbClr val="D7DCE1"/>
                      </a:solidFill>
                      <a:prstDash val="solid"/>
                      <a:round/>
                      <a:headEnd type="none" w="med" len="med"/>
                      <a:tailEnd type="none" w="med" len="med"/>
                    </a:lnL>
                    <a:lnR w="12700" cap="flat" cmpd="sng" algn="ctr">
                      <a:solidFill>
                        <a:srgbClr val="D7DCE1"/>
                      </a:solidFill>
                      <a:prstDash val="solid"/>
                      <a:round/>
                      <a:headEnd type="none" w="med" len="med"/>
                      <a:tailEnd type="none" w="med" len="med"/>
                    </a:lnR>
                    <a:lnT w="12700" cap="flat" cmpd="sng" algn="ctr">
                      <a:solidFill>
                        <a:srgbClr val="D7DCE1"/>
                      </a:solidFill>
                      <a:prstDash val="solid"/>
                      <a:round/>
                      <a:headEnd type="none" w="med" len="med"/>
                      <a:tailEnd type="none" w="med" len="med"/>
                    </a:lnT>
                    <a:lnB w="12700" cap="flat" cmpd="sng" algn="ctr">
                      <a:solidFill>
                        <a:srgbClr val="D7DCE1"/>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00000"/>
                          </a:solidFill>
                          <a:latin typeface="Times New Roman" pitchFamily="34" charset="0"/>
                          <a:ea typeface="Times New Roman" pitchFamily="34" charset="-122"/>
                          <a:cs typeface="Times New Roman" pitchFamily="34" charset="-120"/>
                        </a:rPr>
                        <a:t>0.81</a:t>
                      </a:r>
                      <a:endParaRPr lang="en-US" sz="1600" dirty="0">
                        <a:latin typeface="Times New Roman" charset="0"/>
                        <a:ea typeface="Times New Roman" charset="0"/>
                        <a:cs typeface="Times New Roman" charset="0"/>
                      </a:endParaRPr>
                    </a:p>
                  </a:txBody>
                  <a:tcPr marL="109728" marR="109728" marT="27432" marB="27432" anchor="ctr">
                    <a:lnL w="12700" cap="flat" cmpd="sng" algn="ctr">
                      <a:solidFill>
                        <a:srgbClr val="D7DCE1"/>
                      </a:solidFill>
                      <a:prstDash val="solid"/>
                      <a:round/>
                      <a:headEnd type="none" w="med" len="med"/>
                      <a:tailEnd type="none" w="med" len="med"/>
                    </a:lnL>
                    <a:lnR w="12700" cap="flat" cmpd="sng" algn="ctr">
                      <a:solidFill>
                        <a:srgbClr val="D7DCE1"/>
                      </a:solidFill>
                      <a:prstDash val="solid"/>
                      <a:round/>
                      <a:headEnd type="none" w="med" len="med"/>
                      <a:tailEnd type="none" w="med" len="med"/>
                    </a:lnR>
                    <a:lnT w="12700" cap="flat" cmpd="sng" algn="ctr">
                      <a:solidFill>
                        <a:srgbClr val="D7DCE1"/>
                      </a:solidFill>
                      <a:prstDash val="solid"/>
                      <a:round/>
                      <a:headEnd type="none" w="med" len="med"/>
                      <a:tailEnd type="none" w="med" len="med"/>
                    </a:lnT>
                    <a:lnB w="12700" cap="flat" cmpd="sng" algn="ctr">
                      <a:solidFill>
                        <a:srgbClr val="D7DCE1"/>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00000"/>
                          </a:solidFill>
                          <a:latin typeface="Times New Roman" pitchFamily="34" charset="0"/>
                          <a:ea typeface="Times New Roman" pitchFamily="34" charset="-122"/>
                          <a:cs typeface="Times New Roman" pitchFamily="34" charset="-120"/>
                        </a:rPr>
                        <a:t>0.79</a:t>
                      </a:r>
                      <a:endParaRPr lang="en-US" sz="1600" dirty="0">
                        <a:latin typeface="Times New Roman" charset="0"/>
                        <a:ea typeface="Times New Roman" charset="0"/>
                        <a:cs typeface="Times New Roman" charset="0"/>
                      </a:endParaRPr>
                    </a:p>
                  </a:txBody>
                  <a:tcPr marL="109728" marR="109728" marT="27432" marB="27432" anchor="ctr">
                    <a:lnL w="12700" cap="flat" cmpd="sng" algn="ctr">
                      <a:solidFill>
                        <a:srgbClr val="D7DCE1"/>
                      </a:solidFill>
                      <a:prstDash val="solid"/>
                      <a:round/>
                      <a:headEnd type="none" w="med" len="med"/>
                      <a:tailEnd type="none" w="med" len="med"/>
                    </a:lnL>
                    <a:lnR w="12700" cap="flat" cmpd="sng" algn="ctr">
                      <a:solidFill>
                        <a:srgbClr val="D7DCE1"/>
                      </a:solidFill>
                      <a:prstDash val="solid"/>
                      <a:round/>
                      <a:headEnd type="none" w="med" len="med"/>
                      <a:tailEnd type="none" w="med" len="med"/>
                    </a:lnR>
                    <a:lnT w="12700" cap="flat" cmpd="sng" algn="ctr">
                      <a:solidFill>
                        <a:srgbClr val="D7DCE1"/>
                      </a:solidFill>
                      <a:prstDash val="solid"/>
                      <a:round/>
                      <a:headEnd type="none" w="med" len="med"/>
                      <a:tailEnd type="none" w="med" len="med"/>
                    </a:lnT>
                    <a:lnB w="12700" cap="flat" cmpd="sng" algn="ctr">
                      <a:solidFill>
                        <a:srgbClr val="D7DCE1"/>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00000"/>
                          </a:solidFill>
                          <a:latin typeface="Times New Roman" pitchFamily="34" charset="0"/>
                          <a:ea typeface="Times New Roman" pitchFamily="34" charset="-122"/>
                          <a:cs typeface="Times New Roman" pitchFamily="34" charset="-120"/>
                        </a:rPr>
                        <a:t>n/r</a:t>
                      </a:r>
                      <a:endParaRPr lang="en-US" sz="1600" dirty="0">
                        <a:latin typeface="Times New Roman" charset="0"/>
                        <a:ea typeface="Times New Roman" charset="0"/>
                        <a:cs typeface="Times New Roman" charset="0"/>
                      </a:endParaRPr>
                    </a:p>
                  </a:txBody>
                  <a:tcPr marL="109728" marR="109728" marT="27432" marB="27432" anchor="ctr">
                    <a:lnL w="12700" cap="flat" cmpd="sng" algn="ctr">
                      <a:solidFill>
                        <a:srgbClr val="D7DCE1"/>
                      </a:solidFill>
                      <a:prstDash val="solid"/>
                      <a:round/>
                      <a:headEnd type="none" w="med" len="med"/>
                      <a:tailEnd type="none" w="med" len="med"/>
                    </a:lnL>
                    <a:lnR w="12700" cap="flat" cmpd="sng" algn="ctr">
                      <a:solidFill>
                        <a:srgbClr val="D7DCE1"/>
                      </a:solidFill>
                      <a:prstDash val="solid"/>
                      <a:round/>
                      <a:headEnd type="none" w="med" len="med"/>
                      <a:tailEnd type="none" w="med" len="med"/>
                    </a:lnR>
                    <a:lnT w="12700" cap="flat" cmpd="sng" algn="ctr">
                      <a:solidFill>
                        <a:srgbClr val="D7DCE1"/>
                      </a:solidFill>
                      <a:prstDash val="solid"/>
                      <a:round/>
                      <a:headEnd type="none" w="med" len="med"/>
                      <a:tailEnd type="none" w="med" len="med"/>
                    </a:lnT>
                    <a:lnB w="12700" cap="flat" cmpd="sng" algn="ctr">
                      <a:solidFill>
                        <a:srgbClr val="D7DCE1"/>
                      </a:solidFill>
                      <a:prstDash val="solid"/>
                      <a:round/>
                      <a:headEnd type="none" w="med" len="med"/>
                      <a:tailEnd type="none" w="med" len="med"/>
                    </a:lnB>
                    <a:solidFill>
                      <a:srgbClr val="FFFFFF"/>
                    </a:solidFill>
                  </a:tcPr>
                </a:tc>
              </a:tr>
              <a:tr h="457200">
                <a:tc>
                  <a:txBody>
                    <a:bodyPr/>
                    <a:lstStyle/>
                    <a:p>
                      <a:pPr marL="0" indent="0" algn="l">
                        <a:buNone/>
                      </a:pPr>
                      <a:r>
                        <a:rPr lang="en-US" sz="1600" b="1" dirty="0">
                          <a:solidFill>
                            <a:srgbClr val="000000"/>
                          </a:solidFill>
                          <a:latin typeface="Times New Roman" pitchFamily="34" charset="0"/>
                          <a:ea typeface="Times New Roman" pitchFamily="34" charset="-122"/>
                          <a:cs typeface="Times New Roman" pitchFamily="34" charset="-120"/>
                        </a:rPr>
                        <a:t>XGBoost (selected)</a:t>
                      </a:r>
                      <a:endParaRPr lang="en-US" sz="1600" dirty="0">
                        <a:latin typeface="Times New Roman" charset="0"/>
                        <a:ea typeface="Times New Roman" charset="0"/>
                        <a:cs typeface="Times New Roman" charset="0"/>
                      </a:endParaRPr>
                    </a:p>
                  </a:txBody>
                  <a:tcPr marL="109728" marR="109728" marT="27432" marB="27432" anchor="ctr">
                    <a:lnL w="12700" cap="flat" cmpd="sng" algn="ctr">
                      <a:solidFill>
                        <a:srgbClr val="D7DCE1"/>
                      </a:solidFill>
                      <a:prstDash val="solid"/>
                      <a:round/>
                      <a:headEnd type="none" w="med" len="med"/>
                      <a:tailEnd type="none" w="med" len="med"/>
                    </a:lnL>
                    <a:lnR w="12700" cap="flat" cmpd="sng" algn="ctr">
                      <a:solidFill>
                        <a:srgbClr val="D7DCE1"/>
                      </a:solidFill>
                      <a:prstDash val="solid"/>
                      <a:round/>
                      <a:headEnd type="none" w="med" len="med"/>
                      <a:tailEnd type="none" w="med" len="med"/>
                    </a:lnR>
                    <a:lnT w="12700" cap="flat" cmpd="sng" algn="ctr">
                      <a:solidFill>
                        <a:srgbClr val="D7DCE1"/>
                      </a:solidFill>
                      <a:prstDash val="solid"/>
                      <a:round/>
                      <a:headEnd type="none" w="med" len="med"/>
                      <a:tailEnd type="none" w="med" len="med"/>
                    </a:lnT>
                    <a:lnB w="12700" cap="flat" cmpd="sng" algn="ctr">
                      <a:solidFill>
                        <a:srgbClr val="D7DCE1"/>
                      </a:solidFill>
                      <a:prstDash val="solid"/>
                      <a:round/>
                      <a:headEnd type="none" w="med" len="med"/>
                      <a:tailEnd type="none" w="med" len="med"/>
                    </a:lnB>
                    <a:solidFill>
                      <a:srgbClr val="E7EBEF"/>
                    </a:solidFill>
                  </a:tcPr>
                </a:tc>
                <a:tc>
                  <a:txBody>
                    <a:bodyPr/>
                    <a:lstStyle/>
                    <a:p>
                      <a:pPr marL="0" indent="0" algn="ctr">
                        <a:buNone/>
                      </a:pPr>
                      <a:r>
                        <a:rPr lang="en-US" sz="1600" b="1" dirty="0">
                          <a:solidFill>
                            <a:srgbClr val="000000"/>
                          </a:solidFill>
                          <a:latin typeface="Times New Roman" pitchFamily="34" charset="0"/>
                          <a:ea typeface="Times New Roman" pitchFamily="34" charset="-122"/>
                          <a:cs typeface="Times New Roman" pitchFamily="34" charset="-120"/>
                        </a:rPr>
                        <a:t>0.8170</a:t>
                      </a:r>
                      <a:endParaRPr lang="en-US" sz="1600" dirty="0">
                        <a:latin typeface="Times New Roman" charset="0"/>
                        <a:ea typeface="Times New Roman" charset="0"/>
                        <a:cs typeface="Times New Roman" charset="0"/>
                      </a:endParaRPr>
                    </a:p>
                  </a:txBody>
                  <a:tcPr marL="109728" marR="109728" marT="27432" marB="27432" anchor="ctr">
                    <a:lnL w="12700" cap="flat" cmpd="sng" algn="ctr">
                      <a:solidFill>
                        <a:srgbClr val="D7DCE1"/>
                      </a:solidFill>
                      <a:prstDash val="solid"/>
                      <a:round/>
                      <a:headEnd type="none" w="med" len="med"/>
                      <a:tailEnd type="none" w="med" len="med"/>
                    </a:lnL>
                    <a:lnR w="12700" cap="flat" cmpd="sng" algn="ctr">
                      <a:solidFill>
                        <a:srgbClr val="D7DCE1"/>
                      </a:solidFill>
                      <a:prstDash val="solid"/>
                      <a:round/>
                      <a:headEnd type="none" w="med" len="med"/>
                      <a:tailEnd type="none" w="med" len="med"/>
                    </a:lnR>
                    <a:lnT w="12700" cap="flat" cmpd="sng" algn="ctr">
                      <a:solidFill>
                        <a:srgbClr val="D7DCE1"/>
                      </a:solidFill>
                      <a:prstDash val="solid"/>
                      <a:round/>
                      <a:headEnd type="none" w="med" len="med"/>
                      <a:tailEnd type="none" w="med" len="med"/>
                    </a:lnT>
                    <a:lnB w="12700" cap="flat" cmpd="sng" algn="ctr">
                      <a:solidFill>
                        <a:srgbClr val="D7DCE1"/>
                      </a:solidFill>
                      <a:prstDash val="solid"/>
                      <a:round/>
                      <a:headEnd type="none" w="med" len="med"/>
                      <a:tailEnd type="none" w="med" len="med"/>
                    </a:lnB>
                    <a:solidFill>
                      <a:srgbClr val="E7EBEF"/>
                    </a:solidFill>
                  </a:tcPr>
                </a:tc>
                <a:tc>
                  <a:txBody>
                    <a:bodyPr/>
                    <a:lstStyle/>
                    <a:p>
                      <a:pPr marL="0" indent="0" algn="ctr">
                        <a:buNone/>
                      </a:pPr>
                      <a:r>
                        <a:rPr lang="en-US" sz="1600" b="1" dirty="0">
                          <a:solidFill>
                            <a:srgbClr val="000000"/>
                          </a:solidFill>
                          <a:latin typeface="Times New Roman" pitchFamily="34" charset="0"/>
                          <a:ea typeface="Times New Roman" pitchFamily="34" charset="-122"/>
                          <a:cs typeface="Times New Roman" pitchFamily="34" charset="-120"/>
                        </a:rPr>
                        <a:t>0.80</a:t>
                      </a:r>
                      <a:endParaRPr lang="en-US" sz="1600" dirty="0">
                        <a:latin typeface="Times New Roman" charset="0"/>
                        <a:ea typeface="Times New Roman" charset="0"/>
                        <a:cs typeface="Times New Roman" charset="0"/>
                      </a:endParaRPr>
                    </a:p>
                  </a:txBody>
                  <a:tcPr marL="109728" marR="109728" marT="27432" marB="27432" anchor="ctr">
                    <a:lnL w="12700" cap="flat" cmpd="sng" algn="ctr">
                      <a:solidFill>
                        <a:srgbClr val="D7DCE1"/>
                      </a:solidFill>
                      <a:prstDash val="solid"/>
                      <a:round/>
                      <a:headEnd type="none" w="med" len="med"/>
                      <a:tailEnd type="none" w="med" len="med"/>
                    </a:lnL>
                    <a:lnR w="12700" cap="flat" cmpd="sng" algn="ctr">
                      <a:solidFill>
                        <a:srgbClr val="D7DCE1"/>
                      </a:solidFill>
                      <a:prstDash val="solid"/>
                      <a:round/>
                      <a:headEnd type="none" w="med" len="med"/>
                      <a:tailEnd type="none" w="med" len="med"/>
                    </a:lnR>
                    <a:lnT w="12700" cap="flat" cmpd="sng" algn="ctr">
                      <a:solidFill>
                        <a:srgbClr val="D7DCE1"/>
                      </a:solidFill>
                      <a:prstDash val="solid"/>
                      <a:round/>
                      <a:headEnd type="none" w="med" len="med"/>
                      <a:tailEnd type="none" w="med" len="med"/>
                    </a:lnT>
                    <a:lnB w="12700" cap="flat" cmpd="sng" algn="ctr">
                      <a:solidFill>
                        <a:srgbClr val="D7DCE1"/>
                      </a:solidFill>
                      <a:prstDash val="solid"/>
                      <a:round/>
                      <a:headEnd type="none" w="med" len="med"/>
                      <a:tailEnd type="none" w="med" len="med"/>
                    </a:lnB>
                    <a:solidFill>
                      <a:srgbClr val="E7EBEF"/>
                    </a:solidFill>
                  </a:tcPr>
                </a:tc>
                <a:tc>
                  <a:txBody>
                    <a:bodyPr/>
                    <a:lstStyle/>
                    <a:p>
                      <a:pPr marL="0" indent="0" algn="ctr">
                        <a:buNone/>
                      </a:pPr>
                      <a:r>
                        <a:rPr lang="en-US" sz="1600" b="1" dirty="0">
                          <a:solidFill>
                            <a:srgbClr val="000000"/>
                          </a:solidFill>
                          <a:latin typeface="Times New Roman" pitchFamily="34" charset="0"/>
                          <a:ea typeface="Times New Roman" pitchFamily="34" charset="-122"/>
                          <a:cs typeface="Times New Roman" pitchFamily="34" charset="-120"/>
                        </a:rPr>
                        <a:t>0.82</a:t>
                      </a:r>
                      <a:endParaRPr lang="en-US" sz="1600" dirty="0">
                        <a:latin typeface="Times New Roman" charset="0"/>
                        <a:ea typeface="Times New Roman" charset="0"/>
                        <a:cs typeface="Times New Roman" charset="0"/>
                      </a:endParaRPr>
                    </a:p>
                  </a:txBody>
                  <a:tcPr marL="109728" marR="109728" marT="27432" marB="27432" anchor="ctr">
                    <a:lnL w="12700" cap="flat" cmpd="sng" algn="ctr">
                      <a:solidFill>
                        <a:srgbClr val="D7DCE1"/>
                      </a:solidFill>
                      <a:prstDash val="solid"/>
                      <a:round/>
                      <a:headEnd type="none" w="med" len="med"/>
                      <a:tailEnd type="none" w="med" len="med"/>
                    </a:lnL>
                    <a:lnR w="12700" cap="flat" cmpd="sng" algn="ctr">
                      <a:solidFill>
                        <a:srgbClr val="D7DCE1"/>
                      </a:solidFill>
                      <a:prstDash val="solid"/>
                      <a:round/>
                      <a:headEnd type="none" w="med" len="med"/>
                      <a:tailEnd type="none" w="med" len="med"/>
                    </a:lnR>
                    <a:lnT w="12700" cap="flat" cmpd="sng" algn="ctr">
                      <a:solidFill>
                        <a:srgbClr val="D7DCE1"/>
                      </a:solidFill>
                      <a:prstDash val="solid"/>
                      <a:round/>
                      <a:headEnd type="none" w="med" len="med"/>
                      <a:tailEnd type="none" w="med" len="med"/>
                    </a:lnT>
                    <a:lnB w="12700" cap="flat" cmpd="sng" algn="ctr">
                      <a:solidFill>
                        <a:srgbClr val="D7DCE1"/>
                      </a:solidFill>
                      <a:prstDash val="solid"/>
                      <a:round/>
                      <a:headEnd type="none" w="med" len="med"/>
                      <a:tailEnd type="none" w="med" len="med"/>
                    </a:lnB>
                    <a:solidFill>
                      <a:srgbClr val="E7EBEF"/>
                    </a:solidFill>
                  </a:tcPr>
                </a:tc>
                <a:tc>
                  <a:txBody>
                    <a:bodyPr/>
                    <a:lstStyle/>
                    <a:p>
                      <a:pPr marL="0" indent="0" algn="ctr">
                        <a:buNone/>
                      </a:pPr>
                      <a:r>
                        <a:rPr lang="en-US" sz="1600" b="1" dirty="0">
                          <a:solidFill>
                            <a:srgbClr val="000000"/>
                          </a:solidFill>
                          <a:latin typeface="Times New Roman" pitchFamily="34" charset="0"/>
                          <a:ea typeface="Times New Roman" pitchFamily="34" charset="-122"/>
                          <a:cs typeface="Times New Roman" pitchFamily="34" charset="-120"/>
                        </a:rPr>
                        <a:t>0.80</a:t>
                      </a:r>
                      <a:endParaRPr lang="en-US" sz="1600" dirty="0">
                        <a:latin typeface="Times New Roman" charset="0"/>
                        <a:ea typeface="Times New Roman" charset="0"/>
                        <a:cs typeface="Times New Roman" charset="0"/>
                      </a:endParaRPr>
                    </a:p>
                  </a:txBody>
                  <a:tcPr marL="109728" marR="109728" marT="27432" marB="27432" anchor="ctr">
                    <a:lnL w="12700" cap="flat" cmpd="sng" algn="ctr">
                      <a:solidFill>
                        <a:srgbClr val="D7DCE1"/>
                      </a:solidFill>
                      <a:prstDash val="solid"/>
                      <a:round/>
                      <a:headEnd type="none" w="med" len="med"/>
                      <a:tailEnd type="none" w="med" len="med"/>
                    </a:lnL>
                    <a:lnR w="12700" cap="flat" cmpd="sng" algn="ctr">
                      <a:solidFill>
                        <a:srgbClr val="D7DCE1"/>
                      </a:solidFill>
                      <a:prstDash val="solid"/>
                      <a:round/>
                      <a:headEnd type="none" w="med" len="med"/>
                      <a:tailEnd type="none" w="med" len="med"/>
                    </a:lnR>
                    <a:lnT w="12700" cap="flat" cmpd="sng" algn="ctr">
                      <a:solidFill>
                        <a:srgbClr val="D7DCE1"/>
                      </a:solidFill>
                      <a:prstDash val="solid"/>
                      <a:round/>
                      <a:headEnd type="none" w="med" len="med"/>
                      <a:tailEnd type="none" w="med" len="med"/>
                    </a:lnT>
                    <a:lnB w="12700" cap="flat" cmpd="sng" algn="ctr">
                      <a:solidFill>
                        <a:srgbClr val="D7DCE1"/>
                      </a:solidFill>
                      <a:prstDash val="solid"/>
                      <a:round/>
                      <a:headEnd type="none" w="med" len="med"/>
                      <a:tailEnd type="none" w="med" len="med"/>
                    </a:lnB>
                    <a:solidFill>
                      <a:srgbClr val="E7EBEF"/>
                    </a:solidFill>
                  </a:tcPr>
                </a:tc>
                <a:tc>
                  <a:txBody>
                    <a:bodyPr/>
                    <a:lstStyle/>
                    <a:p>
                      <a:pPr marL="0" indent="0" algn="ctr">
                        <a:buNone/>
                      </a:pPr>
                      <a:r>
                        <a:rPr lang="en-US" sz="1600" b="1" dirty="0">
                          <a:solidFill>
                            <a:srgbClr val="000000"/>
                          </a:solidFill>
                          <a:latin typeface="Times New Roman" pitchFamily="34" charset="0"/>
                          <a:ea typeface="Times New Roman" pitchFamily="34" charset="-122"/>
                          <a:cs typeface="Times New Roman" pitchFamily="34" charset="-120"/>
                        </a:rPr>
                        <a:t>0.8068</a:t>
                      </a:r>
                      <a:endParaRPr lang="en-US" sz="1600" dirty="0">
                        <a:latin typeface="Times New Roman" charset="0"/>
                        <a:ea typeface="Times New Roman" charset="0"/>
                        <a:cs typeface="Times New Roman" charset="0"/>
                      </a:endParaRPr>
                    </a:p>
                  </a:txBody>
                  <a:tcPr marL="109728" marR="109728" marT="27432" marB="27432" anchor="ctr">
                    <a:lnL w="12700" cap="flat" cmpd="sng" algn="ctr">
                      <a:solidFill>
                        <a:srgbClr val="D7DCE1"/>
                      </a:solidFill>
                      <a:prstDash val="solid"/>
                      <a:round/>
                      <a:headEnd type="none" w="med" len="med"/>
                      <a:tailEnd type="none" w="med" len="med"/>
                    </a:lnL>
                    <a:lnR w="12700" cap="flat" cmpd="sng" algn="ctr">
                      <a:solidFill>
                        <a:srgbClr val="D7DCE1"/>
                      </a:solidFill>
                      <a:prstDash val="solid"/>
                      <a:round/>
                      <a:headEnd type="none" w="med" len="med"/>
                      <a:tailEnd type="none" w="med" len="med"/>
                    </a:lnR>
                    <a:lnT w="12700" cap="flat" cmpd="sng" algn="ctr">
                      <a:solidFill>
                        <a:srgbClr val="D7DCE1"/>
                      </a:solidFill>
                      <a:prstDash val="solid"/>
                      <a:round/>
                      <a:headEnd type="none" w="med" len="med"/>
                      <a:tailEnd type="none" w="med" len="med"/>
                    </a:lnT>
                    <a:lnB w="12700" cap="flat" cmpd="sng" algn="ctr">
                      <a:solidFill>
                        <a:srgbClr val="D7DCE1"/>
                      </a:solidFill>
                      <a:prstDash val="solid"/>
                      <a:round/>
                      <a:headEnd type="none" w="med" len="med"/>
                      <a:tailEnd type="none" w="med" len="med"/>
                    </a:lnB>
                    <a:solidFill>
                      <a:srgbClr val="E7EBEF"/>
                    </a:solidFill>
                  </a:tcPr>
                </a:tc>
              </a:tr>
              <a:tr h="457200">
                <a:tc>
                  <a:txBody>
                    <a:bodyPr/>
                    <a:lstStyle/>
                    <a:p>
                      <a:pPr marL="0" indent="0" algn="l">
                        <a:buNone/>
                      </a:pPr>
                      <a:r>
                        <a:rPr lang="en-US" sz="1600" i="1" dirty="0">
                          <a:solidFill>
                            <a:srgbClr val="5B6B7C"/>
                          </a:solidFill>
                          <a:latin typeface="Times New Roman" pitchFamily="34" charset="0"/>
                          <a:ea typeface="Times New Roman" pitchFamily="34" charset="-122"/>
                          <a:cs typeface="Times New Roman" pitchFamily="34" charset="-120"/>
                        </a:rPr>
                        <a:t>Support Vector Machine</a:t>
                      </a:r>
                      <a:endParaRPr lang="en-US" sz="1600" dirty="0">
                        <a:latin typeface="Times New Roman" charset="0"/>
                        <a:ea typeface="Times New Roman" charset="0"/>
                        <a:cs typeface="Times New Roman" charset="0"/>
                      </a:endParaRPr>
                    </a:p>
                  </a:txBody>
                  <a:tcPr marL="109728" marR="109728" marT="27432" marB="27432" anchor="ctr">
                    <a:lnL w="12700" cap="flat" cmpd="sng" algn="ctr">
                      <a:solidFill>
                        <a:srgbClr val="D7DCE1"/>
                      </a:solidFill>
                      <a:prstDash val="solid"/>
                      <a:round/>
                      <a:headEnd type="none" w="med" len="med"/>
                      <a:tailEnd type="none" w="med" len="med"/>
                    </a:lnL>
                    <a:lnR w="12700" cap="flat" cmpd="sng" algn="ctr">
                      <a:solidFill>
                        <a:srgbClr val="D7DCE1"/>
                      </a:solidFill>
                      <a:prstDash val="solid"/>
                      <a:round/>
                      <a:headEnd type="none" w="med" len="med"/>
                      <a:tailEnd type="none" w="med" len="med"/>
                    </a:lnR>
                    <a:lnT w="12700" cap="flat" cmpd="sng" algn="ctr">
                      <a:solidFill>
                        <a:srgbClr val="D7DCE1"/>
                      </a:solidFill>
                      <a:prstDash val="solid"/>
                      <a:round/>
                      <a:headEnd type="none" w="med" len="med"/>
                      <a:tailEnd type="none" w="med" len="med"/>
                    </a:lnT>
                    <a:lnB w="12700" cap="flat" cmpd="sng" algn="ctr">
                      <a:solidFill>
                        <a:srgbClr val="D7DCE1"/>
                      </a:solidFill>
                      <a:prstDash val="solid"/>
                      <a:round/>
                      <a:headEnd type="none" w="med" len="med"/>
                      <a:tailEnd type="none" w="med" len="med"/>
                    </a:lnB>
                    <a:solidFill>
                      <a:srgbClr val="FFFFFF"/>
                    </a:solidFill>
                  </a:tcPr>
                </a:tc>
                <a:tc gridSpan="5">
                  <a:txBody>
                    <a:bodyPr/>
                    <a:lstStyle/>
                    <a:p>
                      <a:pPr marL="0" indent="0" algn="ctr">
                        <a:buNone/>
                      </a:pPr>
                      <a:r>
                        <a:rPr lang="en-US" sz="1600" i="1" dirty="0">
                          <a:solidFill>
                            <a:srgbClr val="5B6B7C"/>
                          </a:solidFill>
                          <a:latin typeface="Times New Roman" pitchFamily="34" charset="0"/>
                          <a:ea typeface="Times New Roman" pitchFamily="34" charset="-122"/>
                          <a:cs typeface="Times New Roman" pitchFamily="34" charset="-120"/>
                        </a:rPr>
                        <a:t>Not tested: too slow for 50,000 records</a:t>
                      </a:r>
                      <a:endParaRPr lang="en-US" sz="1600" dirty="0">
                        <a:latin typeface="Times New Roman" charset="0"/>
                        <a:ea typeface="Times New Roman" charset="0"/>
                        <a:cs typeface="Times New Roman" charset="0"/>
                      </a:endParaRPr>
                    </a:p>
                  </a:txBody>
                  <a:tcPr marL="109728" marR="109728" marT="27432" marB="27432" anchor="ctr">
                    <a:lnL w="12700" cap="flat" cmpd="sng" algn="ctr">
                      <a:solidFill>
                        <a:srgbClr val="D7DCE1"/>
                      </a:solidFill>
                      <a:prstDash val="solid"/>
                      <a:round/>
                      <a:headEnd type="none" w="med" len="med"/>
                      <a:tailEnd type="none" w="med" len="med"/>
                    </a:lnL>
                    <a:lnR w="12700" cap="flat" cmpd="sng" algn="ctr">
                      <a:solidFill>
                        <a:srgbClr val="D7DCE1"/>
                      </a:solidFill>
                      <a:prstDash val="solid"/>
                      <a:round/>
                      <a:headEnd type="none" w="med" len="med"/>
                      <a:tailEnd type="none" w="med" len="med"/>
                    </a:lnR>
                    <a:lnT w="12700" cap="flat" cmpd="sng" algn="ctr">
                      <a:solidFill>
                        <a:srgbClr val="D7DCE1"/>
                      </a:solidFill>
                      <a:prstDash val="solid"/>
                      <a:round/>
                      <a:headEnd type="none" w="med" len="med"/>
                      <a:tailEnd type="none" w="med" len="med"/>
                    </a:lnT>
                    <a:lnB w="12700" cap="flat" cmpd="sng" algn="ctr">
                      <a:solidFill>
                        <a:srgbClr val="D7DCE1"/>
                      </a:solidFill>
                      <a:prstDash val="solid"/>
                      <a:round/>
                      <a:headEnd type="none" w="med" len="med"/>
                      <a:tailEnd type="none" w="med" len="med"/>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r>
            </a:tbl>
          </a:graphicData>
        </a:graphic>
      </p:graphicFrame>
      <p:sp>
        <p:nvSpPr>
          <p:cNvPr id="5" name="Text 2"/>
          <p:cNvSpPr txBox="1"/>
          <p:nvPr/>
        </p:nvSpPr>
        <p:spPr>
          <a:xfrm>
            <a:off x="548640" y="4297680"/>
            <a:ext cx="11091672" cy="320040"/>
          </a:xfrm>
          <a:prstGeom prst="rect">
            <a:avLst/>
          </a:prstGeom>
          <a:noFill/>
          <a:ln/>
        </p:spPr>
        <p:txBody>
          <a:bodyPr wrap="square" lIns="0" tIns="0" rIns="0" bIns="0" rtlCol="0" anchor="t"/>
          <a:lstStyle/>
          <a:p>
            <a:pPr marL="0" indent="0">
              <a:buNone/>
            </a:pPr>
            <a:r>
              <a:rPr lang="en-US" sz="1400" i="1" dirty="0">
                <a:solidFill>
                  <a:srgbClr val="5B6B7C"/>
                </a:solidFill>
                <a:latin typeface="Times New Roman" pitchFamily="34" charset="0"/>
                <a:ea typeface="Times New Roman" pitchFamily="34" charset="-122"/>
                <a:cs typeface="Times New Roman" pitchFamily="34" charset="-120"/>
              </a:rPr>
              <a:t>Same split, same 18 features, threshold 0.50. *Weighted averages. n/r = not reported.</a:t>
            </a:r>
            <a:endParaRPr lang="en-US" sz="1400" dirty="0"/>
          </a:p>
        </p:txBody>
      </p:sp>
      <p:sp>
        <p:nvSpPr>
          <p:cNvPr id="6" name="Shape 3"/>
          <p:cNvSpPr/>
          <p:nvPr/>
        </p:nvSpPr>
        <p:spPr>
          <a:xfrm>
            <a:off x="548640" y="4754880"/>
            <a:ext cx="5440680" cy="1508760"/>
          </a:xfrm>
          <a:prstGeom prst="roundRect">
            <a:avLst>
              <a:gd name="adj" fmla="val 4242"/>
            </a:avLst>
          </a:prstGeom>
          <a:solidFill>
            <a:srgbClr val="F4F6F8"/>
          </a:solidFill>
          <a:ln w="12700">
            <a:solidFill>
              <a:srgbClr val="D7DCE1"/>
            </a:solidFill>
            <a:prstDash val="solid"/>
          </a:ln>
        </p:spPr>
      </p:sp>
      <p:sp>
        <p:nvSpPr>
          <p:cNvPr id="7" name="Text 4"/>
          <p:cNvSpPr txBox="1"/>
          <p:nvPr/>
        </p:nvSpPr>
        <p:spPr>
          <a:xfrm>
            <a:off x="777240" y="4873752"/>
            <a:ext cx="4937760" cy="320040"/>
          </a:xfrm>
          <a:prstGeom prst="rect">
            <a:avLst/>
          </a:prstGeom>
          <a:noFill/>
          <a:ln/>
        </p:spPr>
        <p:txBody>
          <a:bodyPr wrap="square" lIns="0" tIns="0" rIns="0" bIns="0" rtlCol="0" anchor="t"/>
          <a:lstStyle/>
          <a:p>
            <a:pPr marL="0" indent="0">
              <a:buNone/>
            </a:pPr>
            <a:r>
              <a:rPr lang="en-US" sz="1400" b="1" kern="0" spc="300" dirty="0">
                <a:solidFill>
                  <a:srgbClr val="000000"/>
                </a:solidFill>
                <a:latin typeface="Times New Roman" pitchFamily="34" charset="0"/>
                <a:ea typeface="Times New Roman" pitchFamily="34" charset="-122"/>
                <a:cs typeface="Times New Roman" pitchFamily="34" charset="-120"/>
              </a:rPr>
              <a:t>NO CLEAR WINNER</a:t>
            </a:r>
            <a:endParaRPr lang="en-US" sz="1400" dirty="0"/>
          </a:p>
        </p:txBody>
      </p:sp>
      <p:sp>
        <p:nvSpPr>
          <p:cNvPr id="8" name="Text 5"/>
          <p:cNvSpPr txBox="1"/>
          <p:nvPr/>
        </p:nvSpPr>
        <p:spPr>
          <a:xfrm>
            <a:off x="777240" y="5257800"/>
            <a:ext cx="4983480" cy="960120"/>
          </a:xfrm>
          <a:prstGeom prst="rect">
            <a:avLst/>
          </a:prstGeom>
          <a:noFill/>
          <a:ln/>
        </p:spPr>
        <p:txBody>
          <a:bodyPr wrap="square" lIns="0" tIns="0" rIns="0" bIns="0" rtlCol="0" anchor="t"/>
          <a:lstStyle/>
          <a:p>
            <a:pPr marL="0" indent="0">
              <a:buNone/>
            </a:pPr>
            <a:r>
              <a:rPr lang="en-US" sz="1800" dirty="0">
                <a:solidFill>
                  <a:srgbClr val="000000"/>
                </a:solidFill>
                <a:latin typeface="Times New Roman" pitchFamily="34" charset="0"/>
                <a:ea typeface="Times New Roman" pitchFamily="34" charset="-122"/>
                <a:cs typeface="Times New Roman" pitchFamily="34" charset="-120"/>
              </a:rPr>
              <a:t>All four models score 81.09 to 81.96%. Logistic Regression is slightly higher (0.8196 vs 0.8170).</a:t>
            </a:r>
            <a:endParaRPr lang="en-US" sz="1800" dirty="0"/>
          </a:p>
        </p:txBody>
      </p:sp>
      <p:sp>
        <p:nvSpPr>
          <p:cNvPr id="9" name="Shape 6"/>
          <p:cNvSpPr/>
          <p:nvPr/>
        </p:nvSpPr>
        <p:spPr>
          <a:xfrm>
            <a:off x="6199632" y="4754880"/>
            <a:ext cx="5440680" cy="1508760"/>
          </a:xfrm>
          <a:prstGeom prst="roundRect">
            <a:avLst>
              <a:gd name="adj" fmla="val 4242"/>
            </a:avLst>
          </a:prstGeom>
          <a:solidFill>
            <a:srgbClr val="E7EBEF"/>
          </a:solidFill>
          <a:ln w="12700">
            <a:solidFill>
              <a:srgbClr val="D7DCE1"/>
            </a:solidFill>
            <a:prstDash val="solid"/>
          </a:ln>
        </p:spPr>
      </p:sp>
      <p:sp>
        <p:nvSpPr>
          <p:cNvPr id="10" name="Text 7"/>
          <p:cNvSpPr txBox="1"/>
          <p:nvPr/>
        </p:nvSpPr>
        <p:spPr>
          <a:xfrm>
            <a:off x="6428232" y="4873752"/>
            <a:ext cx="4937760" cy="320040"/>
          </a:xfrm>
          <a:prstGeom prst="rect">
            <a:avLst/>
          </a:prstGeom>
          <a:noFill/>
          <a:ln/>
        </p:spPr>
        <p:txBody>
          <a:bodyPr wrap="square" lIns="0" tIns="0" rIns="0" bIns="0" rtlCol="0" anchor="t"/>
          <a:lstStyle/>
          <a:p>
            <a:pPr marL="0" indent="0">
              <a:buNone/>
            </a:pPr>
            <a:r>
              <a:rPr lang="en-US" sz="1400" b="1" kern="0" spc="300" dirty="0">
                <a:solidFill>
                  <a:srgbClr val="000000"/>
                </a:solidFill>
                <a:latin typeface="Times New Roman" pitchFamily="34" charset="0"/>
                <a:ea typeface="Times New Roman" pitchFamily="34" charset="-122"/>
                <a:cs typeface="Times New Roman" pitchFamily="34" charset="-120"/>
              </a:rPr>
              <a:t>WHY WE KEPT XGBOOST</a:t>
            </a:r>
            <a:endParaRPr lang="en-US" sz="1400" dirty="0"/>
          </a:p>
        </p:txBody>
      </p:sp>
      <p:sp>
        <p:nvSpPr>
          <p:cNvPr id="4" name="Text 8"/>
          <p:cNvSpPr txBox="1"/>
          <p:nvPr/>
        </p:nvSpPr>
        <p:spPr>
          <a:xfrm>
            <a:off x="6428232" y="5257800"/>
            <a:ext cx="4983480" cy="960120"/>
          </a:xfrm>
          <a:prstGeom prst="rect">
            <a:avLst/>
          </a:prstGeom>
          <a:noFill/>
          <a:ln/>
        </p:spPr>
        <p:txBody>
          <a:bodyPr wrap="square" lIns="0" tIns="0" rIns="0" bIns="0" rtlCol="0" anchor="t"/>
          <a:lstStyle/>
          <a:p>
            <a:pPr marL="0" indent="0">
              <a:buNone/>
            </a:pPr>
            <a:r>
              <a:rPr lang="en-US" sz="1800" dirty="0">
                <a:solidFill>
                  <a:srgbClr val="000000"/>
                </a:solidFill>
                <a:latin typeface="Times New Roman" pitchFamily="34" charset="0"/>
                <a:ea typeface="Times New Roman" pitchFamily="34" charset="-122"/>
                <a:cs typeface="Times New Roman" pitchFamily="34" charset="-120"/>
              </a:rPr>
              <a:t>It shows feature importance, handles complex patterns, and trains in 0.77 seconds. Not because it is more accurate.</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B6B7C"/>
                </a:solidFill>
                <a:latin typeface="Times New Roman"/>
                <a:ea typeface="Times New Roman"/>
                <a:cs typeface="Times New Roman"/>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365760"/>
            <a:ext cx="10058400" cy="274320"/>
          </a:xfrm>
          <a:prstGeom prst="rect">
            <a:avLst/>
          </a:prstGeom>
          <a:noFill/>
          <a:ln/>
        </p:spPr>
        <p:txBody>
          <a:bodyPr wrap="square" lIns="0" tIns="0" rIns="0" bIns="0" rtlCol="0" anchor="t"/>
          <a:lstStyle/>
          <a:p>
            <a:pPr marL="0" indent="0">
              <a:buNone/>
            </a:pPr>
            <a:r>
              <a:rPr lang="en-US" sz="1400" b="1" kern="0" spc="300" dirty="0">
                <a:solidFill>
                  <a:srgbClr val="000000"/>
                </a:solidFill>
                <a:latin typeface="Times New Roman" pitchFamily="34" charset="0"/>
                <a:ea typeface="Times New Roman" pitchFamily="34" charset="-122"/>
                <a:cs typeface="Times New Roman" pitchFamily="34" charset="-120"/>
              </a:rPr>
              <a:t>CHAPTER 5 — RESULTS</a:t>
            </a:r>
            <a:endParaRPr lang="en-US" sz="1400" dirty="0"/>
          </a:p>
        </p:txBody>
      </p:sp>
      <p:sp>
        <p:nvSpPr>
          <p:cNvPr id="3" name="Text 0"/>
          <p:cNvSpPr>
            <a:spLocks noGrp="1"/>
          </p:cNvSpPr>
          <p:nvPr>
            <p:ph type="title" idx="100" hasCustomPrompt="1"/>
          </p:nvPr>
        </p:nvSpPr>
        <p:spPr>
          <a:xfrm>
            <a:off x="548640" y="658368"/>
            <a:ext cx="11091672" cy="640080"/>
          </a:xfrm>
          <a:prstGeom prst="rect">
            <a:avLst/>
          </a:prstGeom>
          <a:noFill/>
          <a:ln/>
        </p:spPr>
        <p:txBody>
          <a:bodyPr wrap="square" lIns="0" tIns="0" rIns="0" bIns="0" rtlCol="0" anchor="ctr"/>
          <a:lstStyle/>
          <a:p>
            <a:pPr marL="0" indent="0" algn="l">
              <a:buNone/>
            </a:pPr>
            <a:r>
              <a:rPr lang="en-US" sz="2800" b="1" dirty="0">
                <a:solidFill>
                  <a:srgbClr val="000000"/>
                </a:solidFill>
                <a:latin typeface="Times New Roman" pitchFamily="34" charset="0"/>
                <a:ea typeface="Times New Roman" pitchFamily="34" charset="-122"/>
                <a:cs typeface="Times New Roman" pitchFamily="34" charset="-120"/>
              </a:rPr>
              <a:t>Best Model Performance at Threshold 0.300</a:t>
            </a:r>
            <a:endParaRPr lang="en-US" sz="2800" dirty="0"/>
          </a:p>
        </p:txBody>
      </p:sp>
      <p:sp>
        <p:nvSpPr>
          <p:cNvPr id="4" name="Shape 2"/>
          <p:cNvSpPr/>
          <p:nvPr/>
        </p:nvSpPr>
        <p:spPr>
          <a:xfrm>
            <a:off x="548640" y="1463040"/>
            <a:ext cx="2377440" cy="1463040"/>
          </a:xfrm>
          <a:prstGeom prst="roundRect">
            <a:avLst>
              <a:gd name="adj" fmla="val 4375"/>
            </a:avLst>
          </a:prstGeom>
          <a:solidFill>
            <a:srgbClr val="E7EBEF"/>
          </a:solidFill>
          <a:ln w="19050">
            <a:solidFill>
              <a:srgbClr val="000000"/>
            </a:solidFill>
            <a:prstDash val="solid"/>
          </a:ln>
        </p:spPr>
      </p:sp>
      <p:sp>
        <p:nvSpPr>
          <p:cNvPr id="5" name="Text 3"/>
          <p:cNvSpPr txBox="1"/>
          <p:nvPr/>
        </p:nvSpPr>
        <p:spPr>
          <a:xfrm>
            <a:off x="713232" y="1554480"/>
            <a:ext cx="2103120" cy="640080"/>
          </a:xfrm>
          <a:prstGeom prst="rect">
            <a:avLst/>
          </a:prstGeom>
          <a:noFill/>
          <a:ln/>
        </p:spPr>
        <p:txBody>
          <a:bodyPr wrap="square" lIns="0" tIns="0" rIns="0" bIns="0" rtlCol="0" anchor="ctr"/>
          <a:lstStyle/>
          <a:p>
            <a:pPr marL="0" indent="0">
              <a:buNone/>
            </a:pPr>
            <a:r>
              <a:rPr lang="en-US" sz="2800" b="1" dirty="0">
                <a:solidFill>
                  <a:srgbClr val="000000"/>
                </a:solidFill>
                <a:latin typeface="Times New Roman" pitchFamily="34" charset="0"/>
                <a:ea typeface="Times New Roman" pitchFamily="34" charset="-122"/>
                <a:cs typeface="Times New Roman" pitchFamily="34" charset="-120"/>
              </a:rPr>
              <a:t>78.69%</a:t>
            </a:r>
            <a:endParaRPr lang="en-US" sz="2800" dirty="0"/>
          </a:p>
        </p:txBody>
      </p:sp>
      <p:sp>
        <p:nvSpPr>
          <p:cNvPr id="6" name="Text 4"/>
          <p:cNvSpPr txBox="1"/>
          <p:nvPr/>
        </p:nvSpPr>
        <p:spPr>
          <a:xfrm>
            <a:off x="713232" y="2212848"/>
            <a:ext cx="2103120" cy="274320"/>
          </a:xfrm>
          <a:prstGeom prst="rect">
            <a:avLst/>
          </a:prstGeom>
          <a:noFill/>
          <a:ln/>
        </p:spPr>
        <p:txBody>
          <a:bodyPr wrap="square" lIns="0" tIns="0" rIns="0" bIns="0" rtlCol="0" anchor="t"/>
          <a:lstStyle/>
          <a:p>
            <a:pPr marL="0" indent="0">
              <a:buNone/>
            </a:pPr>
            <a:r>
              <a:rPr lang="en-US" sz="1600" b="1" dirty="0">
                <a:solidFill>
                  <a:srgbClr val="000000"/>
                </a:solidFill>
                <a:latin typeface="Times New Roman" pitchFamily="34" charset="0"/>
                <a:ea typeface="Times New Roman" pitchFamily="34" charset="-122"/>
                <a:cs typeface="Times New Roman" pitchFamily="34" charset="-120"/>
              </a:rPr>
              <a:t>Accuracy</a:t>
            </a:r>
            <a:endParaRPr lang="en-US" sz="1600" dirty="0"/>
          </a:p>
        </p:txBody>
      </p:sp>
      <p:sp>
        <p:nvSpPr>
          <p:cNvPr id="7" name="Text 5"/>
          <p:cNvSpPr txBox="1"/>
          <p:nvPr/>
        </p:nvSpPr>
        <p:spPr>
          <a:xfrm>
            <a:off x="713232" y="2505456"/>
            <a:ext cx="2103120" cy="274320"/>
          </a:xfrm>
          <a:prstGeom prst="rect">
            <a:avLst/>
          </a:prstGeom>
          <a:noFill/>
          <a:ln/>
        </p:spPr>
        <p:txBody>
          <a:bodyPr wrap="square" lIns="0" tIns="0" rIns="0" bIns="0" rtlCol="0" anchor="t"/>
          <a:lstStyle/>
          <a:p>
            <a:pPr marL="0" indent="0">
              <a:buNone/>
            </a:pPr>
            <a:r>
              <a:rPr lang="en-US" sz="1400" dirty="0">
                <a:solidFill>
                  <a:srgbClr val="5B6B7C"/>
                </a:solidFill>
                <a:latin typeface="Times New Roman" pitchFamily="34" charset="0"/>
                <a:ea typeface="Times New Roman" pitchFamily="34" charset="-122"/>
                <a:cs typeface="Times New Roman" pitchFamily="34" charset="-120"/>
              </a:rPr>
              <a:t>baseline 78.08%</a:t>
            </a:r>
            <a:endParaRPr lang="en-US" sz="1400" dirty="0"/>
          </a:p>
        </p:txBody>
      </p:sp>
      <p:sp>
        <p:nvSpPr>
          <p:cNvPr id="8" name="Shape 6"/>
          <p:cNvSpPr/>
          <p:nvPr/>
        </p:nvSpPr>
        <p:spPr>
          <a:xfrm>
            <a:off x="3063240" y="1463040"/>
            <a:ext cx="2377440" cy="1463040"/>
          </a:xfrm>
          <a:prstGeom prst="roundRect">
            <a:avLst>
              <a:gd name="adj" fmla="val 4375"/>
            </a:avLst>
          </a:prstGeom>
          <a:solidFill>
            <a:srgbClr val="F4F6F8"/>
          </a:solidFill>
          <a:ln w="12700">
            <a:solidFill>
              <a:srgbClr val="D7DCE1"/>
            </a:solidFill>
            <a:prstDash val="solid"/>
          </a:ln>
        </p:spPr>
      </p:sp>
      <p:sp>
        <p:nvSpPr>
          <p:cNvPr id="9" name="Text 7"/>
          <p:cNvSpPr txBox="1"/>
          <p:nvPr/>
        </p:nvSpPr>
        <p:spPr>
          <a:xfrm>
            <a:off x="3227832" y="1554480"/>
            <a:ext cx="2103120" cy="640080"/>
          </a:xfrm>
          <a:prstGeom prst="rect">
            <a:avLst/>
          </a:prstGeom>
          <a:noFill/>
          <a:ln/>
        </p:spPr>
        <p:txBody>
          <a:bodyPr wrap="square" lIns="0" tIns="0" rIns="0" bIns="0" rtlCol="0" anchor="ctr"/>
          <a:lstStyle/>
          <a:p>
            <a:pPr marL="0" indent="0">
              <a:buNone/>
            </a:pPr>
            <a:r>
              <a:rPr lang="en-US" sz="2800" b="1" dirty="0">
                <a:solidFill>
                  <a:srgbClr val="000000"/>
                </a:solidFill>
                <a:latin typeface="Times New Roman" pitchFamily="34" charset="0"/>
                <a:ea typeface="Times New Roman" pitchFamily="34" charset="-122"/>
                <a:cs typeface="Times New Roman" pitchFamily="34" charset="-120"/>
              </a:rPr>
              <a:t>0.8068</a:t>
            </a:r>
            <a:endParaRPr lang="en-US" sz="2800" dirty="0"/>
          </a:p>
        </p:txBody>
      </p:sp>
      <p:sp>
        <p:nvSpPr>
          <p:cNvPr id="10" name="Text 8"/>
          <p:cNvSpPr txBox="1"/>
          <p:nvPr/>
        </p:nvSpPr>
        <p:spPr>
          <a:xfrm>
            <a:off x="3227832" y="2212848"/>
            <a:ext cx="2103120" cy="274320"/>
          </a:xfrm>
          <a:prstGeom prst="rect">
            <a:avLst/>
          </a:prstGeom>
          <a:noFill/>
          <a:ln/>
        </p:spPr>
        <p:txBody>
          <a:bodyPr wrap="square" lIns="0" tIns="0" rIns="0" bIns="0" rtlCol="0" anchor="t"/>
          <a:lstStyle/>
          <a:p>
            <a:pPr marL="0" indent="0">
              <a:buNone/>
            </a:pPr>
            <a:r>
              <a:rPr lang="en-US" sz="1600" b="1" dirty="0">
                <a:solidFill>
                  <a:srgbClr val="000000"/>
                </a:solidFill>
                <a:latin typeface="Times New Roman" pitchFamily="34" charset="0"/>
                <a:ea typeface="Times New Roman" pitchFamily="34" charset="-122"/>
                <a:cs typeface="Times New Roman" pitchFamily="34" charset="-120"/>
              </a:rPr>
              <a:t>ROC-AUC</a:t>
            </a:r>
            <a:endParaRPr lang="en-US" sz="1600" dirty="0"/>
          </a:p>
        </p:txBody>
      </p:sp>
      <p:sp>
        <p:nvSpPr>
          <p:cNvPr id="11" name="Text 9"/>
          <p:cNvSpPr txBox="1"/>
          <p:nvPr/>
        </p:nvSpPr>
        <p:spPr>
          <a:xfrm>
            <a:off x="3227832" y="2505456"/>
            <a:ext cx="2103120" cy="274320"/>
          </a:xfrm>
          <a:prstGeom prst="rect">
            <a:avLst/>
          </a:prstGeom>
          <a:noFill/>
          <a:ln/>
        </p:spPr>
        <p:txBody>
          <a:bodyPr wrap="square" lIns="0" tIns="0" rIns="0" bIns="0" rtlCol="0" anchor="t"/>
          <a:lstStyle/>
          <a:p>
            <a:pPr marL="0" indent="0">
              <a:buNone/>
            </a:pPr>
            <a:r>
              <a:rPr lang="en-US" sz="1400" dirty="0">
                <a:solidFill>
                  <a:srgbClr val="5B6B7C"/>
                </a:solidFill>
                <a:latin typeface="Times New Roman" pitchFamily="34" charset="0"/>
                <a:ea typeface="Times New Roman" pitchFamily="34" charset="-122"/>
                <a:cs typeface="Times New Roman" pitchFamily="34" charset="-120"/>
              </a:rPr>
              <a:t>ranking power</a:t>
            </a:r>
            <a:endParaRPr lang="en-US" sz="1400" dirty="0"/>
          </a:p>
        </p:txBody>
      </p:sp>
      <p:sp>
        <p:nvSpPr>
          <p:cNvPr id="12" name="Shape 10"/>
          <p:cNvSpPr/>
          <p:nvPr/>
        </p:nvSpPr>
        <p:spPr>
          <a:xfrm>
            <a:off x="548640" y="3063240"/>
            <a:ext cx="2377440" cy="1463040"/>
          </a:xfrm>
          <a:prstGeom prst="roundRect">
            <a:avLst>
              <a:gd name="adj" fmla="val 4375"/>
            </a:avLst>
          </a:prstGeom>
          <a:solidFill>
            <a:srgbClr val="F4F6F8"/>
          </a:solidFill>
          <a:ln w="12700">
            <a:solidFill>
              <a:srgbClr val="D7DCE1"/>
            </a:solidFill>
            <a:prstDash val="solid"/>
          </a:ln>
        </p:spPr>
      </p:sp>
      <p:sp>
        <p:nvSpPr>
          <p:cNvPr id="13" name="Text 11"/>
          <p:cNvSpPr txBox="1"/>
          <p:nvPr/>
        </p:nvSpPr>
        <p:spPr>
          <a:xfrm>
            <a:off x="713232" y="3154680"/>
            <a:ext cx="2103120" cy="640080"/>
          </a:xfrm>
          <a:prstGeom prst="rect">
            <a:avLst/>
          </a:prstGeom>
          <a:noFill/>
          <a:ln/>
        </p:spPr>
        <p:txBody>
          <a:bodyPr wrap="square" lIns="0" tIns="0" rIns="0" bIns="0" rtlCol="0" anchor="ctr"/>
          <a:lstStyle/>
          <a:p>
            <a:pPr marL="0" indent="0">
              <a:buNone/>
            </a:pPr>
            <a:r>
              <a:rPr lang="en-US" sz="2800" b="1" dirty="0">
                <a:solidFill>
                  <a:srgbClr val="000000"/>
                </a:solidFill>
                <a:latin typeface="Times New Roman" pitchFamily="34" charset="0"/>
                <a:ea typeface="Times New Roman" pitchFamily="34" charset="-122"/>
                <a:cs typeface="Times New Roman" pitchFamily="34" charset="-120"/>
              </a:rPr>
              <a:t>63.4%</a:t>
            </a:r>
            <a:endParaRPr lang="en-US" sz="2800" dirty="0"/>
          </a:p>
        </p:txBody>
      </p:sp>
      <p:sp>
        <p:nvSpPr>
          <p:cNvPr id="14" name="Text 12"/>
          <p:cNvSpPr txBox="1"/>
          <p:nvPr/>
        </p:nvSpPr>
        <p:spPr>
          <a:xfrm>
            <a:off x="713232" y="3813048"/>
            <a:ext cx="2103120" cy="274320"/>
          </a:xfrm>
          <a:prstGeom prst="rect">
            <a:avLst/>
          </a:prstGeom>
          <a:noFill/>
          <a:ln/>
        </p:spPr>
        <p:txBody>
          <a:bodyPr wrap="square" lIns="0" tIns="0" rIns="0" bIns="0" rtlCol="0" anchor="t"/>
          <a:lstStyle/>
          <a:p>
            <a:pPr marL="0" indent="0">
              <a:buNone/>
            </a:pPr>
            <a:r>
              <a:rPr lang="en-US" sz="1600" b="1" dirty="0">
                <a:solidFill>
                  <a:srgbClr val="000000"/>
                </a:solidFill>
                <a:latin typeface="Times New Roman" pitchFamily="34" charset="0"/>
                <a:ea typeface="Times New Roman" pitchFamily="34" charset="-122"/>
                <a:cs typeface="Times New Roman" pitchFamily="34" charset="-120"/>
              </a:rPr>
              <a:t>Recall</a:t>
            </a:r>
            <a:endParaRPr lang="en-US" sz="1600" dirty="0"/>
          </a:p>
        </p:txBody>
      </p:sp>
      <p:sp>
        <p:nvSpPr>
          <p:cNvPr id="15" name="Text 13"/>
          <p:cNvSpPr txBox="1"/>
          <p:nvPr/>
        </p:nvSpPr>
        <p:spPr>
          <a:xfrm>
            <a:off x="713232" y="4105656"/>
            <a:ext cx="2103120" cy="274320"/>
          </a:xfrm>
          <a:prstGeom prst="rect">
            <a:avLst/>
          </a:prstGeom>
          <a:noFill/>
          <a:ln/>
        </p:spPr>
        <p:txBody>
          <a:bodyPr wrap="square" lIns="0" tIns="0" rIns="0" bIns="0" rtlCol="0" anchor="t"/>
          <a:lstStyle/>
          <a:p>
            <a:pPr marL="0" indent="0">
              <a:buNone/>
            </a:pPr>
            <a:r>
              <a:rPr lang="en-US" sz="1400" dirty="0">
                <a:solidFill>
                  <a:srgbClr val="5B6B7C"/>
                </a:solidFill>
                <a:latin typeface="Times New Roman" pitchFamily="34" charset="0"/>
                <a:ea typeface="Times New Roman" pitchFamily="34" charset="-122"/>
                <a:cs typeface="Times New Roman" pitchFamily="34" charset="-120"/>
              </a:rPr>
              <a:t>at-risk students found</a:t>
            </a:r>
            <a:endParaRPr lang="en-US" sz="1400" dirty="0"/>
          </a:p>
        </p:txBody>
      </p:sp>
      <p:sp>
        <p:nvSpPr>
          <p:cNvPr id="16" name="Shape 14"/>
          <p:cNvSpPr/>
          <p:nvPr/>
        </p:nvSpPr>
        <p:spPr>
          <a:xfrm>
            <a:off x="3063240" y="3063240"/>
            <a:ext cx="2377440" cy="1463040"/>
          </a:xfrm>
          <a:prstGeom prst="roundRect">
            <a:avLst>
              <a:gd name="adj" fmla="val 4375"/>
            </a:avLst>
          </a:prstGeom>
          <a:solidFill>
            <a:srgbClr val="F4F6F8"/>
          </a:solidFill>
          <a:ln w="12700">
            <a:solidFill>
              <a:srgbClr val="D7DCE1"/>
            </a:solidFill>
            <a:prstDash val="solid"/>
          </a:ln>
        </p:spPr>
      </p:sp>
      <p:sp>
        <p:nvSpPr>
          <p:cNvPr id="17" name="Text 15"/>
          <p:cNvSpPr txBox="1"/>
          <p:nvPr/>
        </p:nvSpPr>
        <p:spPr>
          <a:xfrm>
            <a:off x="3227832" y="3154680"/>
            <a:ext cx="2103120" cy="640080"/>
          </a:xfrm>
          <a:prstGeom prst="rect">
            <a:avLst/>
          </a:prstGeom>
          <a:noFill/>
          <a:ln/>
        </p:spPr>
        <p:txBody>
          <a:bodyPr wrap="square" lIns="0" tIns="0" rIns="0" bIns="0" rtlCol="0" anchor="ctr"/>
          <a:lstStyle/>
          <a:p>
            <a:pPr marL="0" indent="0">
              <a:buNone/>
            </a:pPr>
            <a:r>
              <a:rPr lang="en-US" sz="2800" b="1" dirty="0">
                <a:solidFill>
                  <a:srgbClr val="000000"/>
                </a:solidFill>
                <a:latin typeface="Times New Roman" pitchFamily="34" charset="0"/>
                <a:ea typeface="Times New Roman" pitchFamily="34" charset="-122"/>
                <a:cs typeface="Times New Roman" pitchFamily="34" charset="-120"/>
              </a:rPr>
              <a:t>51.1%</a:t>
            </a:r>
            <a:endParaRPr lang="en-US" sz="2800" dirty="0"/>
          </a:p>
        </p:txBody>
      </p:sp>
      <p:sp>
        <p:nvSpPr>
          <p:cNvPr id="18" name="Text 16"/>
          <p:cNvSpPr txBox="1"/>
          <p:nvPr/>
        </p:nvSpPr>
        <p:spPr>
          <a:xfrm>
            <a:off x="3227832" y="3813048"/>
            <a:ext cx="2103120" cy="274320"/>
          </a:xfrm>
          <a:prstGeom prst="rect">
            <a:avLst/>
          </a:prstGeom>
          <a:noFill/>
          <a:ln/>
        </p:spPr>
        <p:txBody>
          <a:bodyPr wrap="square" lIns="0" tIns="0" rIns="0" bIns="0" rtlCol="0" anchor="t"/>
          <a:lstStyle/>
          <a:p>
            <a:pPr marL="0" indent="0">
              <a:buNone/>
            </a:pPr>
            <a:r>
              <a:rPr lang="en-US" sz="1600" b="1" dirty="0">
                <a:solidFill>
                  <a:srgbClr val="000000"/>
                </a:solidFill>
                <a:latin typeface="Times New Roman" pitchFamily="34" charset="0"/>
                <a:ea typeface="Times New Roman" pitchFamily="34" charset="-122"/>
                <a:cs typeface="Times New Roman" pitchFamily="34" charset="-120"/>
              </a:rPr>
              <a:t>Precision</a:t>
            </a:r>
            <a:endParaRPr lang="en-US" sz="1600" dirty="0"/>
          </a:p>
        </p:txBody>
      </p:sp>
      <p:sp>
        <p:nvSpPr>
          <p:cNvPr id="19" name="Text 17"/>
          <p:cNvSpPr txBox="1"/>
          <p:nvPr/>
        </p:nvSpPr>
        <p:spPr>
          <a:xfrm>
            <a:off x="3227832" y="4105656"/>
            <a:ext cx="2103120" cy="274320"/>
          </a:xfrm>
          <a:prstGeom prst="rect">
            <a:avLst/>
          </a:prstGeom>
          <a:noFill/>
          <a:ln/>
        </p:spPr>
        <p:txBody>
          <a:bodyPr wrap="square" lIns="0" tIns="0" rIns="0" bIns="0" rtlCol="0" anchor="t"/>
          <a:lstStyle/>
          <a:p>
            <a:pPr marL="0" indent="0">
              <a:buNone/>
            </a:pPr>
            <a:r>
              <a:rPr lang="en-US" sz="1400" dirty="0">
                <a:solidFill>
                  <a:srgbClr val="5B6B7C"/>
                </a:solidFill>
                <a:latin typeface="Times New Roman" pitchFamily="34" charset="0"/>
                <a:ea typeface="Times New Roman" pitchFamily="34" charset="-122"/>
                <a:cs typeface="Times New Roman" pitchFamily="34" charset="-120"/>
              </a:rPr>
              <a:t>flagged and truly at risk</a:t>
            </a:r>
            <a:endParaRPr lang="en-US" sz="1400" dirty="0"/>
          </a:p>
        </p:txBody>
      </p:sp>
      <p:sp>
        <p:nvSpPr>
          <p:cNvPr id="20" name="Text 18"/>
          <p:cNvSpPr txBox="1"/>
          <p:nvPr/>
        </p:nvSpPr>
        <p:spPr>
          <a:xfrm>
            <a:off x="5852160" y="1463040"/>
            <a:ext cx="5788152" cy="320040"/>
          </a:xfrm>
          <a:prstGeom prst="rect">
            <a:avLst/>
          </a:prstGeom>
          <a:noFill/>
          <a:ln/>
        </p:spPr>
        <p:txBody>
          <a:bodyPr wrap="square" lIns="0" tIns="0" rIns="0" bIns="0" rtlCol="0" anchor="t"/>
          <a:lstStyle/>
          <a:p>
            <a:pPr marL="0" indent="0">
              <a:buNone/>
            </a:pPr>
            <a:r>
              <a:rPr lang="en-US" sz="1400" b="1" kern="0" spc="300" dirty="0">
                <a:solidFill>
                  <a:srgbClr val="000000"/>
                </a:solidFill>
                <a:latin typeface="Times New Roman" pitchFamily="34" charset="0"/>
                <a:ea typeface="Times New Roman" pitchFamily="34" charset="-122"/>
                <a:cs typeface="Times New Roman" pitchFamily="34" charset="-120"/>
              </a:rPr>
              <a:t>CONFUSION MATRIX — 10,000 TEST RECORDS</a:t>
            </a:r>
            <a:endParaRPr lang="en-US" sz="1400" dirty="0"/>
          </a:p>
        </p:txBody>
      </p:sp>
      <p:sp>
        <p:nvSpPr>
          <p:cNvPr id="21" name="Text 19"/>
          <p:cNvSpPr txBox="1"/>
          <p:nvPr/>
        </p:nvSpPr>
        <p:spPr>
          <a:xfrm>
            <a:off x="7178040" y="1874520"/>
            <a:ext cx="2194560" cy="365760"/>
          </a:xfrm>
          <a:prstGeom prst="rect">
            <a:avLst/>
          </a:prstGeom>
          <a:noFill/>
          <a:ln/>
        </p:spPr>
        <p:txBody>
          <a:bodyPr wrap="square" lIns="0" tIns="0" rIns="0" bIns="0" rtlCol="0" anchor="ctr"/>
          <a:lstStyle/>
          <a:p>
            <a:pPr marL="0" indent="0" algn="ctr">
              <a:buNone/>
            </a:pPr>
            <a:r>
              <a:rPr lang="en-US" sz="1400" b="1" dirty="0">
                <a:solidFill>
                  <a:srgbClr val="5B6B7C"/>
                </a:solidFill>
                <a:latin typeface="Times New Roman" pitchFamily="34" charset="0"/>
                <a:ea typeface="Times New Roman" pitchFamily="34" charset="-122"/>
                <a:cs typeface="Times New Roman" pitchFamily="34" charset="-120"/>
              </a:rPr>
              <a:t>Predicted Employable</a:t>
            </a:r>
            <a:endParaRPr lang="en-US" sz="1400" dirty="0"/>
          </a:p>
        </p:txBody>
      </p:sp>
      <p:sp>
        <p:nvSpPr>
          <p:cNvPr id="22" name="Text 20"/>
          <p:cNvSpPr txBox="1"/>
          <p:nvPr/>
        </p:nvSpPr>
        <p:spPr>
          <a:xfrm>
            <a:off x="9418320" y="1874520"/>
            <a:ext cx="2221992" cy="365760"/>
          </a:xfrm>
          <a:prstGeom prst="rect">
            <a:avLst/>
          </a:prstGeom>
          <a:noFill/>
          <a:ln/>
        </p:spPr>
        <p:txBody>
          <a:bodyPr wrap="square" lIns="0" tIns="0" rIns="0" bIns="0" rtlCol="0" anchor="ctr"/>
          <a:lstStyle/>
          <a:p>
            <a:pPr marL="0" indent="0" algn="ctr">
              <a:buNone/>
            </a:pPr>
            <a:r>
              <a:rPr lang="en-US" sz="1400" b="1" dirty="0">
                <a:solidFill>
                  <a:srgbClr val="5B6B7C"/>
                </a:solidFill>
                <a:latin typeface="Times New Roman" pitchFamily="34" charset="0"/>
                <a:ea typeface="Times New Roman" pitchFamily="34" charset="-122"/>
                <a:cs typeface="Times New Roman" pitchFamily="34" charset="-120"/>
              </a:rPr>
              <a:t>Predicted Not Employable</a:t>
            </a:r>
            <a:endParaRPr lang="en-US" sz="1400" dirty="0"/>
          </a:p>
        </p:txBody>
      </p:sp>
      <p:sp>
        <p:nvSpPr>
          <p:cNvPr id="23" name="Text 21"/>
          <p:cNvSpPr txBox="1"/>
          <p:nvPr/>
        </p:nvSpPr>
        <p:spPr>
          <a:xfrm>
            <a:off x="5852160" y="2286000"/>
            <a:ext cx="1280160" cy="1097280"/>
          </a:xfrm>
          <a:prstGeom prst="rect">
            <a:avLst/>
          </a:prstGeom>
          <a:noFill/>
          <a:ln/>
        </p:spPr>
        <p:txBody>
          <a:bodyPr wrap="square" lIns="0" tIns="0" rIns="0" bIns="0" rtlCol="0" anchor="ctr"/>
          <a:lstStyle/>
          <a:p>
            <a:pPr marL="0" indent="0">
              <a:buNone/>
            </a:pPr>
            <a:r>
              <a:rPr lang="en-US" sz="1400" b="1" dirty="0">
                <a:solidFill>
                  <a:srgbClr val="5B6B7C"/>
                </a:solidFill>
                <a:latin typeface="Times New Roman" pitchFamily="34" charset="0"/>
                <a:ea typeface="Times New Roman" pitchFamily="34" charset="-122"/>
                <a:cs typeface="Times New Roman" pitchFamily="34" charset="-120"/>
              </a:rPr>
              <a:t>Actual</a:t>
            </a:r>
            <a:endParaRPr lang="en-US" sz="1400" dirty="0"/>
          </a:p>
          <a:p>
            <a:pPr marL="0" indent="0">
              <a:buNone/>
            </a:pPr>
            <a:r>
              <a:rPr lang="en-US" sz="1400" b="1" dirty="0">
                <a:solidFill>
                  <a:srgbClr val="5B6B7C"/>
                </a:solidFill>
                <a:latin typeface="Times New Roman" pitchFamily="34" charset="0"/>
                <a:ea typeface="Times New Roman" pitchFamily="34" charset="-122"/>
                <a:cs typeface="Times New Roman" pitchFamily="34" charset="-120"/>
              </a:rPr>
              <a:t>Employable</a:t>
            </a:r>
            <a:endParaRPr lang="en-US" sz="1400" dirty="0"/>
          </a:p>
        </p:txBody>
      </p:sp>
      <p:sp>
        <p:nvSpPr>
          <p:cNvPr id="24" name="Text 22"/>
          <p:cNvSpPr txBox="1"/>
          <p:nvPr/>
        </p:nvSpPr>
        <p:spPr>
          <a:xfrm>
            <a:off x="5852160" y="3429000"/>
            <a:ext cx="1280160" cy="1097280"/>
          </a:xfrm>
          <a:prstGeom prst="rect">
            <a:avLst/>
          </a:prstGeom>
          <a:noFill/>
          <a:ln/>
        </p:spPr>
        <p:txBody>
          <a:bodyPr wrap="square" lIns="0" tIns="0" rIns="0" bIns="0" rtlCol="0" anchor="ctr"/>
          <a:lstStyle/>
          <a:p>
            <a:pPr marL="0" indent="0">
              <a:buNone/>
            </a:pPr>
            <a:r>
              <a:rPr lang="en-US" sz="1400" b="1" dirty="0">
                <a:solidFill>
                  <a:srgbClr val="5B6B7C"/>
                </a:solidFill>
                <a:latin typeface="Times New Roman" pitchFamily="34" charset="0"/>
                <a:ea typeface="Times New Roman" pitchFamily="34" charset="-122"/>
                <a:cs typeface="Times New Roman" pitchFamily="34" charset="-120"/>
              </a:rPr>
              <a:t>Actual</a:t>
            </a:r>
            <a:endParaRPr lang="en-US" sz="1400" dirty="0"/>
          </a:p>
          <a:p>
            <a:pPr marL="0" indent="0">
              <a:buNone/>
            </a:pPr>
            <a:r>
              <a:rPr lang="en-US" sz="1400" b="1" dirty="0">
                <a:solidFill>
                  <a:srgbClr val="5B6B7C"/>
                </a:solidFill>
                <a:latin typeface="Times New Roman" pitchFamily="34" charset="0"/>
                <a:ea typeface="Times New Roman" pitchFamily="34" charset="-122"/>
                <a:cs typeface="Times New Roman" pitchFamily="34" charset="-120"/>
              </a:rPr>
              <a:t>Not Employable</a:t>
            </a:r>
            <a:endParaRPr lang="en-US" sz="1400" dirty="0"/>
          </a:p>
        </p:txBody>
      </p:sp>
      <p:sp>
        <p:nvSpPr>
          <p:cNvPr id="25" name="Shape 23"/>
          <p:cNvSpPr/>
          <p:nvPr/>
        </p:nvSpPr>
        <p:spPr>
          <a:xfrm>
            <a:off x="7178040" y="2286000"/>
            <a:ext cx="2194560" cy="1097280"/>
          </a:xfrm>
          <a:prstGeom prst="roundRect">
            <a:avLst>
              <a:gd name="adj" fmla="val 5833"/>
            </a:avLst>
          </a:prstGeom>
          <a:solidFill>
            <a:srgbClr val="A9C9E8"/>
          </a:solidFill>
          <a:ln w="12700">
            <a:solidFill>
              <a:srgbClr val="A9C9E8"/>
            </a:solidFill>
            <a:prstDash val="solid"/>
          </a:ln>
        </p:spPr>
      </p:sp>
      <p:sp>
        <p:nvSpPr>
          <p:cNvPr id="26" name="Text 24"/>
          <p:cNvSpPr txBox="1"/>
          <p:nvPr/>
        </p:nvSpPr>
        <p:spPr>
          <a:xfrm>
            <a:off x="7178040" y="2377440"/>
            <a:ext cx="2194560" cy="594360"/>
          </a:xfrm>
          <a:prstGeom prst="rect">
            <a:avLst/>
          </a:prstGeom>
          <a:noFill/>
          <a:ln/>
        </p:spPr>
        <p:txBody>
          <a:bodyPr wrap="square" lIns="0" tIns="0" rIns="0" bIns="0" rtlCol="0" anchor="ctr"/>
          <a:lstStyle/>
          <a:p>
            <a:pPr marL="0" indent="0" algn="ctr">
              <a:buNone/>
            </a:pPr>
            <a:r>
              <a:rPr lang="en-US" sz="2800" b="1" dirty="0">
                <a:solidFill>
                  <a:srgbClr val="1B2A41"/>
                </a:solidFill>
                <a:latin typeface="Times New Roman" pitchFamily="34" charset="0"/>
                <a:ea typeface="Times New Roman" pitchFamily="34" charset="-122"/>
                <a:cs typeface="Times New Roman" pitchFamily="34" charset="-120"/>
              </a:rPr>
              <a:t>6,479</a:t>
            </a:r>
            <a:endParaRPr lang="en-US" sz="2800" dirty="0"/>
          </a:p>
        </p:txBody>
      </p:sp>
      <p:sp>
        <p:nvSpPr>
          <p:cNvPr id="27" name="Text 25"/>
          <p:cNvSpPr txBox="1"/>
          <p:nvPr/>
        </p:nvSpPr>
        <p:spPr>
          <a:xfrm>
            <a:off x="7178040" y="2999232"/>
            <a:ext cx="2194560" cy="274320"/>
          </a:xfrm>
          <a:prstGeom prst="rect">
            <a:avLst/>
          </a:prstGeom>
          <a:noFill/>
          <a:ln/>
        </p:spPr>
        <p:txBody>
          <a:bodyPr wrap="square" lIns="0" tIns="0" rIns="0" bIns="0" rtlCol="0" anchor="t"/>
          <a:lstStyle/>
          <a:p>
            <a:pPr marL="0" indent="0" algn="ctr">
              <a:buNone/>
            </a:pPr>
            <a:r>
              <a:rPr lang="en-US" sz="1400" dirty="0">
                <a:solidFill>
                  <a:srgbClr val="27405E"/>
                </a:solidFill>
                <a:latin typeface="Times New Roman" pitchFamily="34" charset="0"/>
                <a:ea typeface="Times New Roman" pitchFamily="34" charset="-122"/>
                <a:cs typeface="Times New Roman" pitchFamily="34" charset="-120"/>
              </a:rPr>
              <a:t>correct</a:t>
            </a:r>
            <a:endParaRPr lang="en-US" sz="1400" dirty="0"/>
          </a:p>
        </p:txBody>
      </p:sp>
      <p:sp>
        <p:nvSpPr>
          <p:cNvPr id="28" name="Shape 26"/>
          <p:cNvSpPr/>
          <p:nvPr/>
        </p:nvSpPr>
        <p:spPr>
          <a:xfrm>
            <a:off x="9418320" y="2286000"/>
            <a:ext cx="2194560" cy="1097280"/>
          </a:xfrm>
          <a:prstGeom prst="roundRect">
            <a:avLst>
              <a:gd name="adj" fmla="val 5833"/>
            </a:avLst>
          </a:prstGeom>
          <a:solidFill>
            <a:srgbClr val="FBE3CF"/>
          </a:solidFill>
          <a:ln w="12700">
            <a:solidFill>
              <a:srgbClr val="FBE3CF"/>
            </a:solidFill>
            <a:prstDash val="solid"/>
          </a:ln>
        </p:spPr>
      </p:sp>
      <p:sp>
        <p:nvSpPr>
          <p:cNvPr id="29" name="Text 27"/>
          <p:cNvSpPr txBox="1"/>
          <p:nvPr/>
        </p:nvSpPr>
        <p:spPr>
          <a:xfrm>
            <a:off x="9418320" y="2377440"/>
            <a:ext cx="2194560" cy="594360"/>
          </a:xfrm>
          <a:prstGeom prst="rect">
            <a:avLst/>
          </a:prstGeom>
          <a:noFill/>
          <a:ln/>
        </p:spPr>
        <p:txBody>
          <a:bodyPr wrap="square" lIns="0" tIns="0" rIns="0" bIns="0" rtlCol="0" anchor="ctr"/>
          <a:lstStyle/>
          <a:p>
            <a:pPr marL="0" indent="0" algn="ctr">
              <a:buNone/>
            </a:pPr>
            <a:r>
              <a:rPr lang="en-US" sz="2800" b="1" dirty="0">
                <a:solidFill>
                  <a:srgbClr val="1B2A41"/>
                </a:solidFill>
                <a:latin typeface="Times New Roman" pitchFamily="34" charset="0"/>
                <a:ea typeface="Times New Roman" pitchFamily="34" charset="-122"/>
                <a:cs typeface="Times New Roman" pitchFamily="34" charset="-120"/>
              </a:rPr>
              <a:t>1,329</a:t>
            </a:r>
            <a:endParaRPr lang="en-US" sz="2800" dirty="0"/>
          </a:p>
        </p:txBody>
      </p:sp>
      <p:sp>
        <p:nvSpPr>
          <p:cNvPr id="30" name="Text 28"/>
          <p:cNvSpPr txBox="1"/>
          <p:nvPr/>
        </p:nvSpPr>
        <p:spPr>
          <a:xfrm>
            <a:off x="9418320" y="2999232"/>
            <a:ext cx="2194560" cy="274320"/>
          </a:xfrm>
          <a:prstGeom prst="rect">
            <a:avLst/>
          </a:prstGeom>
          <a:noFill/>
          <a:ln/>
        </p:spPr>
        <p:txBody>
          <a:bodyPr wrap="square" lIns="0" tIns="0" rIns="0" bIns="0" rtlCol="0" anchor="t"/>
          <a:lstStyle/>
          <a:p>
            <a:pPr marL="0" indent="0" algn="ctr">
              <a:buNone/>
            </a:pPr>
            <a:r>
              <a:rPr lang="en-US" sz="1400" dirty="0">
                <a:solidFill>
                  <a:srgbClr val="27405E"/>
                </a:solidFill>
                <a:latin typeface="Times New Roman" pitchFamily="34" charset="0"/>
                <a:ea typeface="Times New Roman" pitchFamily="34" charset="-122"/>
                <a:cs typeface="Times New Roman" pitchFamily="34" charset="-120"/>
              </a:rPr>
              <a:t>false alarms</a:t>
            </a:r>
            <a:endParaRPr lang="en-US" sz="1400" dirty="0"/>
          </a:p>
        </p:txBody>
      </p:sp>
      <p:sp>
        <p:nvSpPr>
          <p:cNvPr id="31" name="Shape 29"/>
          <p:cNvSpPr/>
          <p:nvPr/>
        </p:nvSpPr>
        <p:spPr>
          <a:xfrm>
            <a:off x="7178040" y="3429000"/>
            <a:ext cx="2194560" cy="1097280"/>
          </a:xfrm>
          <a:prstGeom prst="roundRect">
            <a:avLst>
              <a:gd name="adj" fmla="val 5833"/>
            </a:avLst>
          </a:prstGeom>
          <a:solidFill>
            <a:srgbClr val="FBE3CF"/>
          </a:solidFill>
          <a:ln w="12700">
            <a:solidFill>
              <a:srgbClr val="FBE3CF"/>
            </a:solidFill>
            <a:prstDash val="solid"/>
          </a:ln>
        </p:spPr>
      </p:sp>
      <p:sp>
        <p:nvSpPr>
          <p:cNvPr id="32" name="Text 30"/>
          <p:cNvSpPr txBox="1"/>
          <p:nvPr/>
        </p:nvSpPr>
        <p:spPr>
          <a:xfrm>
            <a:off x="7178040" y="3520440"/>
            <a:ext cx="2194560" cy="594360"/>
          </a:xfrm>
          <a:prstGeom prst="rect">
            <a:avLst/>
          </a:prstGeom>
          <a:noFill/>
          <a:ln/>
        </p:spPr>
        <p:txBody>
          <a:bodyPr wrap="square" lIns="0" tIns="0" rIns="0" bIns="0" rtlCol="0" anchor="ctr"/>
          <a:lstStyle/>
          <a:p>
            <a:pPr marL="0" indent="0" algn="ctr">
              <a:buNone/>
            </a:pPr>
            <a:r>
              <a:rPr lang="en-US" sz="2800" b="1" dirty="0">
                <a:solidFill>
                  <a:srgbClr val="1B2A41"/>
                </a:solidFill>
                <a:latin typeface="Times New Roman" pitchFamily="34" charset="0"/>
                <a:ea typeface="Times New Roman" pitchFamily="34" charset="-122"/>
                <a:cs typeface="Times New Roman" pitchFamily="34" charset="-120"/>
              </a:rPr>
              <a:t>802</a:t>
            </a:r>
            <a:endParaRPr lang="en-US" sz="2800" dirty="0"/>
          </a:p>
        </p:txBody>
      </p:sp>
      <p:sp>
        <p:nvSpPr>
          <p:cNvPr id="33" name="Text 31"/>
          <p:cNvSpPr txBox="1"/>
          <p:nvPr/>
        </p:nvSpPr>
        <p:spPr>
          <a:xfrm>
            <a:off x="7178040" y="4142232"/>
            <a:ext cx="2194560" cy="274320"/>
          </a:xfrm>
          <a:prstGeom prst="rect">
            <a:avLst/>
          </a:prstGeom>
          <a:noFill/>
          <a:ln/>
        </p:spPr>
        <p:txBody>
          <a:bodyPr wrap="square" lIns="0" tIns="0" rIns="0" bIns="0" rtlCol="0" anchor="t"/>
          <a:lstStyle/>
          <a:p>
            <a:pPr marL="0" indent="0" algn="ctr">
              <a:buNone/>
            </a:pPr>
            <a:r>
              <a:rPr lang="en-US" sz="1400" dirty="0">
                <a:solidFill>
                  <a:srgbClr val="27405E"/>
                </a:solidFill>
                <a:latin typeface="Times New Roman" pitchFamily="34" charset="0"/>
                <a:ea typeface="Times New Roman" pitchFamily="34" charset="-122"/>
                <a:cs typeface="Times New Roman" pitchFamily="34" charset="-120"/>
              </a:rPr>
              <a:t>missed</a:t>
            </a:r>
            <a:endParaRPr lang="en-US" sz="1400" dirty="0"/>
          </a:p>
        </p:txBody>
      </p:sp>
      <p:sp>
        <p:nvSpPr>
          <p:cNvPr id="34" name="Shape 32"/>
          <p:cNvSpPr/>
          <p:nvPr/>
        </p:nvSpPr>
        <p:spPr>
          <a:xfrm>
            <a:off x="9418320" y="3429000"/>
            <a:ext cx="2194560" cy="1097280"/>
          </a:xfrm>
          <a:prstGeom prst="roundRect">
            <a:avLst>
              <a:gd name="adj" fmla="val 5833"/>
            </a:avLst>
          </a:prstGeom>
          <a:solidFill>
            <a:srgbClr val="A9C9E8"/>
          </a:solidFill>
          <a:ln w="12700">
            <a:solidFill>
              <a:srgbClr val="A9C9E8"/>
            </a:solidFill>
            <a:prstDash val="solid"/>
          </a:ln>
        </p:spPr>
      </p:sp>
      <p:sp>
        <p:nvSpPr>
          <p:cNvPr id="35" name="Text 33"/>
          <p:cNvSpPr txBox="1"/>
          <p:nvPr/>
        </p:nvSpPr>
        <p:spPr>
          <a:xfrm>
            <a:off x="9418320" y="3520440"/>
            <a:ext cx="2194560" cy="594360"/>
          </a:xfrm>
          <a:prstGeom prst="rect">
            <a:avLst/>
          </a:prstGeom>
          <a:noFill/>
          <a:ln/>
        </p:spPr>
        <p:txBody>
          <a:bodyPr wrap="square" lIns="0" tIns="0" rIns="0" bIns="0" rtlCol="0" anchor="ctr"/>
          <a:lstStyle/>
          <a:p>
            <a:pPr marL="0" indent="0" algn="ctr">
              <a:buNone/>
            </a:pPr>
            <a:r>
              <a:rPr lang="en-US" sz="2800" b="1" dirty="0">
                <a:solidFill>
                  <a:srgbClr val="1B2A41"/>
                </a:solidFill>
                <a:latin typeface="Times New Roman" pitchFamily="34" charset="0"/>
                <a:ea typeface="Times New Roman" pitchFamily="34" charset="-122"/>
                <a:cs typeface="Times New Roman" pitchFamily="34" charset="-120"/>
              </a:rPr>
              <a:t>1,390</a:t>
            </a:r>
            <a:endParaRPr lang="en-US" sz="2800" dirty="0"/>
          </a:p>
        </p:txBody>
      </p:sp>
      <p:sp>
        <p:nvSpPr>
          <p:cNvPr id="36" name="Text 34"/>
          <p:cNvSpPr txBox="1"/>
          <p:nvPr/>
        </p:nvSpPr>
        <p:spPr>
          <a:xfrm>
            <a:off x="9418320" y="4142232"/>
            <a:ext cx="2194560" cy="274320"/>
          </a:xfrm>
          <a:prstGeom prst="rect">
            <a:avLst/>
          </a:prstGeom>
          <a:noFill/>
          <a:ln/>
        </p:spPr>
        <p:txBody>
          <a:bodyPr wrap="square" lIns="0" tIns="0" rIns="0" bIns="0" rtlCol="0" anchor="t"/>
          <a:lstStyle/>
          <a:p>
            <a:pPr marL="0" indent="0" algn="ctr">
              <a:buNone/>
            </a:pPr>
            <a:r>
              <a:rPr lang="en-US" sz="1400" dirty="0">
                <a:solidFill>
                  <a:srgbClr val="27405E"/>
                </a:solidFill>
                <a:latin typeface="Times New Roman" pitchFamily="34" charset="0"/>
                <a:ea typeface="Times New Roman" pitchFamily="34" charset="-122"/>
                <a:cs typeface="Times New Roman" pitchFamily="34" charset="-120"/>
              </a:rPr>
              <a:t>correctly found</a:t>
            </a:r>
            <a:endParaRPr lang="en-US" sz="1400" dirty="0"/>
          </a:p>
        </p:txBody>
      </p:sp>
      <p:sp>
        <p:nvSpPr>
          <p:cNvPr id="37" name="Text 35"/>
          <p:cNvSpPr txBox="1"/>
          <p:nvPr/>
        </p:nvSpPr>
        <p:spPr>
          <a:xfrm>
            <a:off x="548640" y="4846320"/>
            <a:ext cx="11091672" cy="1417320"/>
          </a:xfrm>
          <a:prstGeom prst="rect">
            <a:avLst/>
          </a:prstGeom>
          <a:noFill/>
          <a:ln/>
        </p:spPr>
        <p:txBody>
          <a:bodyPr wrap="square" lIns="0" tIns="0" rIns="0" bIns="0" rtlCol="0" anchor="t"/>
          <a:lstStyle/>
          <a:p>
            <a:pPr marL="342900" indent="-342900">
              <a:spcAft>
                <a:spcPts val="600"/>
              </a:spcAft>
              <a:buSzPct val="100000"/>
              <a:buChar char="•"/>
            </a:pPr>
            <a:r>
              <a:rPr lang="en-US" sz="1800" dirty="0">
                <a:solidFill>
                  <a:srgbClr val="000000"/>
                </a:solidFill>
                <a:latin typeface="Times New Roman" pitchFamily="34" charset="0"/>
                <a:ea typeface="Times New Roman" pitchFamily="34" charset="-122"/>
                <a:cs typeface="Times New Roman" pitchFamily="34" charset="-120"/>
              </a:rPr>
              <a:t>Better than the 78.08% baseline. It finds 1,390 of 2,192 at-risk students (779 at threshold 0.50).</a:t>
            </a:r>
            <a:endParaRPr lang="en-US" sz="1800" dirty="0"/>
          </a:p>
          <a:p>
            <a:pPr marL="342900" indent="-342900">
              <a:spcAft>
                <a:spcPts val="600"/>
              </a:spcAft>
              <a:buSzPct val="100000"/>
              <a:buChar char="•"/>
            </a:pPr>
            <a:r>
              <a:rPr lang="en-US" sz="1800" dirty="0">
                <a:solidFill>
                  <a:srgbClr val="000000"/>
                </a:solidFill>
                <a:latin typeface="Times New Roman" pitchFamily="34" charset="0"/>
                <a:ea typeface="Times New Roman" pitchFamily="34" charset="-122"/>
                <a:cs typeface="Times New Roman" pitchFamily="34" charset="-120"/>
              </a:rPr>
              <a:t>Cost: 1,329 false alarms. About 1 in 2 flagged students is not at risk.</a:t>
            </a:r>
            <a:endParaRPr lang="en-US" sz="1800" dirty="0"/>
          </a:p>
          <a:p>
            <a:pPr marL="342900" indent="-342900">
              <a:spcAft>
                <a:spcPts val="600"/>
              </a:spcAft>
              <a:buSzPct val="100000"/>
              <a:buChar char="•"/>
            </a:pPr>
            <a:r>
              <a:rPr lang="en-US" sz="1800" dirty="0">
                <a:solidFill>
                  <a:srgbClr val="000000"/>
                </a:solidFill>
                <a:latin typeface="Times New Roman" pitchFamily="34" charset="0"/>
                <a:ea typeface="Times New Roman" pitchFamily="34" charset="-122"/>
                <a:cs typeface="Times New Roman" pitchFamily="34" charset="-120"/>
              </a:rPr>
              <a:t>Stable: 5-fold CV accuracy 0.7851 (SD 0.0040); train-test gap only 0.3 points.</a:t>
            </a:r>
            <a:endParaRPr lang="en-US" sz="1800" dirty="0"/>
          </a:p>
        </p:txBody>
      </p:sp>
      <p:sp>
        <p:nvSpPr>
          <p:cNvPr id="38"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B6B7C"/>
                </a:solidFill>
                <a:latin typeface="Times New Roman"/>
                <a:ea typeface="Times New Roman"/>
                <a:cs typeface="Times New Roman"/>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365760"/>
            <a:ext cx="10058400" cy="274320"/>
          </a:xfrm>
          <a:prstGeom prst="rect">
            <a:avLst/>
          </a:prstGeom>
          <a:noFill/>
          <a:ln/>
        </p:spPr>
        <p:txBody>
          <a:bodyPr wrap="square" lIns="0" tIns="0" rIns="0" bIns="0" rtlCol="0" anchor="t"/>
          <a:lstStyle/>
          <a:p>
            <a:pPr marL="0" indent="0">
              <a:buNone/>
            </a:pPr>
            <a:r>
              <a:rPr lang="en-US" sz="1400" b="1" kern="0" spc="300" dirty="0">
                <a:solidFill>
                  <a:srgbClr val="000000"/>
                </a:solidFill>
                <a:latin typeface="Times New Roman" pitchFamily="34" charset="0"/>
                <a:ea typeface="Times New Roman" pitchFamily="34" charset="-122"/>
                <a:cs typeface="Times New Roman" pitchFamily="34" charset="-120"/>
              </a:rPr>
              <a:t>CHAPTER 5 — EXPLAINING THE MODEL</a:t>
            </a:r>
            <a:endParaRPr lang="en-US" sz="1400" dirty="0"/>
          </a:p>
        </p:txBody>
      </p:sp>
      <p:sp>
        <p:nvSpPr>
          <p:cNvPr id="3" name="Text 0"/>
          <p:cNvSpPr>
            <a:spLocks noGrp="1"/>
          </p:cNvSpPr>
          <p:nvPr>
            <p:ph type="title" idx="100" hasCustomPrompt="1"/>
          </p:nvPr>
        </p:nvSpPr>
        <p:spPr>
          <a:xfrm>
            <a:off x="548640" y="658368"/>
            <a:ext cx="11091672" cy="640080"/>
          </a:xfrm>
          <a:prstGeom prst="rect">
            <a:avLst/>
          </a:prstGeom>
          <a:noFill/>
          <a:ln/>
        </p:spPr>
        <p:txBody>
          <a:bodyPr wrap="square" lIns="0" tIns="0" rIns="0" bIns="0" rtlCol="0" anchor="ctr"/>
          <a:lstStyle/>
          <a:p>
            <a:pPr marL="0" indent="0" algn="l">
              <a:buNone/>
            </a:pPr>
            <a:r>
              <a:rPr lang="en-US" sz="2800" b="1" dirty="0">
                <a:solidFill>
                  <a:srgbClr val="000000"/>
                </a:solidFill>
                <a:latin typeface="Times New Roman" pitchFamily="34" charset="0"/>
                <a:ea typeface="Times New Roman" pitchFamily="34" charset="-122"/>
                <a:cs typeface="Times New Roman" pitchFamily="34" charset="-120"/>
              </a:rPr>
              <a:t>What Drives the Prediction</a:t>
            </a:r>
            <a:endParaRPr lang="en-US" sz="2800" dirty="0"/>
          </a:p>
        </p:txBody>
      </p:sp>
      <p:sp>
        <p:nvSpPr>
          <p:cNvPr id="4" name="Shape 2"/>
          <p:cNvSpPr/>
          <p:nvPr/>
        </p:nvSpPr>
        <p:spPr>
          <a:xfrm>
            <a:off x="548640" y="1463040"/>
            <a:ext cx="6812280" cy="4800600"/>
          </a:xfrm>
          <a:prstGeom prst="roundRect">
            <a:avLst>
              <a:gd name="adj" fmla="val 1333"/>
            </a:avLst>
          </a:prstGeom>
          <a:solidFill>
            <a:srgbClr val="F4F6F8"/>
          </a:solidFill>
          <a:ln w="12700">
            <a:solidFill>
              <a:srgbClr val="D7DCE1"/>
            </a:solidFill>
            <a:prstDash val="solid"/>
          </a:ln>
        </p:spPr>
      </p:sp>
      <p:sp>
        <p:nvSpPr>
          <p:cNvPr id="5" name="Text 3"/>
          <p:cNvSpPr txBox="1"/>
          <p:nvPr/>
        </p:nvSpPr>
        <p:spPr>
          <a:xfrm>
            <a:off x="822960" y="1627632"/>
            <a:ext cx="6309360" cy="320040"/>
          </a:xfrm>
          <a:prstGeom prst="rect">
            <a:avLst/>
          </a:prstGeom>
          <a:noFill/>
          <a:ln/>
        </p:spPr>
        <p:txBody>
          <a:bodyPr wrap="square" lIns="0" tIns="0" rIns="0" bIns="0" rtlCol="0" anchor="t"/>
          <a:lstStyle/>
          <a:p>
            <a:pPr marL="0" indent="0">
              <a:buNone/>
            </a:pPr>
            <a:r>
              <a:rPr lang="en-US" sz="1400" b="1" kern="0" spc="300" dirty="0">
                <a:solidFill>
                  <a:srgbClr val="000000"/>
                </a:solidFill>
                <a:latin typeface="Times New Roman" pitchFamily="34" charset="0"/>
                <a:ea typeface="Times New Roman" pitchFamily="34" charset="-122"/>
                <a:cs typeface="Times New Roman" pitchFamily="34" charset="-120"/>
              </a:rPr>
              <a:t>FEATURE IMPORTANCE — TOP 10 OF 18 (%)</a:t>
            </a:r>
            <a:endParaRPr lang="en-US" sz="1400" dirty="0"/>
          </a:p>
        </p:txBody>
      </p:sp>
      <p:graphicFrame>
        <p:nvGraphicFramePr>
          <p:cNvPr id="6" name="Chart 0"/>
          <p:cNvGraphicFramePr/>
          <p:nvPr/>
        </p:nvGraphicFramePr>
        <p:xfrm>
          <a:off x="685800" y="1965960"/>
          <a:ext cx="6537960" cy="3749040"/>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 4"/>
          <p:cNvSpPr txBox="1"/>
          <p:nvPr/>
        </p:nvSpPr>
        <p:spPr>
          <a:xfrm>
            <a:off x="822960" y="5833872"/>
            <a:ext cx="6400800" cy="320040"/>
          </a:xfrm>
          <a:prstGeom prst="rect">
            <a:avLst/>
          </a:prstGeom>
          <a:noFill/>
          <a:ln/>
        </p:spPr>
        <p:txBody>
          <a:bodyPr wrap="square" lIns="0" tIns="0" rIns="0" bIns="0" rtlCol="0" anchor="t"/>
          <a:lstStyle/>
          <a:p>
            <a:pPr marL="0" indent="0">
              <a:buNone/>
            </a:pPr>
            <a:r>
              <a:rPr lang="en-US" sz="1400" i="1" dirty="0">
                <a:solidFill>
                  <a:srgbClr val="5B6B7C"/>
                </a:solidFill>
                <a:latin typeface="Times New Roman" pitchFamily="34" charset="0"/>
                <a:ea typeface="Times New Roman" pitchFamily="34" charset="-122"/>
                <a:cs typeface="Times New Roman" pitchFamily="34" charset="-120"/>
              </a:rPr>
              <a:t>Shows size, not direction. Per-student SHAP is future work.</a:t>
            </a:r>
            <a:endParaRPr lang="en-US" sz="1400" dirty="0"/>
          </a:p>
        </p:txBody>
      </p:sp>
      <p:sp>
        <p:nvSpPr>
          <p:cNvPr id="8" name="Shape 5"/>
          <p:cNvSpPr/>
          <p:nvPr/>
        </p:nvSpPr>
        <p:spPr>
          <a:xfrm>
            <a:off x="7589520" y="1463040"/>
            <a:ext cx="4050792" cy="1508760"/>
          </a:xfrm>
          <a:prstGeom prst="roundRect">
            <a:avLst>
              <a:gd name="adj" fmla="val 4242"/>
            </a:avLst>
          </a:prstGeom>
          <a:solidFill>
            <a:srgbClr val="E7EBEF"/>
          </a:solidFill>
          <a:ln w="12700">
            <a:solidFill>
              <a:srgbClr val="D7DCE1"/>
            </a:solidFill>
            <a:prstDash val="solid"/>
          </a:ln>
        </p:spPr>
      </p:sp>
      <p:sp>
        <p:nvSpPr>
          <p:cNvPr id="9" name="Text 6"/>
          <p:cNvSpPr txBox="1"/>
          <p:nvPr/>
        </p:nvSpPr>
        <p:spPr>
          <a:xfrm>
            <a:off x="7818120" y="1600200"/>
            <a:ext cx="3657600" cy="320040"/>
          </a:xfrm>
          <a:prstGeom prst="rect">
            <a:avLst/>
          </a:prstGeom>
          <a:noFill/>
          <a:ln/>
        </p:spPr>
        <p:txBody>
          <a:bodyPr wrap="square" lIns="0" tIns="0" rIns="0" bIns="0" rtlCol="0" anchor="t"/>
          <a:lstStyle/>
          <a:p>
            <a:pPr marL="0" indent="0">
              <a:buNone/>
            </a:pPr>
            <a:r>
              <a:rPr lang="en-US" sz="1400" b="1" kern="0" spc="200" dirty="0">
                <a:solidFill>
                  <a:srgbClr val="000000"/>
                </a:solidFill>
                <a:latin typeface="Times New Roman" pitchFamily="34" charset="0"/>
                <a:ea typeface="Times New Roman" pitchFamily="34" charset="-122"/>
                <a:cs typeface="Times New Roman" pitchFamily="34" charset="-120"/>
              </a:rPr>
              <a:t>TOP 4 CARRY 74.6% OF WEIGHT</a:t>
            </a:r>
            <a:endParaRPr lang="en-US" sz="1400" dirty="0"/>
          </a:p>
        </p:txBody>
      </p:sp>
      <p:sp>
        <p:nvSpPr>
          <p:cNvPr id="10" name="Text 7"/>
          <p:cNvSpPr txBox="1"/>
          <p:nvPr/>
        </p:nvSpPr>
        <p:spPr>
          <a:xfrm>
            <a:off x="7818120" y="2011680"/>
            <a:ext cx="3611880" cy="914400"/>
          </a:xfrm>
          <a:prstGeom prst="rect">
            <a:avLst/>
          </a:prstGeom>
          <a:noFill/>
          <a:ln/>
        </p:spPr>
        <p:txBody>
          <a:bodyPr wrap="square" lIns="0" tIns="0" rIns="0" bIns="0" rtlCol="0" anchor="t"/>
          <a:lstStyle/>
          <a:p>
            <a:pPr marL="0" indent="0">
              <a:buNone/>
            </a:pPr>
            <a:r>
              <a:rPr lang="en-US" sz="1800" dirty="0">
                <a:solidFill>
                  <a:srgbClr val="000000"/>
                </a:solidFill>
                <a:latin typeface="Times New Roman" pitchFamily="34" charset="0"/>
                <a:ea typeface="Times New Roman" pitchFamily="34" charset="-122"/>
                <a:cs typeface="Times New Roman" pitchFamily="34" charset="-120"/>
              </a:rPr>
              <a:t>Resume_Score, Preparedness Index, Programming_Skill, Internships</a:t>
            </a:r>
            <a:endParaRPr lang="en-US" sz="1800" dirty="0"/>
          </a:p>
        </p:txBody>
      </p:sp>
      <p:sp>
        <p:nvSpPr>
          <p:cNvPr id="11" name="Shape 8"/>
          <p:cNvSpPr/>
          <p:nvPr/>
        </p:nvSpPr>
        <p:spPr>
          <a:xfrm>
            <a:off x="7589520" y="3108960"/>
            <a:ext cx="4050792" cy="1508760"/>
          </a:xfrm>
          <a:prstGeom prst="roundRect">
            <a:avLst>
              <a:gd name="adj" fmla="val 4242"/>
            </a:avLst>
          </a:prstGeom>
          <a:solidFill>
            <a:srgbClr val="F4F6F8"/>
          </a:solidFill>
          <a:ln w="12700">
            <a:solidFill>
              <a:srgbClr val="D7DCE1"/>
            </a:solidFill>
            <a:prstDash val="solid"/>
          </a:ln>
        </p:spPr>
      </p:sp>
      <p:sp>
        <p:nvSpPr>
          <p:cNvPr id="12" name="Text 9"/>
          <p:cNvSpPr txBox="1"/>
          <p:nvPr/>
        </p:nvSpPr>
        <p:spPr>
          <a:xfrm>
            <a:off x="7818120" y="3246120"/>
            <a:ext cx="3657600" cy="320040"/>
          </a:xfrm>
          <a:prstGeom prst="rect">
            <a:avLst/>
          </a:prstGeom>
          <a:noFill/>
          <a:ln/>
        </p:spPr>
        <p:txBody>
          <a:bodyPr wrap="square" lIns="0" tIns="0" rIns="0" bIns="0" rtlCol="0" anchor="t"/>
          <a:lstStyle/>
          <a:p>
            <a:pPr marL="0" indent="0">
              <a:buNone/>
            </a:pPr>
            <a:r>
              <a:rPr lang="en-US" sz="1400" b="1" kern="0" spc="200" dirty="0">
                <a:solidFill>
                  <a:srgbClr val="000000"/>
                </a:solidFill>
                <a:latin typeface="Times New Roman" pitchFamily="34" charset="0"/>
                <a:ea typeface="Times New Roman" pitchFamily="34" charset="-122"/>
                <a:cs typeface="Times New Roman" pitchFamily="34" charset="-120"/>
              </a:rPr>
              <a:t>GRADES RANK 7TH OF 18</a:t>
            </a:r>
            <a:endParaRPr lang="en-US" sz="1400" dirty="0"/>
          </a:p>
        </p:txBody>
      </p:sp>
      <p:sp>
        <p:nvSpPr>
          <p:cNvPr id="13" name="Text 10"/>
          <p:cNvSpPr txBox="1"/>
          <p:nvPr/>
        </p:nvSpPr>
        <p:spPr>
          <a:xfrm>
            <a:off x="7818120" y="3657600"/>
            <a:ext cx="3611880" cy="914400"/>
          </a:xfrm>
          <a:prstGeom prst="rect">
            <a:avLst/>
          </a:prstGeom>
          <a:noFill/>
          <a:ln/>
        </p:spPr>
        <p:txBody>
          <a:bodyPr wrap="square" lIns="0" tIns="0" rIns="0" bIns="0" rtlCol="0" anchor="t"/>
          <a:lstStyle/>
          <a:p>
            <a:pPr marL="0" indent="0">
              <a:buNone/>
            </a:pPr>
            <a:r>
              <a:rPr lang="en-US" sz="1800" dirty="0">
                <a:solidFill>
                  <a:srgbClr val="000000"/>
                </a:solidFill>
                <a:latin typeface="Times New Roman" pitchFamily="34" charset="0"/>
                <a:ea typeface="Times New Roman" pitchFamily="34" charset="-122"/>
                <a:cs typeface="Times New Roman" pitchFamily="34" charset="-120"/>
              </a:rPr>
              <a:t>CGPA holds only 2.9%. Skills matter more than grades.</a:t>
            </a:r>
            <a:endParaRPr lang="en-US" sz="1800" dirty="0"/>
          </a:p>
        </p:txBody>
      </p:sp>
      <p:sp>
        <p:nvSpPr>
          <p:cNvPr id="14" name="Shape 11"/>
          <p:cNvSpPr/>
          <p:nvPr/>
        </p:nvSpPr>
        <p:spPr>
          <a:xfrm>
            <a:off x="7589520" y="4754880"/>
            <a:ext cx="4050792" cy="1508760"/>
          </a:xfrm>
          <a:prstGeom prst="roundRect">
            <a:avLst>
              <a:gd name="adj" fmla="val 4242"/>
            </a:avLst>
          </a:prstGeom>
          <a:solidFill>
            <a:srgbClr val="F4F6F8"/>
          </a:solidFill>
          <a:ln w="12700">
            <a:solidFill>
              <a:srgbClr val="D7DCE1"/>
            </a:solidFill>
            <a:prstDash val="solid"/>
          </a:ln>
        </p:spPr>
      </p:sp>
      <p:sp>
        <p:nvSpPr>
          <p:cNvPr id="15" name="Text 12"/>
          <p:cNvSpPr txBox="1"/>
          <p:nvPr/>
        </p:nvSpPr>
        <p:spPr>
          <a:xfrm>
            <a:off x="7818120" y="4892040"/>
            <a:ext cx="3657600" cy="320040"/>
          </a:xfrm>
          <a:prstGeom prst="rect">
            <a:avLst/>
          </a:prstGeom>
          <a:noFill/>
          <a:ln/>
        </p:spPr>
        <p:txBody>
          <a:bodyPr wrap="square" lIns="0" tIns="0" rIns="0" bIns="0" rtlCol="0" anchor="t"/>
          <a:lstStyle/>
          <a:p>
            <a:pPr marL="0" indent="0">
              <a:buNone/>
            </a:pPr>
            <a:r>
              <a:rPr lang="en-US" sz="1400" b="1" kern="0" spc="200" dirty="0">
                <a:solidFill>
                  <a:srgbClr val="000000"/>
                </a:solidFill>
                <a:latin typeface="Times New Roman" pitchFamily="34" charset="0"/>
                <a:ea typeface="Times New Roman" pitchFamily="34" charset="-122"/>
                <a:cs typeface="Times New Roman" pitchFamily="34" charset="-120"/>
              </a:rPr>
              <a:t>SECOND CHECK</a:t>
            </a:r>
            <a:endParaRPr lang="en-US" sz="1400" dirty="0"/>
          </a:p>
        </p:txBody>
      </p:sp>
      <p:sp>
        <p:nvSpPr>
          <p:cNvPr id="16" name="Text 13"/>
          <p:cNvSpPr txBox="1"/>
          <p:nvPr/>
        </p:nvSpPr>
        <p:spPr>
          <a:xfrm>
            <a:off x="7818120" y="5303520"/>
            <a:ext cx="3611880" cy="914400"/>
          </a:xfrm>
          <a:prstGeom prst="rect">
            <a:avLst/>
          </a:prstGeom>
          <a:noFill/>
          <a:ln/>
        </p:spPr>
        <p:txBody>
          <a:bodyPr wrap="square" lIns="0" tIns="0" rIns="0" bIns="0" rtlCol="0" anchor="t"/>
          <a:lstStyle/>
          <a:p>
            <a:pPr marL="0" indent="0">
              <a:buNone/>
            </a:pPr>
            <a:r>
              <a:rPr lang="en-US" sz="1800" dirty="0">
                <a:solidFill>
                  <a:srgbClr val="000000"/>
                </a:solidFill>
                <a:latin typeface="Times New Roman" pitchFamily="34" charset="0"/>
                <a:ea typeface="Times New Roman" pitchFamily="34" charset="-122"/>
                <a:cs typeface="Times New Roman" pitchFamily="34" charset="-120"/>
              </a:rPr>
              <a:t>A second test gives the same top 4. Read them as one group.</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B6B7C"/>
                </a:solidFill>
                <a:latin typeface="Times New Roman"/>
                <a:ea typeface="Times New Roman"/>
                <a:cs typeface="Times New Roman"/>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365760"/>
            <a:ext cx="10058400" cy="274320"/>
          </a:xfrm>
          <a:prstGeom prst="rect">
            <a:avLst/>
          </a:prstGeom>
          <a:noFill/>
          <a:ln/>
        </p:spPr>
        <p:txBody>
          <a:bodyPr wrap="square" lIns="0" tIns="0" rIns="0" bIns="0" rtlCol="0" anchor="t"/>
          <a:lstStyle/>
          <a:p>
            <a:pPr marL="0" indent="0">
              <a:buNone/>
            </a:pPr>
            <a:r>
              <a:rPr lang="en-US" sz="1400" b="1" kern="0" spc="300" dirty="0">
                <a:solidFill>
                  <a:srgbClr val="000000"/>
                </a:solidFill>
                <a:latin typeface="Times New Roman" pitchFamily="34" charset="0"/>
                <a:ea typeface="Times New Roman" pitchFamily="34" charset="-122"/>
                <a:cs typeface="Times New Roman" pitchFamily="34" charset="-120"/>
              </a:rPr>
              <a:t>CHAPTER 5 — DISCUSSION</a:t>
            </a:r>
            <a:endParaRPr lang="en-US" sz="1400" dirty="0"/>
          </a:p>
        </p:txBody>
      </p:sp>
      <p:sp>
        <p:nvSpPr>
          <p:cNvPr id="3" name="Text 0"/>
          <p:cNvSpPr>
            <a:spLocks noGrp="1"/>
          </p:cNvSpPr>
          <p:nvPr>
            <p:ph type="title" idx="100" hasCustomPrompt="1"/>
          </p:nvPr>
        </p:nvSpPr>
        <p:spPr>
          <a:xfrm>
            <a:off x="548640" y="658368"/>
            <a:ext cx="11091672" cy="640080"/>
          </a:xfrm>
          <a:prstGeom prst="rect">
            <a:avLst/>
          </a:prstGeom>
          <a:noFill/>
          <a:ln/>
        </p:spPr>
        <p:txBody>
          <a:bodyPr wrap="square" lIns="0" tIns="0" rIns="0" bIns="0" rtlCol="0" anchor="ctr"/>
          <a:lstStyle/>
          <a:p>
            <a:pPr marL="0" indent="0" algn="l">
              <a:buNone/>
            </a:pPr>
            <a:r>
              <a:rPr lang="en-US" sz="2800" b="1" dirty="0">
                <a:solidFill>
                  <a:srgbClr val="000000"/>
                </a:solidFill>
                <a:latin typeface="Times New Roman" pitchFamily="34" charset="0"/>
                <a:ea typeface="Times New Roman" pitchFamily="34" charset="-122"/>
                <a:cs typeface="Times New Roman" pitchFamily="34" charset="-120"/>
              </a:rPr>
              <a:t>Key Findings</a:t>
            </a:r>
            <a:endParaRPr lang="en-US" sz="2800" dirty="0"/>
          </a:p>
        </p:txBody>
      </p:sp>
      <p:sp>
        <p:nvSpPr>
          <p:cNvPr id="4" name="Shape 2"/>
          <p:cNvSpPr/>
          <p:nvPr/>
        </p:nvSpPr>
        <p:spPr>
          <a:xfrm>
            <a:off x="548640" y="1463040"/>
            <a:ext cx="1600200" cy="1097280"/>
          </a:xfrm>
          <a:prstGeom prst="roundRect">
            <a:avLst>
              <a:gd name="adj" fmla="val 5833"/>
            </a:avLst>
          </a:prstGeom>
          <a:solidFill>
            <a:srgbClr val="E7EBEF"/>
          </a:solidFill>
          <a:ln w="12700">
            <a:solidFill>
              <a:srgbClr val="D7DCE1"/>
            </a:solidFill>
            <a:prstDash val="solid"/>
          </a:ln>
        </p:spPr>
      </p:sp>
      <p:sp>
        <p:nvSpPr>
          <p:cNvPr id="5" name="Text 3"/>
          <p:cNvSpPr txBox="1"/>
          <p:nvPr/>
        </p:nvSpPr>
        <p:spPr>
          <a:xfrm>
            <a:off x="548640" y="1463040"/>
            <a:ext cx="1600200" cy="1097280"/>
          </a:xfrm>
          <a:prstGeom prst="rect">
            <a:avLst/>
          </a:prstGeom>
          <a:noFill/>
          <a:ln/>
        </p:spPr>
        <p:txBody>
          <a:bodyPr wrap="square" lIns="0" tIns="0" rIns="0" bIns="0" rtlCol="0" anchor="ctr"/>
          <a:lstStyle/>
          <a:p>
            <a:pPr marL="0" indent="0" algn="ctr">
              <a:buNone/>
            </a:pPr>
            <a:r>
              <a:rPr lang="en-US" sz="2000" b="1" dirty="0">
                <a:solidFill>
                  <a:srgbClr val="000000"/>
                </a:solidFill>
                <a:latin typeface="Times New Roman" pitchFamily="34" charset="0"/>
                <a:ea typeface="Times New Roman" pitchFamily="34" charset="-122"/>
                <a:cs typeface="Times New Roman" pitchFamily="34" charset="-120"/>
              </a:rPr>
              <a:t>O1 | RQ1</a:t>
            </a:r>
            <a:endParaRPr lang="en-US" sz="2000" dirty="0"/>
          </a:p>
        </p:txBody>
      </p:sp>
      <p:sp>
        <p:nvSpPr>
          <p:cNvPr id="6" name="Shape 4"/>
          <p:cNvSpPr/>
          <p:nvPr/>
        </p:nvSpPr>
        <p:spPr>
          <a:xfrm>
            <a:off x="2286000" y="1463040"/>
            <a:ext cx="9354312" cy="1097280"/>
          </a:xfrm>
          <a:prstGeom prst="roundRect">
            <a:avLst>
              <a:gd name="adj" fmla="val 5833"/>
            </a:avLst>
          </a:prstGeom>
          <a:solidFill>
            <a:srgbClr val="F4F6F8"/>
          </a:solidFill>
          <a:ln w="12700">
            <a:solidFill>
              <a:srgbClr val="D7DCE1"/>
            </a:solidFill>
            <a:prstDash val="solid"/>
          </a:ln>
        </p:spPr>
      </p:sp>
      <p:sp>
        <p:nvSpPr>
          <p:cNvPr id="7" name="Text 5"/>
          <p:cNvSpPr txBox="1"/>
          <p:nvPr/>
        </p:nvSpPr>
        <p:spPr>
          <a:xfrm>
            <a:off x="2514600" y="1554480"/>
            <a:ext cx="8961120" cy="365760"/>
          </a:xfrm>
          <a:prstGeom prst="rect">
            <a:avLst/>
          </a:prstGeom>
          <a:noFill/>
          <a:ln/>
        </p:spPr>
        <p:txBody>
          <a:bodyPr wrap="square" lIns="0" tIns="0" rIns="0" bIns="0" rtlCol="0" anchor="t"/>
          <a:lstStyle/>
          <a:p>
            <a:pPr marL="0" indent="0">
              <a:buNone/>
            </a:pPr>
            <a:r>
              <a:rPr lang="en-US" sz="2000" b="1" dirty="0">
                <a:solidFill>
                  <a:srgbClr val="000000"/>
                </a:solidFill>
                <a:latin typeface="Times New Roman" pitchFamily="34" charset="0"/>
                <a:ea typeface="Times New Roman" pitchFamily="34" charset="-122"/>
                <a:cs typeface="Times New Roman" pitchFamily="34" charset="-120"/>
              </a:rPr>
              <a:t>Skills beat grades</a:t>
            </a:r>
            <a:endParaRPr lang="en-US" sz="2000" dirty="0"/>
          </a:p>
        </p:txBody>
      </p:sp>
      <p:sp>
        <p:nvSpPr>
          <p:cNvPr id="8" name="Text 6"/>
          <p:cNvSpPr txBox="1"/>
          <p:nvPr/>
        </p:nvSpPr>
        <p:spPr>
          <a:xfrm>
            <a:off x="2514600" y="1920240"/>
            <a:ext cx="8961120" cy="621792"/>
          </a:xfrm>
          <a:prstGeom prst="rect">
            <a:avLst/>
          </a:prstGeom>
          <a:noFill/>
          <a:ln/>
        </p:spPr>
        <p:txBody>
          <a:bodyPr wrap="square" lIns="0" tIns="0" rIns="0" bIns="0" rtlCol="0" anchor="t"/>
          <a:lstStyle/>
          <a:p>
            <a:pPr marL="0" indent="0">
              <a:buNone/>
            </a:pPr>
            <a:r>
              <a:rPr lang="en-US" sz="1800" dirty="0">
                <a:solidFill>
                  <a:srgbClr val="5B6B7C"/>
                </a:solidFill>
                <a:latin typeface="Times New Roman" pitchFamily="34" charset="0"/>
                <a:ea typeface="Times New Roman" pitchFamily="34" charset="-122"/>
                <a:cs typeface="Times New Roman" pitchFamily="34" charset="-120"/>
              </a:rPr>
              <a:t>Resume, preparedness, programming and internships lead; CGPA is 7th of 18. Z-test: all 13 number features differ (p &lt; 0.0001).</a:t>
            </a:r>
            <a:endParaRPr lang="en-US" sz="1800" dirty="0"/>
          </a:p>
        </p:txBody>
      </p:sp>
      <p:sp>
        <p:nvSpPr>
          <p:cNvPr id="9" name="Shape 7"/>
          <p:cNvSpPr/>
          <p:nvPr/>
        </p:nvSpPr>
        <p:spPr>
          <a:xfrm>
            <a:off x="548640" y="2679192"/>
            <a:ext cx="1600200" cy="1097280"/>
          </a:xfrm>
          <a:prstGeom prst="roundRect">
            <a:avLst>
              <a:gd name="adj" fmla="val 5833"/>
            </a:avLst>
          </a:prstGeom>
          <a:solidFill>
            <a:srgbClr val="E7EBEF"/>
          </a:solidFill>
          <a:ln w="12700">
            <a:solidFill>
              <a:srgbClr val="D7DCE1"/>
            </a:solidFill>
            <a:prstDash val="solid"/>
          </a:ln>
        </p:spPr>
      </p:sp>
      <p:sp>
        <p:nvSpPr>
          <p:cNvPr id="10" name="Text 8"/>
          <p:cNvSpPr txBox="1"/>
          <p:nvPr/>
        </p:nvSpPr>
        <p:spPr>
          <a:xfrm>
            <a:off x="548640" y="2679192"/>
            <a:ext cx="1600200" cy="1097280"/>
          </a:xfrm>
          <a:prstGeom prst="rect">
            <a:avLst/>
          </a:prstGeom>
          <a:noFill/>
          <a:ln/>
        </p:spPr>
        <p:txBody>
          <a:bodyPr wrap="square" lIns="0" tIns="0" rIns="0" bIns="0" rtlCol="0" anchor="ctr"/>
          <a:lstStyle/>
          <a:p>
            <a:pPr marL="0" indent="0" algn="ctr">
              <a:buNone/>
            </a:pPr>
            <a:r>
              <a:rPr lang="en-US" sz="2000" b="1" dirty="0">
                <a:solidFill>
                  <a:srgbClr val="000000"/>
                </a:solidFill>
                <a:latin typeface="Times New Roman" pitchFamily="34" charset="0"/>
                <a:ea typeface="Times New Roman" pitchFamily="34" charset="-122"/>
                <a:cs typeface="Times New Roman" pitchFamily="34" charset="-120"/>
              </a:rPr>
              <a:t>O2 | RQ2</a:t>
            </a:r>
            <a:endParaRPr lang="en-US" sz="2000" dirty="0"/>
          </a:p>
        </p:txBody>
      </p:sp>
      <p:sp>
        <p:nvSpPr>
          <p:cNvPr id="11" name="Shape 9"/>
          <p:cNvSpPr/>
          <p:nvPr/>
        </p:nvSpPr>
        <p:spPr>
          <a:xfrm>
            <a:off x="2286000" y="2679192"/>
            <a:ext cx="9354312" cy="1097280"/>
          </a:xfrm>
          <a:prstGeom prst="roundRect">
            <a:avLst>
              <a:gd name="adj" fmla="val 5833"/>
            </a:avLst>
          </a:prstGeom>
          <a:solidFill>
            <a:srgbClr val="F4F6F8"/>
          </a:solidFill>
          <a:ln w="12700">
            <a:solidFill>
              <a:srgbClr val="D7DCE1"/>
            </a:solidFill>
            <a:prstDash val="solid"/>
          </a:ln>
        </p:spPr>
      </p:sp>
      <p:sp>
        <p:nvSpPr>
          <p:cNvPr id="12" name="Text 10"/>
          <p:cNvSpPr txBox="1"/>
          <p:nvPr/>
        </p:nvSpPr>
        <p:spPr>
          <a:xfrm>
            <a:off x="2514600" y="2770632"/>
            <a:ext cx="8961120" cy="365760"/>
          </a:xfrm>
          <a:prstGeom prst="rect">
            <a:avLst/>
          </a:prstGeom>
          <a:noFill/>
          <a:ln/>
        </p:spPr>
        <p:txBody>
          <a:bodyPr wrap="square" lIns="0" tIns="0" rIns="0" bIns="0" rtlCol="0" anchor="t"/>
          <a:lstStyle/>
          <a:p>
            <a:pPr marL="0" indent="0">
              <a:buNone/>
            </a:pPr>
            <a:r>
              <a:rPr lang="en-US" sz="2000" b="1" dirty="0">
                <a:solidFill>
                  <a:srgbClr val="000000"/>
                </a:solidFill>
                <a:latin typeface="Times New Roman" pitchFamily="34" charset="0"/>
                <a:ea typeface="Times New Roman" pitchFamily="34" charset="-122"/>
                <a:cs typeface="Times New Roman" pitchFamily="34" charset="-120"/>
              </a:rPr>
              <a:t>Job status is moderately predictable</a:t>
            </a:r>
            <a:endParaRPr lang="en-US" sz="2000" dirty="0"/>
          </a:p>
        </p:txBody>
      </p:sp>
      <p:sp>
        <p:nvSpPr>
          <p:cNvPr id="13" name="Text 11"/>
          <p:cNvSpPr txBox="1"/>
          <p:nvPr/>
        </p:nvSpPr>
        <p:spPr>
          <a:xfrm>
            <a:off x="2514600" y="3136392"/>
            <a:ext cx="8961120" cy="621792"/>
          </a:xfrm>
          <a:prstGeom prst="rect">
            <a:avLst/>
          </a:prstGeom>
          <a:noFill/>
          <a:ln/>
        </p:spPr>
        <p:txBody>
          <a:bodyPr wrap="square" lIns="0" tIns="0" rIns="0" bIns="0" rtlCol="0" anchor="t"/>
          <a:lstStyle/>
          <a:p>
            <a:pPr marL="0" indent="0">
              <a:buNone/>
            </a:pPr>
            <a:r>
              <a:rPr lang="en-US" sz="1800" dirty="0">
                <a:solidFill>
                  <a:srgbClr val="5B6B7C"/>
                </a:solidFill>
                <a:latin typeface="Times New Roman" pitchFamily="34" charset="0"/>
                <a:ea typeface="Times New Roman" pitchFamily="34" charset="-122"/>
                <a:cs typeface="Times New Roman" pitchFamily="34" charset="-120"/>
              </a:rPr>
              <a:t>ROC-AUC 0.8068; accuracy 78.69% vs 78.08% baseline; 63.4% of at-risk students found. Stable in cross-validation.</a:t>
            </a:r>
            <a:endParaRPr lang="en-US" sz="1800" dirty="0"/>
          </a:p>
        </p:txBody>
      </p:sp>
      <p:sp>
        <p:nvSpPr>
          <p:cNvPr id="14" name="Shape 12"/>
          <p:cNvSpPr/>
          <p:nvPr/>
        </p:nvSpPr>
        <p:spPr>
          <a:xfrm>
            <a:off x="548640" y="3895344"/>
            <a:ext cx="1600200" cy="1097280"/>
          </a:xfrm>
          <a:prstGeom prst="roundRect">
            <a:avLst>
              <a:gd name="adj" fmla="val 5833"/>
            </a:avLst>
          </a:prstGeom>
          <a:solidFill>
            <a:srgbClr val="E7EBEF"/>
          </a:solidFill>
          <a:ln w="12700">
            <a:solidFill>
              <a:srgbClr val="D7DCE1"/>
            </a:solidFill>
            <a:prstDash val="solid"/>
          </a:ln>
        </p:spPr>
      </p:sp>
      <p:sp>
        <p:nvSpPr>
          <p:cNvPr id="15" name="Text 13"/>
          <p:cNvSpPr txBox="1"/>
          <p:nvPr/>
        </p:nvSpPr>
        <p:spPr>
          <a:xfrm>
            <a:off x="548640" y="3895344"/>
            <a:ext cx="1600200" cy="1097280"/>
          </a:xfrm>
          <a:prstGeom prst="rect">
            <a:avLst/>
          </a:prstGeom>
          <a:noFill/>
          <a:ln/>
        </p:spPr>
        <p:txBody>
          <a:bodyPr wrap="square" lIns="0" tIns="0" rIns="0" bIns="0" rtlCol="0" anchor="ctr"/>
          <a:lstStyle/>
          <a:p>
            <a:pPr marL="0" indent="0" algn="ctr">
              <a:buNone/>
            </a:pPr>
            <a:r>
              <a:rPr lang="en-US" sz="2000" b="1" dirty="0">
                <a:solidFill>
                  <a:srgbClr val="000000"/>
                </a:solidFill>
                <a:latin typeface="Times New Roman" pitchFamily="34" charset="0"/>
                <a:ea typeface="Times New Roman" pitchFamily="34" charset="-122"/>
                <a:cs typeface="Times New Roman" pitchFamily="34" charset="-120"/>
              </a:rPr>
              <a:t>O2 | RQ3</a:t>
            </a:r>
            <a:endParaRPr lang="en-US" sz="2000" dirty="0"/>
          </a:p>
        </p:txBody>
      </p:sp>
      <p:sp>
        <p:nvSpPr>
          <p:cNvPr id="16" name="Shape 14"/>
          <p:cNvSpPr/>
          <p:nvPr/>
        </p:nvSpPr>
        <p:spPr>
          <a:xfrm>
            <a:off x="2286000" y="3895344"/>
            <a:ext cx="9354312" cy="1097280"/>
          </a:xfrm>
          <a:prstGeom prst="roundRect">
            <a:avLst>
              <a:gd name="adj" fmla="val 5833"/>
            </a:avLst>
          </a:prstGeom>
          <a:solidFill>
            <a:srgbClr val="F4F6F8"/>
          </a:solidFill>
          <a:ln w="12700">
            <a:solidFill>
              <a:srgbClr val="D7DCE1"/>
            </a:solidFill>
            <a:prstDash val="solid"/>
          </a:ln>
        </p:spPr>
      </p:sp>
      <p:sp>
        <p:nvSpPr>
          <p:cNvPr id="17" name="Text 15"/>
          <p:cNvSpPr txBox="1"/>
          <p:nvPr/>
        </p:nvSpPr>
        <p:spPr>
          <a:xfrm>
            <a:off x="2514600" y="3986784"/>
            <a:ext cx="8961120" cy="365760"/>
          </a:xfrm>
          <a:prstGeom prst="rect">
            <a:avLst/>
          </a:prstGeom>
          <a:noFill/>
          <a:ln/>
        </p:spPr>
        <p:txBody>
          <a:bodyPr wrap="square" lIns="0" tIns="0" rIns="0" bIns="0" rtlCol="0" anchor="t"/>
          <a:lstStyle/>
          <a:p>
            <a:pPr marL="0" indent="0">
              <a:buNone/>
            </a:pPr>
            <a:r>
              <a:rPr lang="en-US" sz="2000" b="1" dirty="0">
                <a:solidFill>
                  <a:srgbClr val="000000"/>
                </a:solidFill>
                <a:latin typeface="Times New Roman" pitchFamily="34" charset="0"/>
                <a:ea typeface="Times New Roman" pitchFamily="34" charset="-122"/>
                <a:cs typeface="Times New Roman" pitchFamily="34" charset="-120"/>
              </a:rPr>
              <a:t>No model clearly wins</a:t>
            </a:r>
            <a:endParaRPr lang="en-US" sz="2000" dirty="0"/>
          </a:p>
        </p:txBody>
      </p:sp>
      <p:sp>
        <p:nvSpPr>
          <p:cNvPr id="18" name="Text 16"/>
          <p:cNvSpPr txBox="1"/>
          <p:nvPr/>
        </p:nvSpPr>
        <p:spPr>
          <a:xfrm>
            <a:off x="2514600" y="4352544"/>
            <a:ext cx="8961120" cy="621792"/>
          </a:xfrm>
          <a:prstGeom prst="rect">
            <a:avLst/>
          </a:prstGeom>
          <a:noFill/>
          <a:ln/>
        </p:spPr>
        <p:txBody>
          <a:bodyPr wrap="square" lIns="0" tIns="0" rIns="0" bIns="0" rtlCol="0" anchor="t"/>
          <a:lstStyle/>
          <a:p>
            <a:pPr marL="0" indent="0">
              <a:buNone/>
            </a:pPr>
            <a:r>
              <a:rPr lang="en-US" sz="1800" dirty="0">
                <a:solidFill>
                  <a:srgbClr val="5B6B7C"/>
                </a:solidFill>
                <a:latin typeface="Times New Roman" pitchFamily="34" charset="0"/>
                <a:ea typeface="Times New Roman" pitchFamily="34" charset="-122"/>
                <a:cs typeface="Times New Roman" pitchFamily="34" charset="-120"/>
              </a:rPr>
              <a:t>The four models are within 2 points. Logistic Regression is as good as XGBoost, so we chose by how easy it is to explain.</a:t>
            </a:r>
            <a:endParaRPr lang="en-US" sz="1800" dirty="0"/>
          </a:p>
        </p:txBody>
      </p:sp>
      <p:sp>
        <p:nvSpPr>
          <p:cNvPr id="19" name="Shape 17"/>
          <p:cNvSpPr/>
          <p:nvPr/>
        </p:nvSpPr>
        <p:spPr>
          <a:xfrm>
            <a:off x="548640" y="5111496"/>
            <a:ext cx="1600200" cy="1097280"/>
          </a:xfrm>
          <a:prstGeom prst="roundRect">
            <a:avLst>
              <a:gd name="adj" fmla="val 5833"/>
            </a:avLst>
          </a:prstGeom>
          <a:solidFill>
            <a:srgbClr val="E7EBEF"/>
          </a:solidFill>
          <a:ln w="12700">
            <a:solidFill>
              <a:srgbClr val="D7DCE1"/>
            </a:solidFill>
            <a:prstDash val="solid"/>
          </a:ln>
        </p:spPr>
      </p:sp>
      <p:sp>
        <p:nvSpPr>
          <p:cNvPr id="20" name="Text 18"/>
          <p:cNvSpPr txBox="1"/>
          <p:nvPr/>
        </p:nvSpPr>
        <p:spPr>
          <a:xfrm>
            <a:off x="548640" y="5111496"/>
            <a:ext cx="1600200" cy="1097280"/>
          </a:xfrm>
          <a:prstGeom prst="rect">
            <a:avLst/>
          </a:prstGeom>
          <a:noFill/>
          <a:ln/>
        </p:spPr>
        <p:txBody>
          <a:bodyPr wrap="square" lIns="0" tIns="0" rIns="0" bIns="0" rtlCol="0" anchor="ctr"/>
          <a:lstStyle/>
          <a:p>
            <a:pPr marL="0" indent="0" algn="ctr">
              <a:buNone/>
            </a:pPr>
            <a:r>
              <a:rPr lang="en-US" sz="2000" b="1" dirty="0">
                <a:solidFill>
                  <a:srgbClr val="000000"/>
                </a:solidFill>
                <a:latin typeface="Times New Roman" pitchFamily="34" charset="0"/>
                <a:ea typeface="Times New Roman" pitchFamily="34" charset="-122"/>
                <a:cs typeface="Times New Roman" pitchFamily="34" charset="-120"/>
              </a:rPr>
              <a:t>O3 | RQ4</a:t>
            </a:r>
            <a:endParaRPr lang="en-US" sz="2000" dirty="0"/>
          </a:p>
        </p:txBody>
      </p:sp>
      <p:sp>
        <p:nvSpPr>
          <p:cNvPr id="21" name="Shape 19"/>
          <p:cNvSpPr/>
          <p:nvPr/>
        </p:nvSpPr>
        <p:spPr>
          <a:xfrm>
            <a:off x="2286000" y="5111496"/>
            <a:ext cx="9354312" cy="1097280"/>
          </a:xfrm>
          <a:prstGeom prst="roundRect">
            <a:avLst>
              <a:gd name="adj" fmla="val 5833"/>
            </a:avLst>
          </a:prstGeom>
          <a:solidFill>
            <a:srgbClr val="F4F6F8"/>
          </a:solidFill>
          <a:ln w="12700">
            <a:solidFill>
              <a:srgbClr val="D7DCE1"/>
            </a:solidFill>
            <a:prstDash val="solid"/>
          </a:ln>
        </p:spPr>
      </p:sp>
      <p:sp>
        <p:nvSpPr>
          <p:cNvPr id="22" name="Text 20"/>
          <p:cNvSpPr txBox="1"/>
          <p:nvPr/>
        </p:nvSpPr>
        <p:spPr>
          <a:xfrm>
            <a:off x="2514600" y="5202936"/>
            <a:ext cx="8961120" cy="365760"/>
          </a:xfrm>
          <a:prstGeom prst="rect">
            <a:avLst/>
          </a:prstGeom>
          <a:noFill/>
          <a:ln/>
        </p:spPr>
        <p:txBody>
          <a:bodyPr wrap="square" lIns="0" tIns="0" rIns="0" bIns="0" rtlCol="0" anchor="t"/>
          <a:lstStyle/>
          <a:p>
            <a:pPr marL="0" indent="0">
              <a:buNone/>
            </a:pPr>
            <a:r>
              <a:rPr lang="en-US" sz="2000" b="1" dirty="0">
                <a:solidFill>
                  <a:srgbClr val="000000"/>
                </a:solidFill>
                <a:latin typeface="Times New Roman" pitchFamily="34" charset="0"/>
                <a:ea typeface="Times New Roman" pitchFamily="34" charset="-122"/>
                <a:cs typeface="Times New Roman" pitchFamily="34" charset="-120"/>
              </a:rPr>
              <a:t>Useful advice</a:t>
            </a:r>
            <a:endParaRPr lang="en-US" sz="2000" dirty="0"/>
          </a:p>
        </p:txBody>
      </p:sp>
      <p:sp>
        <p:nvSpPr>
          <p:cNvPr id="23" name="Text 21"/>
          <p:cNvSpPr txBox="1"/>
          <p:nvPr/>
        </p:nvSpPr>
        <p:spPr>
          <a:xfrm>
            <a:off x="2514600" y="5568696"/>
            <a:ext cx="8961120" cy="621792"/>
          </a:xfrm>
          <a:prstGeom prst="rect">
            <a:avLst/>
          </a:prstGeom>
          <a:noFill/>
          <a:ln/>
        </p:spPr>
        <p:txBody>
          <a:bodyPr wrap="square" lIns="0" tIns="0" rIns="0" bIns="0" rtlCol="0" anchor="t"/>
          <a:lstStyle/>
          <a:p>
            <a:pPr marL="0" indent="0">
              <a:buNone/>
            </a:pPr>
            <a:r>
              <a:rPr lang="en-US" sz="1800" dirty="0">
                <a:solidFill>
                  <a:srgbClr val="5B6B7C"/>
                </a:solidFill>
                <a:latin typeface="Times New Roman" pitchFamily="34" charset="0"/>
                <a:ea typeface="Times New Roman" pitchFamily="34" charset="-122"/>
                <a:cs typeface="Times New Roman" pitchFamily="34" charset="-120"/>
              </a:rPr>
              <a:t>Students: build resume, programming, problem-solving, internships. Universities: more hands-on learning. Per-student SHAP is still to do.</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B6B7C"/>
                </a:solidFill>
                <a:latin typeface="Times New Roman"/>
                <a:ea typeface="Times New Roman"/>
                <a:cs typeface="Times New Roman"/>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365760"/>
            <a:ext cx="10058400" cy="274320"/>
          </a:xfrm>
          <a:prstGeom prst="rect">
            <a:avLst/>
          </a:prstGeom>
          <a:noFill/>
          <a:ln/>
        </p:spPr>
        <p:txBody>
          <a:bodyPr wrap="square" lIns="0" tIns="0" rIns="0" bIns="0" rtlCol="0" anchor="t"/>
          <a:lstStyle/>
          <a:p>
            <a:pPr marL="0" indent="0">
              <a:buNone/>
            </a:pPr>
            <a:r>
              <a:rPr lang="en-US" sz="1400" b="1" kern="0" spc="300" dirty="0">
                <a:solidFill>
                  <a:srgbClr val="000000"/>
                </a:solidFill>
                <a:latin typeface="Times New Roman" pitchFamily="34" charset="0"/>
                <a:ea typeface="Times New Roman" pitchFamily="34" charset="-122"/>
                <a:cs typeface="Times New Roman" pitchFamily="34" charset="-120"/>
              </a:rPr>
              <a:t>CHAPTER 6 — LIMITS AND FUTURE WORK</a:t>
            </a:r>
            <a:endParaRPr lang="en-US" sz="1400" dirty="0"/>
          </a:p>
        </p:txBody>
      </p:sp>
      <p:sp>
        <p:nvSpPr>
          <p:cNvPr id="3" name="Text 0"/>
          <p:cNvSpPr>
            <a:spLocks noGrp="1"/>
          </p:cNvSpPr>
          <p:nvPr>
            <p:ph type="title" idx="100" hasCustomPrompt="1"/>
          </p:nvPr>
        </p:nvSpPr>
        <p:spPr>
          <a:xfrm>
            <a:off x="548640" y="658368"/>
            <a:ext cx="11091672" cy="640080"/>
          </a:xfrm>
          <a:prstGeom prst="rect">
            <a:avLst/>
          </a:prstGeom>
          <a:noFill/>
          <a:ln/>
        </p:spPr>
        <p:txBody>
          <a:bodyPr wrap="square" lIns="0" tIns="0" rIns="0" bIns="0" rtlCol="0" anchor="ctr"/>
          <a:lstStyle/>
          <a:p>
            <a:pPr marL="0" indent="0" algn="l">
              <a:buNone/>
            </a:pPr>
            <a:r>
              <a:rPr lang="en-US" sz="2800" b="1" dirty="0">
                <a:solidFill>
                  <a:srgbClr val="000000"/>
                </a:solidFill>
                <a:latin typeface="Times New Roman" pitchFamily="34" charset="0"/>
                <a:ea typeface="Times New Roman" pitchFamily="34" charset="-122"/>
                <a:cs typeface="Times New Roman" pitchFamily="34" charset="-120"/>
              </a:rPr>
              <a:t>Limitations and Future Work</a:t>
            </a:r>
            <a:endParaRPr lang="en-US" sz="2800" dirty="0"/>
          </a:p>
        </p:txBody>
      </p:sp>
      <p:sp>
        <p:nvSpPr>
          <p:cNvPr id="4" name="Shape 2"/>
          <p:cNvSpPr/>
          <p:nvPr/>
        </p:nvSpPr>
        <p:spPr>
          <a:xfrm>
            <a:off x="548640" y="1463040"/>
            <a:ext cx="5468112" cy="4800600"/>
          </a:xfrm>
          <a:prstGeom prst="roundRect">
            <a:avLst>
              <a:gd name="adj" fmla="val 1333"/>
            </a:avLst>
          </a:prstGeom>
          <a:solidFill>
            <a:srgbClr val="F4F6F8"/>
          </a:solidFill>
          <a:ln w="12700">
            <a:solidFill>
              <a:srgbClr val="D7DCE1"/>
            </a:solidFill>
            <a:prstDash val="solid"/>
          </a:ln>
        </p:spPr>
      </p:sp>
      <p:sp>
        <p:nvSpPr>
          <p:cNvPr id="5" name="Text 3"/>
          <p:cNvSpPr txBox="1"/>
          <p:nvPr/>
        </p:nvSpPr>
        <p:spPr>
          <a:xfrm>
            <a:off x="822960" y="1645920"/>
            <a:ext cx="4937760" cy="320040"/>
          </a:xfrm>
          <a:prstGeom prst="rect">
            <a:avLst/>
          </a:prstGeom>
          <a:noFill/>
          <a:ln/>
        </p:spPr>
        <p:txBody>
          <a:bodyPr wrap="square" lIns="0" tIns="0" rIns="0" bIns="0" rtlCol="0" anchor="t"/>
          <a:lstStyle/>
          <a:p>
            <a:pPr marL="0" indent="0">
              <a:buNone/>
            </a:pPr>
            <a:r>
              <a:rPr lang="en-US" sz="1600" b="1" kern="0" spc="300" dirty="0">
                <a:solidFill>
                  <a:srgbClr val="000000"/>
                </a:solidFill>
                <a:latin typeface="Times New Roman" pitchFamily="34" charset="0"/>
                <a:ea typeface="Times New Roman" pitchFamily="34" charset="-122"/>
                <a:cs typeface="Times New Roman" pitchFamily="34" charset="-120"/>
              </a:rPr>
              <a:t>LIMITATIONS</a:t>
            </a:r>
            <a:endParaRPr lang="en-US" sz="1600" dirty="0"/>
          </a:p>
        </p:txBody>
      </p:sp>
      <p:sp>
        <p:nvSpPr>
          <p:cNvPr id="6" name="Text 4"/>
          <p:cNvSpPr txBox="1"/>
          <p:nvPr/>
        </p:nvSpPr>
        <p:spPr>
          <a:xfrm>
            <a:off x="822960" y="2240280"/>
            <a:ext cx="4937760" cy="3931920"/>
          </a:xfrm>
          <a:prstGeom prst="rect">
            <a:avLst/>
          </a:prstGeom>
          <a:noFill/>
          <a:ln/>
        </p:spPr>
        <p:txBody>
          <a:bodyPr wrap="square" lIns="0" tIns="0" rIns="0" bIns="0" rtlCol="0" anchor="t"/>
          <a:lstStyle/>
          <a:p>
            <a:pPr marL="342900" indent="-342900">
              <a:spcAft>
                <a:spcPts val="1600"/>
              </a:spcAft>
              <a:buSzPct val="100000"/>
              <a:buChar char="•"/>
            </a:pPr>
            <a:r>
              <a:rPr lang="en-US" sz="1800" dirty="0">
                <a:solidFill>
                  <a:srgbClr val="000000"/>
                </a:solidFill>
                <a:latin typeface="Times New Roman" pitchFamily="34" charset="0"/>
                <a:ea typeface="Times New Roman" pitchFamily="34" charset="-122"/>
                <a:cs typeface="Times New Roman" pitchFamily="34" charset="-120"/>
              </a:rPr>
              <a:t>Data is from Kaggle, not Bangladesh, and its source is unknown</a:t>
            </a:r>
            <a:endParaRPr lang="en-US" sz="1800" dirty="0"/>
          </a:p>
          <a:p>
            <a:pPr marL="342900" indent="-342900">
              <a:spcAft>
                <a:spcPts val="1600"/>
              </a:spcAft>
              <a:buSzPct val="100000"/>
              <a:buChar char="•"/>
            </a:pPr>
            <a:r>
              <a:rPr lang="en-US" sz="1800" dirty="0">
                <a:solidFill>
                  <a:srgbClr val="000000"/>
                </a:solidFill>
                <a:latin typeface="Times New Roman" pitchFamily="34" charset="0"/>
                <a:ea typeface="Times New Roman" pitchFamily="34" charset="-122"/>
                <a:cs typeface="Times New Roman" pitchFamily="34" charset="-120"/>
              </a:rPr>
              <a:t>Moderate power (AUC 0.81); about 1 in 2 flagged students is a false alarm</a:t>
            </a:r>
            <a:endParaRPr lang="en-US" sz="1800" dirty="0"/>
          </a:p>
          <a:p>
            <a:pPr marL="342900" indent="-342900">
              <a:spcAft>
                <a:spcPts val="1600"/>
              </a:spcAft>
              <a:buSzPct val="100000"/>
              <a:buChar char="•"/>
            </a:pPr>
            <a:r>
              <a:rPr lang="en-US" sz="1800" dirty="0">
                <a:solidFill>
                  <a:srgbClr val="000000"/>
                </a:solidFill>
                <a:latin typeface="Times New Roman" pitchFamily="34" charset="0"/>
                <a:ea typeface="Times New Roman" pitchFamily="34" charset="-122"/>
                <a:cs typeface="Times New Roman" pitchFamily="34" charset="-120"/>
              </a:rPr>
              <a:t>Data from one point in time: shows links, not causes</a:t>
            </a:r>
            <a:endParaRPr lang="en-US" sz="1800" dirty="0"/>
          </a:p>
          <a:p>
            <a:pPr marL="342900" indent="-342900">
              <a:spcAft>
                <a:spcPts val="1600"/>
              </a:spcAft>
              <a:buSzPct val="100000"/>
              <a:buChar char="•"/>
            </a:pPr>
            <a:r>
              <a:rPr lang="en-US" sz="1800" dirty="0">
                <a:solidFill>
                  <a:srgbClr val="000000"/>
                </a:solidFill>
                <a:latin typeface="Times New Roman" pitchFamily="34" charset="0"/>
                <a:ea typeface="Times New Roman" pitchFamily="34" charset="-122"/>
                <a:cs typeface="Times New Roman" pitchFamily="34" charset="-120"/>
              </a:rPr>
              <a:t>Accuracy differs by Major: 71.3% to 86.8%</a:t>
            </a:r>
            <a:endParaRPr lang="en-US" sz="1800" dirty="0"/>
          </a:p>
          <a:p>
            <a:pPr marL="342900" indent="-342900">
              <a:spcAft>
                <a:spcPts val="1600"/>
              </a:spcAft>
              <a:buSzPct val="100000"/>
              <a:buChar char="•"/>
            </a:pPr>
            <a:r>
              <a:rPr lang="en-US" sz="1800" dirty="0">
                <a:solidFill>
                  <a:srgbClr val="000000"/>
                </a:solidFill>
                <a:latin typeface="Times New Roman" pitchFamily="34" charset="0"/>
                <a:ea typeface="Times New Roman" pitchFamily="34" charset="-122"/>
                <a:cs typeface="Times New Roman" pitchFamily="34" charset="-120"/>
              </a:rPr>
              <a:t>SHAP and SVM not done</a:t>
            </a:r>
            <a:endParaRPr lang="en-US" sz="1800" dirty="0"/>
          </a:p>
        </p:txBody>
      </p:sp>
      <p:sp>
        <p:nvSpPr>
          <p:cNvPr id="7" name="Shape 5"/>
          <p:cNvSpPr/>
          <p:nvPr/>
        </p:nvSpPr>
        <p:spPr>
          <a:xfrm>
            <a:off x="6172200" y="1463040"/>
            <a:ext cx="5468112" cy="4800600"/>
          </a:xfrm>
          <a:prstGeom prst="roundRect">
            <a:avLst>
              <a:gd name="adj" fmla="val 1333"/>
            </a:avLst>
          </a:prstGeom>
          <a:solidFill>
            <a:srgbClr val="E7EBEF"/>
          </a:solidFill>
          <a:ln w="12700">
            <a:solidFill>
              <a:srgbClr val="D7DCE1"/>
            </a:solidFill>
            <a:prstDash val="solid"/>
          </a:ln>
        </p:spPr>
      </p:sp>
      <p:sp>
        <p:nvSpPr>
          <p:cNvPr id="8" name="Text 6"/>
          <p:cNvSpPr txBox="1"/>
          <p:nvPr/>
        </p:nvSpPr>
        <p:spPr>
          <a:xfrm>
            <a:off x="6446520" y="1645920"/>
            <a:ext cx="4937760" cy="320040"/>
          </a:xfrm>
          <a:prstGeom prst="rect">
            <a:avLst/>
          </a:prstGeom>
          <a:noFill/>
          <a:ln/>
        </p:spPr>
        <p:txBody>
          <a:bodyPr wrap="square" lIns="0" tIns="0" rIns="0" bIns="0" rtlCol="0" anchor="t"/>
          <a:lstStyle/>
          <a:p>
            <a:pPr marL="0" indent="0">
              <a:buNone/>
            </a:pPr>
            <a:r>
              <a:rPr lang="en-US" sz="1600" b="1" kern="0" spc="300" dirty="0">
                <a:solidFill>
                  <a:srgbClr val="000000"/>
                </a:solidFill>
                <a:latin typeface="Times New Roman" pitchFamily="34" charset="0"/>
                <a:ea typeface="Times New Roman" pitchFamily="34" charset="-122"/>
                <a:cs typeface="Times New Roman" pitchFamily="34" charset="-120"/>
              </a:rPr>
              <a:t>FUTURE WORK</a:t>
            </a:r>
            <a:endParaRPr lang="en-US" sz="1600" dirty="0"/>
          </a:p>
        </p:txBody>
      </p:sp>
      <p:sp>
        <p:nvSpPr>
          <p:cNvPr id="9" name="Text 7"/>
          <p:cNvSpPr txBox="1"/>
          <p:nvPr/>
        </p:nvSpPr>
        <p:spPr>
          <a:xfrm>
            <a:off x="6446520" y="2240280"/>
            <a:ext cx="4937760" cy="3931920"/>
          </a:xfrm>
          <a:prstGeom prst="rect">
            <a:avLst/>
          </a:prstGeom>
          <a:noFill/>
          <a:ln/>
        </p:spPr>
        <p:txBody>
          <a:bodyPr wrap="square" lIns="0" tIns="0" rIns="0" bIns="0" rtlCol="0" anchor="t"/>
          <a:lstStyle/>
          <a:p>
            <a:pPr marL="342900" indent="-342900">
              <a:spcAft>
                <a:spcPts val="1600"/>
              </a:spcAft>
              <a:buSzPct val="100000"/>
              <a:buChar char="•"/>
            </a:pPr>
            <a:r>
              <a:rPr lang="en-US" sz="1800" dirty="0">
                <a:solidFill>
                  <a:srgbClr val="000000"/>
                </a:solidFill>
                <a:latin typeface="Times New Roman" pitchFamily="34" charset="0"/>
                <a:ea typeface="Times New Roman" pitchFamily="34" charset="-122"/>
                <a:cs typeface="Times New Roman" pitchFamily="34" charset="-120"/>
              </a:rPr>
              <a:t>Collect real Bangladeshi CSE data and test on it</a:t>
            </a:r>
            <a:endParaRPr lang="en-US" sz="1800" dirty="0"/>
          </a:p>
          <a:p>
            <a:pPr marL="342900" indent="-342900">
              <a:spcAft>
                <a:spcPts val="1600"/>
              </a:spcAft>
              <a:buSzPct val="100000"/>
              <a:buChar char="•"/>
            </a:pPr>
            <a:r>
              <a:rPr lang="en-US" sz="1800" dirty="0">
                <a:solidFill>
                  <a:srgbClr val="000000"/>
                </a:solidFill>
                <a:latin typeface="Times New Roman" pitchFamily="34" charset="0"/>
                <a:ea typeface="Times New Roman" pitchFamily="34" charset="-122"/>
                <a:cs typeface="Times New Roman" pitchFamily="34" charset="-120"/>
              </a:rPr>
              <a:t>Add richer data: internship length, certificate type, GitHub activity</a:t>
            </a:r>
            <a:endParaRPr lang="en-US" sz="1800" dirty="0"/>
          </a:p>
          <a:p>
            <a:pPr marL="342900" indent="-342900">
              <a:spcAft>
                <a:spcPts val="1600"/>
              </a:spcAft>
              <a:buSzPct val="100000"/>
              <a:buChar char="•"/>
            </a:pPr>
            <a:r>
              <a:rPr lang="en-US" sz="1800" dirty="0">
                <a:solidFill>
                  <a:srgbClr val="000000"/>
                </a:solidFill>
                <a:latin typeface="Times New Roman" pitchFamily="34" charset="0"/>
                <a:ea typeface="Times New Roman" pitchFamily="34" charset="-122"/>
                <a:cs typeface="Times New Roman" pitchFamily="34" charset="-120"/>
              </a:rPr>
              <a:t>Add SHAP explanations and a dashboard</a:t>
            </a:r>
            <a:endParaRPr lang="en-US" sz="1800" dirty="0"/>
          </a:p>
          <a:p>
            <a:pPr marL="342900" indent="-342900">
              <a:spcAft>
                <a:spcPts val="1600"/>
              </a:spcAft>
              <a:buSzPct val="100000"/>
              <a:buChar char="•"/>
            </a:pPr>
            <a:r>
              <a:rPr lang="en-US" sz="1800" dirty="0">
                <a:solidFill>
                  <a:srgbClr val="000000"/>
                </a:solidFill>
                <a:latin typeface="Times New Roman" pitchFamily="34" charset="0"/>
                <a:ea typeface="Times New Roman" pitchFamily="34" charset="-122"/>
                <a:cs typeface="Times New Roman" pitchFamily="34" charset="-120"/>
              </a:rPr>
              <a:t>Try more models and fairness methods</a:t>
            </a:r>
            <a:endParaRPr lang="en-US" sz="1800" dirty="0"/>
          </a:p>
          <a:p>
            <a:pPr marL="342900" indent="-342900">
              <a:spcAft>
                <a:spcPts val="1600"/>
              </a:spcAft>
              <a:buSzPct val="100000"/>
              <a:buChar char="•"/>
            </a:pPr>
            <a:r>
              <a:rPr lang="en-US" sz="1800" dirty="0">
                <a:solidFill>
                  <a:srgbClr val="000000"/>
                </a:solidFill>
                <a:latin typeface="Times New Roman" pitchFamily="34" charset="0"/>
                <a:ea typeface="Times New Roman" pitchFamily="34" charset="-122"/>
                <a:cs typeface="Times New Roman" pitchFamily="34" charset="-120"/>
              </a:rPr>
              <a:t>Follow graduates over time; pilot in a career office</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B6B7C"/>
                </a:solidFill>
                <a:latin typeface="Times New Roman"/>
                <a:ea typeface="Times New Roman"/>
                <a:cs typeface="Times New Roman"/>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365760"/>
            <a:ext cx="10058400" cy="274320"/>
          </a:xfrm>
          <a:prstGeom prst="rect">
            <a:avLst/>
          </a:prstGeom>
          <a:noFill/>
          <a:ln/>
        </p:spPr>
        <p:txBody>
          <a:bodyPr wrap="square" lIns="0" tIns="0" rIns="0" bIns="0" rtlCol="0" anchor="t"/>
          <a:lstStyle/>
          <a:p>
            <a:pPr marL="0" indent="0">
              <a:buNone/>
            </a:pPr>
            <a:r>
              <a:rPr lang="en-US" sz="1400" b="1" kern="0" spc="300" dirty="0">
                <a:solidFill>
                  <a:srgbClr val="000000"/>
                </a:solidFill>
                <a:latin typeface="Times New Roman" pitchFamily="34" charset="0"/>
                <a:ea typeface="Times New Roman" pitchFamily="34" charset="-122"/>
                <a:cs typeface="Times New Roman" pitchFamily="34" charset="-120"/>
              </a:rPr>
              <a:t>CHAPTER 6 — CONCLUSION</a:t>
            </a:r>
            <a:endParaRPr lang="en-US" sz="1400" dirty="0"/>
          </a:p>
        </p:txBody>
      </p:sp>
      <p:sp>
        <p:nvSpPr>
          <p:cNvPr id="3" name="Text 0"/>
          <p:cNvSpPr>
            <a:spLocks noGrp="1"/>
          </p:cNvSpPr>
          <p:nvPr>
            <p:ph type="title" idx="100" hasCustomPrompt="1"/>
          </p:nvPr>
        </p:nvSpPr>
        <p:spPr>
          <a:xfrm>
            <a:off x="548640" y="658368"/>
            <a:ext cx="11091672" cy="640080"/>
          </a:xfrm>
          <a:prstGeom prst="rect">
            <a:avLst/>
          </a:prstGeom>
          <a:noFill/>
          <a:ln/>
        </p:spPr>
        <p:txBody>
          <a:bodyPr wrap="square" lIns="0" tIns="0" rIns="0" bIns="0" rtlCol="0" anchor="ctr"/>
          <a:lstStyle/>
          <a:p>
            <a:pPr marL="0" indent="0" algn="l">
              <a:buNone/>
            </a:pPr>
            <a:r>
              <a:rPr lang="en-US" sz="2800" b="1" dirty="0">
                <a:solidFill>
                  <a:srgbClr val="000000"/>
                </a:solidFill>
                <a:latin typeface="Times New Roman" pitchFamily="34" charset="0"/>
                <a:ea typeface="Times New Roman" pitchFamily="34" charset="-122"/>
                <a:cs typeface="Times New Roman" pitchFamily="34" charset="-120"/>
              </a:rPr>
              <a:t>Conclusion and Research Contribution</a:t>
            </a:r>
            <a:endParaRPr lang="en-US" sz="2800" dirty="0"/>
          </a:p>
        </p:txBody>
      </p:sp>
      <p:sp>
        <p:nvSpPr>
          <p:cNvPr id="4" name="Text 2"/>
          <p:cNvSpPr txBox="1"/>
          <p:nvPr/>
        </p:nvSpPr>
        <p:spPr>
          <a:xfrm>
            <a:off x="548640" y="1554480"/>
            <a:ext cx="5760720" cy="2103120"/>
          </a:xfrm>
          <a:prstGeom prst="rect">
            <a:avLst/>
          </a:prstGeom>
          <a:noFill/>
          <a:ln/>
        </p:spPr>
        <p:txBody>
          <a:bodyPr wrap="square" lIns="0" tIns="0" rIns="0" bIns="0" rtlCol="0" anchor="t"/>
          <a:lstStyle/>
          <a:p>
            <a:pPr marL="0" indent="0">
              <a:buNone/>
            </a:pPr>
            <a:r>
              <a:rPr lang="en-US" sz="3200" b="1" dirty="0">
                <a:solidFill>
                  <a:srgbClr val="000000"/>
                </a:solidFill>
                <a:latin typeface="Times New Roman" pitchFamily="34" charset="0"/>
                <a:ea typeface="Times New Roman" pitchFamily="34" charset="-122"/>
                <a:cs typeface="Times New Roman" pitchFamily="34" charset="-120"/>
              </a:rPr>
              <a:t>Skills, experience and preparation matter more than CGPA alone.</a:t>
            </a:r>
            <a:endParaRPr lang="en-US" sz="3200" dirty="0"/>
          </a:p>
        </p:txBody>
      </p:sp>
      <p:sp>
        <p:nvSpPr>
          <p:cNvPr id="5" name="Shape 3"/>
          <p:cNvSpPr/>
          <p:nvPr/>
        </p:nvSpPr>
        <p:spPr>
          <a:xfrm>
            <a:off x="548640" y="3840480"/>
            <a:ext cx="1828800" cy="2423160"/>
          </a:xfrm>
          <a:prstGeom prst="roundRect">
            <a:avLst>
              <a:gd name="adj" fmla="val 3500"/>
            </a:avLst>
          </a:prstGeom>
          <a:solidFill>
            <a:srgbClr val="E7EBEF"/>
          </a:solidFill>
          <a:ln w="12700">
            <a:solidFill>
              <a:srgbClr val="D7DCE1"/>
            </a:solidFill>
            <a:prstDash val="solid"/>
          </a:ln>
        </p:spPr>
      </p:sp>
      <p:sp>
        <p:nvSpPr>
          <p:cNvPr id="6" name="Text 4"/>
          <p:cNvSpPr txBox="1"/>
          <p:nvPr/>
        </p:nvSpPr>
        <p:spPr>
          <a:xfrm>
            <a:off x="685800" y="4023360"/>
            <a:ext cx="1600200" cy="640080"/>
          </a:xfrm>
          <a:prstGeom prst="rect">
            <a:avLst/>
          </a:prstGeom>
          <a:noFill/>
          <a:ln/>
        </p:spPr>
        <p:txBody>
          <a:bodyPr wrap="square" lIns="0" tIns="0" rIns="0" bIns="0" rtlCol="0" anchor="ctr"/>
          <a:lstStyle/>
          <a:p>
            <a:pPr marL="0" indent="0">
              <a:buNone/>
            </a:pPr>
            <a:r>
              <a:rPr lang="en-US" sz="2800" b="1" dirty="0">
                <a:solidFill>
                  <a:srgbClr val="000000"/>
                </a:solidFill>
                <a:latin typeface="Times New Roman" pitchFamily="34" charset="0"/>
                <a:ea typeface="Times New Roman" pitchFamily="34" charset="-122"/>
                <a:cs typeface="Times New Roman" pitchFamily="34" charset="-120"/>
              </a:rPr>
              <a:t>74.6%</a:t>
            </a:r>
            <a:endParaRPr lang="en-US" sz="2800" dirty="0"/>
          </a:p>
        </p:txBody>
      </p:sp>
      <p:sp>
        <p:nvSpPr>
          <p:cNvPr id="7" name="Text 5"/>
          <p:cNvSpPr txBox="1"/>
          <p:nvPr/>
        </p:nvSpPr>
        <p:spPr>
          <a:xfrm>
            <a:off x="685800" y="4754880"/>
            <a:ext cx="1600200" cy="1371600"/>
          </a:xfrm>
          <a:prstGeom prst="rect">
            <a:avLst/>
          </a:prstGeom>
          <a:noFill/>
          <a:ln/>
        </p:spPr>
        <p:txBody>
          <a:bodyPr wrap="square" lIns="0" tIns="0" rIns="0" bIns="0" rtlCol="0" anchor="t"/>
          <a:lstStyle/>
          <a:p>
            <a:pPr marL="0" indent="0">
              <a:buNone/>
            </a:pPr>
            <a:r>
              <a:rPr lang="en-US" sz="1600" dirty="0">
                <a:solidFill>
                  <a:srgbClr val="5B6B7C"/>
                </a:solidFill>
                <a:latin typeface="Times New Roman" pitchFamily="34" charset="0"/>
                <a:ea typeface="Times New Roman" pitchFamily="34" charset="-122"/>
                <a:cs typeface="Times New Roman" pitchFamily="34" charset="-120"/>
              </a:rPr>
              <a:t>of model weight is in the top 4 features</a:t>
            </a:r>
            <a:endParaRPr lang="en-US" sz="1600" dirty="0"/>
          </a:p>
        </p:txBody>
      </p:sp>
      <p:sp>
        <p:nvSpPr>
          <p:cNvPr id="8" name="Shape 6"/>
          <p:cNvSpPr/>
          <p:nvPr/>
        </p:nvSpPr>
        <p:spPr>
          <a:xfrm>
            <a:off x="2514600" y="3840480"/>
            <a:ext cx="1828800" cy="2423160"/>
          </a:xfrm>
          <a:prstGeom prst="roundRect">
            <a:avLst>
              <a:gd name="adj" fmla="val 3500"/>
            </a:avLst>
          </a:prstGeom>
          <a:solidFill>
            <a:srgbClr val="F4F6F8"/>
          </a:solidFill>
          <a:ln w="12700">
            <a:solidFill>
              <a:srgbClr val="D7DCE1"/>
            </a:solidFill>
            <a:prstDash val="solid"/>
          </a:ln>
        </p:spPr>
      </p:sp>
      <p:sp>
        <p:nvSpPr>
          <p:cNvPr id="9" name="Text 7"/>
          <p:cNvSpPr txBox="1"/>
          <p:nvPr/>
        </p:nvSpPr>
        <p:spPr>
          <a:xfrm>
            <a:off x="2651760" y="4023360"/>
            <a:ext cx="1600200" cy="640080"/>
          </a:xfrm>
          <a:prstGeom prst="rect">
            <a:avLst/>
          </a:prstGeom>
          <a:noFill/>
          <a:ln/>
        </p:spPr>
        <p:txBody>
          <a:bodyPr wrap="square" lIns="0" tIns="0" rIns="0" bIns="0" rtlCol="0" anchor="ctr"/>
          <a:lstStyle/>
          <a:p>
            <a:pPr marL="0" indent="0">
              <a:buNone/>
            </a:pPr>
            <a:r>
              <a:rPr lang="en-US" sz="2800" b="1" dirty="0">
                <a:solidFill>
                  <a:srgbClr val="000000"/>
                </a:solidFill>
                <a:latin typeface="Times New Roman" pitchFamily="34" charset="0"/>
                <a:ea typeface="Times New Roman" pitchFamily="34" charset="-122"/>
                <a:cs typeface="Times New Roman" pitchFamily="34" charset="-120"/>
              </a:rPr>
              <a:t>0.81</a:t>
            </a:r>
            <a:endParaRPr lang="en-US" sz="2800" dirty="0"/>
          </a:p>
        </p:txBody>
      </p:sp>
      <p:sp>
        <p:nvSpPr>
          <p:cNvPr id="10" name="Text 8"/>
          <p:cNvSpPr txBox="1"/>
          <p:nvPr/>
        </p:nvSpPr>
        <p:spPr>
          <a:xfrm>
            <a:off x="2651760" y="4754880"/>
            <a:ext cx="1600200" cy="1371600"/>
          </a:xfrm>
          <a:prstGeom prst="rect">
            <a:avLst/>
          </a:prstGeom>
          <a:noFill/>
          <a:ln/>
        </p:spPr>
        <p:txBody>
          <a:bodyPr wrap="square" lIns="0" tIns="0" rIns="0" bIns="0" rtlCol="0" anchor="t"/>
          <a:lstStyle/>
          <a:p>
            <a:pPr marL="0" indent="0">
              <a:buNone/>
            </a:pPr>
            <a:r>
              <a:rPr lang="en-US" sz="1600" dirty="0">
                <a:solidFill>
                  <a:srgbClr val="5B6B7C"/>
                </a:solidFill>
                <a:latin typeface="Times New Roman" pitchFamily="34" charset="0"/>
                <a:ea typeface="Times New Roman" pitchFamily="34" charset="-122"/>
                <a:cs typeface="Times New Roman" pitchFamily="34" charset="-120"/>
              </a:rPr>
              <a:t>ROC-AUC on 10,000 test records</a:t>
            </a:r>
            <a:endParaRPr lang="en-US" sz="1600" dirty="0"/>
          </a:p>
        </p:txBody>
      </p:sp>
      <p:sp>
        <p:nvSpPr>
          <p:cNvPr id="11" name="Shape 9"/>
          <p:cNvSpPr/>
          <p:nvPr/>
        </p:nvSpPr>
        <p:spPr>
          <a:xfrm>
            <a:off x="4480560" y="3840480"/>
            <a:ext cx="1828800" cy="2423160"/>
          </a:xfrm>
          <a:prstGeom prst="roundRect">
            <a:avLst>
              <a:gd name="adj" fmla="val 3500"/>
            </a:avLst>
          </a:prstGeom>
          <a:solidFill>
            <a:srgbClr val="F4F6F8"/>
          </a:solidFill>
          <a:ln w="12700">
            <a:solidFill>
              <a:srgbClr val="D7DCE1"/>
            </a:solidFill>
            <a:prstDash val="solid"/>
          </a:ln>
        </p:spPr>
      </p:sp>
      <p:sp>
        <p:nvSpPr>
          <p:cNvPr id="12" name="Text 10"/>
          <p:cNvSpPr txBox="1"/>
          <p:nvPr/>
        </p:nvSpPr>
        <p:spPr>
          <a:xfrm>
            <a:off x="4617720" y="4023360"/>
            <a:ext cx="1600200" cy="640080"/>
          </a:xfrm>
          <a:prstGeom prst="rect">
            <a:avLst/>
          </a:prstGeom>
          <a:noFill/>
          <a:ln/>
        </p:spPr>
        <p:txBody>
          <a:bodyPr wrap="square" lIns="0" tIns="0" rIns="0" bIns="0" rtlCol="0" anchor="ctr"/>
          <a:lstStyle/>
          <a:p>
            <a:pPr marL="0" indent="0">
              <a:buNone/>
            </a:pPr>
            <a:r>
              <a:rPr lang="en-US" sz="2800" b="1" dirty="0">
                <a:solidFill>
                  <a:srgbClr val="000000"/>
                </a:solidFill>
                <a:latin typeface="Times New Roman" pitchFamily="34" charset="0"/>
                <a:ea typeface="Times New Roman" pitchFamily="34" charset="-122"/>
                <a:cs typeface="Times New Roman" pitchFamily="34" charset="-120"/>
              </a:rPr>
              <a:t>63.4%</a:t>
            </a:r>
            <a:endParaRPr lang="en-US" sz="2800" dirty="0"/>
          </a:p>
        </p:txBody>
      </p:sp>
      <p:sp>
        <p:nvSpPr>
          <p:cNvPr id="13" name="Text 11"/>
          <p:cNvSpPr txBox="1"/>
          <p:nvPr/>
        </p:nvSpPr>
        <p:spPr>
          <a:xfrm>
            <a:off x="4617720" y="4754880"/>
            <a:ext cx="1600200" cy="1371600"/>
          </a:xfrm>
          <a:prstGeom prst="rect">
            <a:avLst/>
          </a:prstGeom>
          <a:noFill/>
          <a:ln/>
        </p:spPr>
        <p:txBody>
          <a:bodyPr wrap="square" lIns="0" tIns="0" rIns="0" bIns="0" rtlCol="0" anchor="t"/>
          <a:lstStyle/>
          <a:p>
            <a:pPr marL="0" indent="0">
              <a:buNone/>
            </a:pPr>
            <a:r>
              <a:rPr lang="en-US" sz="1600" dirty="0">
                <a:solidFill>
                  <a:srgbClr val="5B6B7C"/>
                </a:solidFill>
                <a:latin typeface="Times New Roman" pitchFamily="34" charset="0"/>
                <a:ea typeface="Times New Roman" pitchFamily="34" charset="-122"/>
                <a:cs typeface="Times New Roman" pitchFamily="34" charset="-120"/>
              </a:rPr>
              <a:t>of at-risk students found, at 78.69% accuracy</a:t>
            </a:r>
            <a:endParaRPr lang="en-US" sz="1600" dirty="0"/>
          </a:p>
        </p:txBody>
      </p:sp>
      <p:sp>
        <p:nvSpPr>
          <p:cNvPr id="14" name="Shape 12"/>
          <p:cNvSpPr/>
          <p:nvPr/>
        </p:nvSpPr>
        <p:spPr>
          <a:xfrm>
            <a:off x="6583680" y="1463040"/>
            <a:ext cx="5056632" cy="1508760"/>
          </a:xfrm>
          <a:prstGeom prst="roundRect">
            <a:avLst>
              <a:gd name="adj" fmla="val 4242"/>
            </a:avLst>
          </a:prstGeom>
          <a:solidFill>
            <a:srgbClr val="E7EBEF"/>
          </a:solidFill>
          <a:ln w="12700">
            <a:solidFill>
              <a:srgbClr val="D7DCE1"/>
            </a:solidFill>
            <a:prstDash val="solid"/>
          </a:ln>
        </p:spPr>
      </p:sp>
      <p:sp>
        <p:nvSpPr>
          <p:cNvPr id="15" name="Text 13"/>
          <p:cNvSpPr txBox="1"/>
          <p:nvPr/>
        </p:nvSpPr>
        <p:spPr>
          <a:xfrm>
            <a:off x="6812280" y="1600200"/>
            <a:ext cx="4572000" cy="320040"/>
          </a:xfrm>
          <a:prstGeom prst="rect">
            <a:avLst/>
          </a:prstGeom>
          <a:noFill/>
          <a:ln/>
        </p:spPr>
        <p:txBody>
          <a:bodyPr wrap="square" lIns="0" tIns="0" rIns="0" bIns="0" rtlCol="0" anchor="t"/>
          <a:lstStyle/>
          <a:p>
            <a:pPr marL="0" indent="0">
              <a:buNone/>
            </a:pPr>
            <a:r>
              <a:rPr lang="en-US" sz="1400" b="1" kern="0" spc="300" dirty="0">
                <a:solidFill>
                  <a:srgbClr val="000000"/>
                </a:solidFill>
                <a:latin typeface="Times New Roman" pitchFamily="34" charset="0"/>
                <a:ea typeface="Times New Roman" pitchFamily="34" charset="-122"/>
                <a:cs typeface="Times New Roman" pitchFamily="34" charset="-120"/>
              </a:rPr>
              <a:t>CONTRIBUTION</a:t>
            </a:r>
            <a:endParaRPr lang="en-US" sz="1400" dirty="0"/>
          </a:p>
        </p:txBody>
      </p:sp>
      <p:sp>
        <p:nvSpPr>
          <p:cNvPr id="16" name="Text 14"/>
          <p:cNvSpPr txBox="1"/>
          <p:nvPr/>
        </p:nvSpPr>
        <p:spPr>
          <a:xfrm>
            <a:off x="6812280" y="1965960"/>
            <a:ext cx="4617720" cy="960120"/>
          </a:xfrm>
          <a:prstGeom prst="rect">
            <a:avLst/>
          </a:prstGeom>
          <a:noFill/>
          <a:ln/>
        </p:spPr>
        <p:txBody>
          <a:bodyPr wrap="square" lIns="0" tIns="0" rIns="0" bIns="0" rtlCol="0" anchor="t"/>
          <a:lstStyle/>
          <a:p>
            <a:pPr marL="0" indent="0">
              <a:buNone/>
            </a:pPr>
            <a:r>
              <a:rPr lang="en-US" sz="1800" dirty="0">
                <a:solidFill>
                  <a:srgbClr val="000000"/>
                </a:solidFill>
                <a:latin typeface="Times New Roman" pitchFamily="34" charset="0"/>
                <a:ea typeface="Times New Roman" pitchFamily="34" charset="-122"/>
                <a:cs typeface="Times New Roman" pitchFamily="34" charset="-120"/>
              </a:rPr>
              <a:t>A simple, explainable model that predicts the job chances of fresh CSE graduates, available through an API.</a:t>
            </a:r>
            <a:endParaRPr lang="en-US" sz="1800" dirty="0"/>
          </a:p>
        </p:txBody>
      </p:sp>
      <p:sp>
        <p:nvSpPr>
          <p:cNvPr id="17" name="Shape 15"/>
          <p:cNvSpPr/>
          <p:nvPr/>
        </p:nvSpPr>
        <p:spPr>
          <a:xfrm>
            <a:off x="6583680" y="3108960"/>
            <a:ext cx="5056632" cy="1508760"/>
          </a:xfrm>
          <a:prstGeom prst="roundRect">
            <a:avLst>
              <a:gd name="adj" fmla="val 4242"/>
            </a:avLst>
          </a:prstGeom>
          <a:solidFill>
            <a:srgbClr val="F4F6F8"/>
          </a:solidFill>
          <a:ln w="12700">
            <a:solidFill>
              <a:srgbClr val="D7DCE1"/>
            </a:solidFill>
            <a:prstDash val="solid"/>
          </a:ln>
        </p:spPr>
      </p:sp>
      <p:sp>
        <p:nvSpPr>
          <p:cNvPr id="18" name="Text 16"/>
          <p:cNvSpPr txBox="1"/>
          <p:nvPr/>
        </p:nvSpPr>
        <p:spPr>
          <a:xfrm>
            <a:off x="6812280" y="3246120"/>
            <a:ext cx="4572000" cy="320040"/>
          </a:xfrm>
          <a:prstGeom prst="rect">
            <a:avLst/>
          </a:prstGeom>
          <a:noFill/>
          <a:ln/>
        </p:spPr>
        <p:txBody>
          <a:bodyPr wrap="square" lIns="0" tIns="0" rIns="0" bIns="0" rtlCol="0" anchor="t"/>
          <a:lstStyle/>
          <a:p>
            <a:pPr marL="0" indent="0">
              <a:buNone/>
            </a:pPr>
            <a:r>
              <a:rPr lang="en-US" sz="1400" b="1" kern="0" spc="300" dirty="0">
                <a:solidFill>
                  <a:srgbClr val="000000"/>
                </a:solidFill>
                <a:latin typeface="Times New Roman" pitchFamily="34" charset="0"/>
                <a:ea typeface="Times New Roman" pitchFamily="34" charset="-122"/>
                <a:cs typeface="Times New Roman" pitchFamily="34" charset="-120"/>
              </a:rPr>
              <a:t>PRACTICAL VALUE</a:t>
            </a:r>
            <a:endParaRPr lang="en-US" sz="1400" dirty="0"/>
          </a:p>
        </p:txBody>
      </p:sp>
      <p:sp>
        <p:nvSpPr>
          <p:cNvPr id="19" name="Text 17"/>
          <p:cNvSpPr txBox="1"/>
          <p:nvPr/>
        </p:nvSpPr>
        <p:spPr>
          <a:xfrm>
            <a:off x="6812280" y="3611880"/>
            <a:ext cx="4617720" cy="960120"/>
          </a:xfrm>
          <a:prstGeom prst="rect">
            <a:avLst/>
          </a:prstGeom>
          <a:noFill/>
          <a:ln/>
        </p:spPr>
        <p:txBody>
          <a:bodyPr wrap="square" lIns="0" tIns="0" rIns="0" bIns="0" rtlCol="0" anchor="t"/>
          <a:lstStyle/>
          <a:p>
            <a:pPr marL="0" indent="0">
              <a:buNone/>
            </a:pPr>
            <a:r>
              <a:rPr lang="en-US" sz="1800" dirty="0">
                <a:solidFill>
                  <a:srgbClr val="000000"/>
                </a:solidFill>
                <a:latin typeface="Times New Roman" pitchFamily="34" charset="0"/>
                <a:ea typeface="Times New Roman" pitchFamily="34" charset="-122"/>
                <a:cs typeface="Times New Roman" pitchFamily="34" charset="-120"/>
              </a:rPr>
              <a:t>Early advice for students, ideas for universities, evidence for policy makers.</a:t>
            </a:r>
            <a:endParaRPr lang="en-US" sz="1800" dirty="0"/>
          </a:p>
        </p:txBody>
      </p:sp>
      <p:sp>
        <p:nvSpPr>
          <p:cNvPr id="20" name="Shape 18"/>
          <p:cNvSpPr/>
          <p:nvPr/>
        </p:nvSpPr>
        <p:spPr>
          <a:xfrm>
            <a:off x="6583680" y="4754880"/>
            <a:ext cx="5056632" cy="1508760"/>
          </a:xfrm>
          <a:prstGeom prst="roundRect">
            <a:avLst>
              <a:gd name="adj" fmla="val 4242"/>
            </a:avLst>
          </a:prstGeom>
          <a:solidFill>
            <a:srgbClr val="F4F6F8"/>
          </a:solidFill>
          <a:ln w="12700">
            <a:solidFill>
              <a:srgbClr val="D7DCE1"/>
            </a:solidFill>
            <a:prstDash val="solid"/>
          </a:ln>
        </p:spPr>
      </p:sp>
      <p:sp>
        <p:nvSpPr>
          <p:cNvPr id="21" name="Text 19"/>
          <p:cNvSpPr txBox="1"/>
          <p:nvPr/>
        </p:nvSpPr>
        <p:spPr>
          <a:xfrm>
            <a:off x="6812280" y="4892040"/>
            <a:ext cx="4572000" cy="320040"/>
          </a:xfrm>
          <a:prstGeom prst="rect">
            <a:avLst/>
          </a:prstGeom>
          <a:noFill/>
          <a:ln/>
        </p:spPr>
        <p:txBody>
          <a:bodyPr wrap="square" lIns="0" tIns="0" rIns="0" bIns="0" rtlCol="0" anchor="t"/>
          <a:lstStyle/>
          <a:p>
            <a:pPr marL="0" indent="0">
              <a:buNone/>
            </a:pPr>
            <a:r>
              <a:rPr lang="en-US" sz="1400" b="1" kern="0" spc="300" dirty="0">
                <a:solidFill>
                  <a:srgbClr val="000000"/>
                </a:solidFill>
                <a:latin typeface="Times New Roman" pitchFamily="34" charset="0"/>
                <a:ea typeface="Times New Roman" pitchFamily="34" charset="-122"/>
                <a:cs typeface="Times New Roman" pitchFamily="34" charset="-120"/>
              </a:rPr>
              <a:t>HONEST SCOPE</a:t>
            </a:r>
            <a:endParaRPr lang="en-US" sz="1400" dirty="0"/>
          </a:p>
        </p:txBody>
      </p:sp>
      <p:sp>
        <p:nvSpPr>
          <p:cNvPr id="22" name="Text 20"/>
          <p:cNvSpPr txBox="1"/>
          <p:nvPr/>
        </p:nvSpPr>
        <p:spPr>
          <a:xfrm>
            <a:off x="6812280" y="5257800"/>
            <a:ext cx="4617720" cy="960120"/>
          </a:xfrm>
          <a:prstGeom prst="rect">
            <a:avLst/>
          </a:prstGeom>
          <a:noFill/>
          <a:ln/>
        </p:spPr>
        <p:txBody>
          <a:bodyPr wrap="square" lIns="0" tIns="0" rIns="0" bIns="0" rtlCol="0" anchor="t"/>
          <a:lstStyle/>
          <a:p>
            <a:pPr marL="0" indent="0">
              <a:buNone/>
            </a:pPr>
            <a:r>
              <a:rPr lang="en-US" sz="1800" dirty="0">
                <a:solidFill>
                  <a:srgbClr val="000000"/>
                </a:solidFill>
                <a:latin typeface="Times New Roman" pitchFamily="34" charset="0"/>
                <a:ea typeface="Times New Roman" pitchFamily="34" charset="-122"/>
                <a:cs typeface="Times New Roman" pitchFamily="34" charset="-120"/>
              </a:rPr>
              <a:t>Trained on Kaggle data. Testing on Bangladeshi data is the next step.</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B6B7C"/>
                </a:solidFill>
                <a:latin typeface="Times New Roman"/>
                <a:ea typeface="Times New Roman"/>
                <a:cs typeface="Times New Roman"/>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3108960" y="1554480"/>
            <a:ext cx="5971032" cy="2286000"/>
          </a:xfrm>
          <a:prstGeom prst="roundRect">
            <a:avLst>
              <a:gd name="adj" fmla="val 2800"/>
            </a:avLst>
          </a:prstGeom>
          <a:solidFill>
            <a:srgbClr val="F4F6F8"/>
          </a:solidFill>
          <a:ln w="12700">
            <a:solidFill>
              <a:srgbClr val="D7DCE1"/>
            </a:solidFill>
            <a:prstDash val="solid"/>
          </a:ln>
        </p:spPr>
      </p:sp>
      <p:sp>
        <p:nvSpPr>
          <p:cNvPr id="3" name="Shape 1"/>
          <p:cNvSpPr/>
          <p:nvPr/>
        </p:nvSpPr>
        <p:spPr>
          <a:xfrm rot="10800000">
            <a:off x="5779008" y="3831336"/>
            <a:ext cx="640080" cy="347472"/>
          </a:xfrm>
          <a:prstGeom prst="triangle">
            <a:avLst/>
          </a:prstGeom>
          <a:solidFill>
            <a:srgbClr val="F4F6F8"/>
          </a:solidFill>
          <a:ln w="12700">
            <a:solidFill>
              <a:srgbClr val="F4F6F8"/>
            </a:solidFill>
            <a:prstDash val="solid"/>
          </a:ln>
        </p:spPr>
      </p:sp>
      <p:sp>
        <p:nvSpPr>
          <p:cNvPr id="4" name="Text 2"/>
          <p:cNvSpPr txBox="1"/>
          <p:nvPr/>
        </p:nvSpPr>
        <p:spPr>
          <a:xfrm>
            <a:off x="3108960" y="1783080"/>
            <a:ext cx="5971032" cy="1005840"/>
          </a:xfrm>
          <a:prstGeom prst="rect">
            <a:avLst/>
          </a:prstGeom>
          <a:noFill/>
          <a:ln/>
        </p:spPr>
        <p:txBody>
          <a:bodyPr wrap="square" lIns="0" tIns="0" rIns="0" bIns="0" rtlCol="0" anchor="ctr"/>
          <a:lstStyle/>
          <a:p>
            <a:pPr marL="0" indent="0" algn="ctr">
              <a:buNone/>
            </a:pPr>
            <a:r>
              <a:rPr lang="en-US" sz="4000" b="1" kern="0" spc="400" dirty="0">
                <a:solidFill>
                  <a:srgbClr val="000000"/>
                </a:solidFill>
                <a:latin typeface="Times New Roman" pitchFamily="34" charset="0"/>
                <a:ea typeface="Times New Roman" pitchFamily="34" charset="-122"/>
                <a:cs typeface="Times New Roman" pitchFamily="34" charset="-120"/>
              </a:rPr>
              <a:t>THANK YOU!</a:t>
            </a:r>
            <a:endParaRPr lang="en-US" sz="4000" dirty="0"/>
          </a:p>
        </p:txBody>
      </p:sp>
      <p:sp>
        <p:nvSpPr>
          <p:cNvPr id="5" name="Text 3"/>
          <p:cNvSpPr txBox="1"/>
          <p:nvPr/>
        </p:nvSpPr>
        <p:spPr>
          <a:xfrm>
            <a:off x="3108960" y="2880360"/>
            <a:ext cx="5971032" cy="320040"/>
          </a:xfrm>
          <a:prstGeom prst="rect">
            <a:avLst/>
          </a:prstGeom>
          <a:noFill/>
          <a:ln/>
        </p:spPr>
        <p:txBody>
          <a:bodyPr wrap="square" lIns="0" tIns="0" rIns="0" bIns="0" rtlCol="0" anchor="t"/>
          <a:lstStyle/>
          <a:p>
            <a:pPr marL="0" indent="0" algn="ctr">
              <a:buNone/>
            </a:pPr>
            <a:r>
              <a:rPr lang="en-US" sz="2000" b="1" kern="0" spc="300" dirty="0">
                <a:solidFill>
                  <a:srgbClr val="5B6B7C"/>
                </a:solidFill>
                <a:latin typeface="Times New Roman" pitchFamily="34" charset="0"/>
                <a:ea typeface="Times New Roman" pitchFamily="34" charset="-122"/>
                <a:cs typeface="Times New Roman" pitchFamily="34" charset="-120"/>
              </a:rPr>
              <a:t>QUESTIONS &amp; DISCUSSION</a:t>
            </a:r>
            <a:endParaRPr lang="en-US" sz="2000" dirty="0"/>
          </a:p>
        </p:txBody>
      </p:sp>
      <p:sp>
        <p:nvSpPr>
          <p:cNvPr id="6" name="Text 4"/>
          <p:cNvSpPr txBox="1"/>
          <p:nvPr/>
        </p:nvSpPr>
        <p:spPr>
          <a:xfrm>
            <a:off x="1097280" y="4754880"/>
            <a:ext cx="9994392" cy="411480"/>
          </a:xfrm>
          <a:prstGeom prst="rect">
            <a:avLst/>
          </a:prstGeom>
          <a:noFill/>
          <a:ln/>
        </p:spPr>
        <p:txBody>
          <a:bodyPr wrap="square" lIns="0" tIns="0" rIns="0" bIns="0" rtlCol="0" anchor="t"/>
          <a:lstStyle/>
          <a:p>
            <a:pPr marL="0" indent="0" algn="ctr">
              <a:buNone/>
            </a:pPr>
            <a:r>
              <a:rPr lang="en-US" sz="2000" b="1" dirty="0">
                <a:solidFill>
                  <a:srgbClr val="000000"/>
                </a:solidFill>
                <a:latin typeface="Times New Roman" pitchFamily="34" charset="0"/>
                <a:ea typeface="Times New Roman" pitchFamily="34" charset="-122"/>
                <a:cs typeface="Times New Roman" pitchFamily="34" charset="-120"/>
              </a:rPr>
              <a:t>Md. Mahabub Alam  |  Md. Al-Amin Miah  |  Subir Sarker Saurav</a:t>
            </a:r>
            <a:endParaRPr lang="en-US" sz="2000" dirty="0"/>
          </a:p>
        </p:txBody>
      </p:sp>
      <p:sp>
        <p:nvSpPr>
          <p:cNvPr id="7" name="Text 5"/>
          <p:cNvSpPr txBox="1"/>
          <p:nvPr/>
        </p:nvSpPr>
        <p:spPr>
          <a:xfrm>
            <a:off x="1097280" y="5285232"/>
            <a:ext cx="9994392" cy="365760"/>
          </a:xfrm>
          <a:prstGeom prst="rect">
            <a:avLst/>
          </a:prstGeom>
          <a:noFill/>
          <a:ln/>
        </p:spPr>
        <p:txBody>
          <a:bodyPr wrap="square" lIns="0" tIns="0" rIns="0" bIns="0" rtlCol="0" anchor="t"/>
          <a:lstStyle/>
          <a:p>
            <a:pPr marL="0" indent="0" algn="ctr">
              <a:buNone/>
            </a:pPr>
            <a:r>
              <a:rPr lang="en-US" sz="1800" dirty="0">
                <a:solidFill>
                  <a:srgbClr val="5B6B7C"/>
                </a:solidFill>
                <a:latin typeface="Times New Roman" pitchFamily="34" charset="0"/>
                <a:ea typeface="Times New Roman" pitchFamily="34" charset="-122"/>
                <a:cs typeface="Times New Roman" pitchFamily="34" charset="-120"/>
              </a:rPr>
              <a:t>Department of Computer Science and Engineering</a:t>
            </a:r>
            <a:endParaRPr lang="en-US" sz="1800" dirty="0"/>
          </a:p>
        </p:txBody>
      </p:sp>
      <p:sp>
        <p:nvSpPr>
          <p:cNvPr id="8" name="Text 6"/>
          <p:cNvSpPr txBox="1"/>
          <p:nvPr/>
        </p:nvSpPr>
        <p:spPr>
          <a:xfrm>
            <a:off x="1097280" y="5650992"/>
            <a:ext cx="9994392" cy="365760"/>
          </a:xfrm>
          <a:prstGeom prst="rect">
            <a:avLst/>
          </a:prstGeom>
          <a:noFill/>
          <a:ln/>
        </p:spPr>
        <p:txBody>
          <a:bodyPr wrap="square" lIns="0" tIns="0" rIns="0" bIns="0" rtlCol="0" anchor="t"/>
          <a:lstStyle/>
          <a:p>
            <a:pPr marL="0" indent="0" algn="ctr">
              <a:buNone/>
            </a:pPr>
            <a:r>
              <a:rPr lang="en-US" sz="1800" dirty="0">
                <a:solidFill>
                  <a:srgbClr val="5B6B7C"/>
                </a:solidFill>
                <a:latin typeface="Times New Roman" pitchFamily="34" charset="0"/>
                <a:ea typeface="Times New Roman" pitchFamily="34" charset="-122"/>
                <a:cs typeface="Times New Roman" pitchFamily="34" charset="-120"/>
              </a:rPr>
              <a:t>World University of Bangladesh</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B6B7C"/>
                </a:solidFill>
                <a:latin typeface="Times New Roman"/>
                <a:ea typeface="Times New Roman"/>
                <a:cs typeface="Times New Roman"/>
              </a:defRPr>
            </a:lvl1pPr>
          </a:lstStyle>
          <a:p>
            <a:pPr algn="r"/>
            <a:fld id="{F7021451-1387-4CA6-816F-3879F97B5CBC}" type="slidenum">
              <a:rPr lang="en-US" b="0"/>
              <a:t>16</a:t>
            </a:fld>
            <a:endParaRPr lang="en-US"/>
          </a:p>
        </p:txBody>
      </p:sp>
    </p:spTree>
  </p:cSld>
  <p:clrMapOvr>
    <a:masterClrMapping/>
  </p:clrMapOvr>
</p:sld>
</file>

<file path=ppt/theme/theme1.xml><?xml version="1.0" encoding="utf-8"?>
<a:theme xmlns:a="http://schemas.openxmlformats.org/drawingml/2006/main" name="Thesis Defense">
  <a:themeElements>
    <a:clrScheme name="Thesis Defense">
      <a:dk1>
        <a:srgbClr val="000000"/>
      </a:dk1>
      <a:lt1>
        <a:srgbClr val="FFFFFF"/>
      </a:lt1>
      <a:dk2>
        <a:srgbClr val="5B6B7C"/>
      </a:dk2>
      <a:lt2>
        <a:srgbClr val="F4F6F8"/>
      </a:lt2>
      <a:accent1>
        <a:srgbClr val="2E5C8A"/>
      </a:accent1>
      <a:accent2>
        <a:srgbClr val="E07B39"/>
      </a:accent2>
      <a:accent3>
        <a:srgbClr val="3B7488"/>
      </a:accent3>
      <a:accent4>
        <a:srgbClr val="35597A"/>
      </a:accent4>
      <a:accent5>
        <a:srgbClr val="1B2A41"/>
      </a:accent5>
      <a:accent6>
        <a:srgbClr val="A9B2BC"/>
      </a:accent6>
      <a:hlink>
        <a:srgbClr val="5B6B7C"/>
      </a:hlink>
      <a:folHlink>
        <a:srgbClr val="8C97A3"/>
      </a:folHlink>
    </a:clrScheme>
    <a:fontScheme name="Thesis Defense">
      <a:majorFont>
        <a:latin typeface="Times New Roman"/>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Times New Roman"/>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Times New Roman"/>
        <a:ea typeface=""/>
        <a:cs typeface=""/>
        <a:font script="Jpan" typeface="游ゴシック"/>
        <a:font script="Hang" typeface="맑은 고딕"/>
        <a:font script="Hans" typeface="等线"/>
        <a:font script="Hant" typeface="新細明體"/>
        <a:font script="Arab" typeface="Times New Roman"/>
        <a:font script="Hebr" typeface="Times New Roman"/>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Times New Roman"/>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TotalTime>
  <Words>3202</Words>
  <Application>Microsoft Office PowerPoint</Application>
  <PresentationFormat>Widescreen</PresentationFormat>
  <Paragraphs>351</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Calibri</vt:lpstr>
      <vt:lpstr>Times New Roman</vt:lpstr>
      <vt:lpstr>Thesis Defense</vt:lpstr>
      <vt:lpstr>PowerPoint Presentation</vt:lpstr>
      <vt:lpstr>What This Project Is About</vt:lpstr>
      <vt:lpstr>The Graduate Employability Paradox</vt:lpstr>
      <vt:lpstr>Research Objectives &amp; Scope</vt:lpstr>
      <vt:lpstr>What Previous Research Missed</vt:lpstr>
      <vt:lpstr>Dataset and Features</vt:lpstr>
      <vt:lpstr>Our Step-by-Step Method</vt:lpstr>
      <vt:lpstr>Preparing Data and Fixing Imbalance</vt:lpstr>
      <vt:lpstr>Four Models Compared</vt:lpstr>
      <vt:lpstr>How the Models Compared</vt:lpstr>
      <vt:lpstr>Best Model Performance at Threshold 0.300</vt:lpstr>
      <vt:lpstr>What Drives the Prediction</vt:lpstr>
      <vt:lpstr>Key Findings</vt:lpstr>
      <vt:lpstr>Limitations and Future Work</vt:lpstr>
      <vt:lpstr>Conclusion and Research Contribution</vt:lpstr>
      <vt:lpstr>PowerPoint Presentation</vt:lpstr>
    </vt:vector>
  </TitlesOfParts>
  <Company>World University of Bangladesh</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Predicting Employability of CSE Fresh Graduates in Bangladesh Using Machine Learning</dc:title>
  <dc:subject>PptxGenJS Presentation</dc:subject>
  <dc:creator>Md. Mahabub Alam, Md. Al-Amin Miah, Subir Sarker Saurav</dc:creator>
  <cp:lastModifiedBy>Microsoft account</cp:lastModifiedBy>
  <cp:revision>3</cp:revision>
  <dcterms:created xsi:type="dcterms:W3CDTF">2026-10-05T05:45:41Z</dcterms:created>
  <dcterms:modified xsi:type="dcterms:W3CDTF">2026-10-05T06:02:57Z</dcterms:modified>
</cp:coreProperties>
</file>