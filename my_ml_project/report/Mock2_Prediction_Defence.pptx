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7" d="100"/>
          <a:sy n="47" d="100"/>
        </p:scale>
        <p:origin x="50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9142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Project report submitted to the Department of CSE, World University of Bangladesh.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slide requested by the supervisor: project scope, background, problem, importance, motivation, objectives and purpose in one 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Sections 1.1-1.2. Source: Bangladesh Bureau of Statistics, Labour Force Survey 2024 (BBS, 2025).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Sections 1.3, 1.4 and 1.6. Excluded from scope: salary, job satisfaction, promotion trajectory, psychometric inventories, socio-economic status.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Sections 2.6 and 2.7. Table 2.1 groups the reviewed studies into single-classifier institutional studies (Group A), advanced ensemble studies (Group B) and Bangladeshi educational data-mining studies (Group 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Sections 3.1-3.3. Increments 3, 4 and 5 are reported with their actual execution status, consistent with Sections 5.8, 5.9 and 5.15 of the thesis.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Sections 4.2-4.5. NFR6: the system is accessible through a documented HTTP API at this stage; a browser-based dashboard is future work (Section 6.3). Figure 4.4 presents the corresponding use-case design.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Sections 5.1 and 5.4, Tables 5.1 and 5.3. Full-dataset class counts derive from the stratified test-partition support (7,808 / 2,192) x 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Section 5.2. The exclusion is a deliberate design decision consistent with the system's purpose: to produce actionable guidance about what a student can change, not a demographic profile of who is likely to be hired.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Sections 5.3, 5.5 and 5.6. The single stratified hold-out is defensible at n = 50,000; k-fold cross-validation is recommended as an extension in Section 6.3.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Section 5.7, Table 5.5 and Figure 5.10. All values reconcile exactly with the console output reproduced as Figure 5.7 in the thesis.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Sections 5.7 and 5.14. The likely mechanism of over-correction is that SMOTE, scale_pos_weight and the lowered threshold compound; evaluating the three levers separately is a priority extension (Section 6.3).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Section 5.8. Completing the comparison under the identical stratified split and imbalance-sensitive protocol is the single highest-priority item of remaining work (RQ3, Section 6.3.1).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Section 5.10, Table 5.7. Both engineered features rank near the bottom (16th and 17th), because they are fixed combinations of attributes the ensemble already has and can construct for itself. Numeric scores for the fourteen highest-ranked features remain to be transcribed from core_features_xgb_importance.csv.</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Section 5.11. The test ran on the original numeric columns prior to feature exclusion, so it includes Attendance_Percentage and excludes the two engineered composites.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Section 5.9. FR6 and FR7 are exercised at the level of the underlying training and evaluation script, not through a user-facing interface.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Sections 5.12 and 5.13. Discussion: the dominance of experiential, technical and career-preparation features over academic performance corroborates Finch et al. (2013), Jackson (2013) and Baffa et al. (2023), on a sample an order of magnitude larger.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Section 6.2.</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Sections 6.1 and 6.3. Completing the comparative evaluation required by RQ3 is the highest-priority item, and is computationally trivial given the 4.41-second XGBoost training time.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463040" y="1737360"/>
            <a:ext cx="15361920" cy="2194560"/>
          </a:xfrm>
          <a:prstGeom prst="rect">
            <a:avLst/>
          </a:prstGeom>
          <a:noFill/>
          <a:ln/>
        </p:spPr>
        <p:txBody>
          <a:bodyPr wrap="square" lIns="0" tIns="0" rIns="0" bIns="0" rtlCol="0" anchor="ctr"/>
          <a:lstStyle/>
          <a:p>
            <a:pPr marL="0" indent="0" algn="ctr">
              <a:lnSpc>
                <a:spcPts val="5600"/>
              </a:lnSpc>
              <a:buNone/>
            </a:pPr>
            <a:r>
              <a:rPr lang="en-US" sz="4200" b="1" dirty="0">
                <a:solidFill>
                  <a:srgbClr val="000000"/>
                </a:solidFill>
                <a:latin typeface="Calibri" pitchFamily="34" charset="0"/>
                <a:ea typeface="Calibri" pitchFamily="34" charset="-122"/>
                <a:cs typeface="Calibri" pitchFamily="34" charset="-120"/>
              </a:rPr>
              <a:t>“A Machine Learning Model to Predict the Employability of</a:t>
            </a:r>
            <a:endParaRPr lang="en-US" sz="4200" dirty="0"/>
          </a:p>
          <a:p>
            <a:pPr marL="0" indent="0" algn="ctr">
              <a:lnSpc>
                <a:spcPts val="5600"/>
              </a:lnSpc>
              <a:buNone/>
            </a:pPr>
            <a:r>
              <a:rPr lang="en-US" sz="4200" b="1" dirty="0">
                <a:solidFill>
                  <a:srgbClr val="000000"/>
                </a:solidFill>
                <a:latin typeface="Calibri" pitchFamily="34" charset="0"/>
                <a:ea typeface="Calibri" pitchFamily="34" charset="-122"/>
                <a:cs typeface="Calibri" pitchFamily="34" charset="-120"/>
              </a:rPr>
              <a:t>Fresh CSE Graduates in Bangladesh”</a:t>
            </a:r>
            <a:endParaRPr lang="en-US" sz="4200" dirty="0"/>
          </a:p>
        </p:txBody>
      </p:sp>
      <p:sp>
        <p:nvSpPr>
          <p:cNvPr id="3" name="Shape 1"/>
          <p:cNvSpPr/>
          <p:nvPr/>
        </p:nvSpPr>
        <p:spPr>
          <a:xfrm>
            <a:off x="2606040" y="4617720"/>
            <a:ext cx="13075920" cy="4663440"/>
          </a:xfrm>
          <a:prstGeom prst="roundRect">
            <a:avLst>
              <a:gd name="adj" fmla="val 1765"/>
            </a:avLst>
          </a:prstGeom>
          <a:solidFill>
            <a:srgbClr val="F4F6F8"/>
          </a:solidFill>
          <a:ln w="12700">
            <a:solidFill>
              <a:srgbClr val="D7DCE1"/>
            </a:solidFill>
            <a:prstDash val="solid"/>
          </a:ln>
        </p:spPr>
      </p:sp>
      <p:sp>
        <p:nvSpPr>
          <p:cNvPr id="4" name="Text 2"/>
          <p:cNvSpPr/>
          <p:nvPr/>
        </p:nvSpPr>
        <p:spPr>
          <a:xfrm>
            <a:off x="3200400" y="5120640"/>
            <a:ext cx="548640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S U B M I T T E D   B Y</a:t>
            </a:r>
            <a:endParaRPr lang="en-US" sz="1500" dirty="0"/>
          </a:p>
        </p:txBody>
      </p:sp>
      <p:sp>
        <p:nvSpPr>
          <p:cNvPr id="5" name="Text 3"/>
          <p:cNvSpPr/>
          <p:nvPr/>
        </p:nvSpPr>
        <p:spPr>
          <a:xfrm>
            <a:off x="3200400" y="5806440"/>
            <a:ext cx="5303520" cy="384048"/>
          </a:xfrm>
          <a:prstGeom prst="rect">
            <a:avLst/>
          </a:prstGeom>
          <a:noFill/>
          <a:ln/>
        </p:spPr>
        <p:txBody>
          <a:bodyPr wrap="square" lIns="0" tIns="0" rIns="0" bIns="0" rtlCol="0" anchor="ctr"/>
          <a:lstStyle/>
          <a:p>
            <a:pPr marL="0" indent="0">
              <a:buNone/>
            </a:pPr>
            <a:r>
              <a:rPr lang="en-US" sz="2100" b="1" dirty="0">
                <a:solidFill>
                  <a:srgbClr val="000000"/>
                </a:solidFill>
                <a:latin typeface="Calibri" pitchFamily="34" charset="0"/>
                <a:ea typeface="Calibri" pitchFamily="34" charset="-122"/>
                <a:cs typeface="Calibri" pitchFamily="34" charset="-120"/>
              </a:rPr>
              <a:t>Md. Mahabub Alam</a:t>
            </a:r>
            <a:endParaRPr lang="en-US" sz="2100" dirty="0"/>
          </a:p>
        </p:txBody>
      </p:sp>
      <p:sp>
        <p:nvSpPr>
          <p:cNvPr id="6" name="Text 4"/>
          <p:cNvSpPr/>
          <p:nvPr/>
        </p:nvSpPr>
        <p:spPr>
          <a:xfrm>
            <a:off x="3200400" y="6190488"/>
            <a:ext cx="5303520" cy="329184"/>
          </a:xfrm>
          <a:prstGeom prst="rect">
            <a:avLst/>
          </a:prstGeom>
          <a:noFill/>
          <a:ln/>
        </p:spPr>
        <p:txBody>
          <a:bodyPr wrap="square" lIns="0" tIns="0" rIns="0" bIns="0" rtlCol="0" anchor="ctr"/>
          <a:lstStyle/>
          <a:p>
            <a:pPr marL="0" indent="0">
              <a:buNone/>
            </a:pPr>
            <a:r>
              <a:rPr lang="en-US" sz="1700" dirty="0">
                <a:solidFill>
                  <a:srgbClr val="5B6B7C"/>
                </a:solidFill>
                <a:latin typeface="Calibri" pitchFamily="34" charset="0"/>
                <a:ea typeface="Calibri" pitchFamily="34" charset="-122"/>
                <a:cs typeface="Calibri" pitchFamily="34" charset="-120"/>
              </a:rPr>
              <a:t>WUB 03/23/64/3835</a:t>
            </a:r>
            <a:endParaRPr lang="en-US" sz="1700" dirty="0"/>
          </a:p>
        </p:txBody>
      </p:sp>
      <p:sp>
        <p:nvSpPr>
          <p:cNvPr id="7" name="Text 5"/>
          <p:cNvSpPr/>
          <p:nvPr/>
        </p:nvSpPr>
        <p:spPr>
          <a:xfrm>
            <a:off x="3200400" y="6858000"/>
            <a:ext cx="5303520" cy="384048"/>
          </a:xfrm>
          <a:prstGeom prst="rect">
            <a:avLst/>
          </a:prstGeom>
          <a:noFill/>
          <a:ln/>
        </p:spPr>
        <p:txBody>
          <a:bodyPr wrap="square" lIns="0" tIns="0" rIns="0" bIns="0" rtlCol="0" anchor="ctr"/>
          <a:lstStyle/>
          <a:p>
            <a:pPr marL="0" indent="0">
              <a:buNone/>
            </a:pPr>
            <a:r>
              <a:rPr lang="en-US" sz="2100" b="1" dirty="0">
                <a:solidFill>
                  <a:srgbClr val="000000"/>
                </a:solidFill>
                <a:latin typeface="Calibri" pitchFamily="34" charset="0"/>
                <a:ea typeface="Calibri" pitchFamily="34" charset="-122"/>
                <a:cs typeface="Calibri" pitchFamily="34" charset="-120"/>
              </a:rPr>
              <a:t>Md. Al-Amin Miah</a:t>
            </a:r>
            <a:endParaRPr lang="en-US" sz="2100" dirty="0"/>
          </a:p>
        </p:txBody>
      </p:sp>
      <p:sp>
        <p:nvSpPr>
          <p:cNvPr id="8" name="Text 6"/>
          <p:cNvSpPr/>
          <p:nvPr/>
        </p:nvSpPr>
        <p:spPr>
          <a:xfrm>
            <a:off x="3200400" y="7242048"/>
            <a:ext cx="5303520" cy="329184"/>
          </a:xfrm>
          <a:prstGeom prst="rect">
            <a:avLst/>
          </a:prstGeom>
          <a:noFill/>
          <a:ln/>
        </p:spPr>
        <p:txBody>
          <a:bodyPr wrap="square" lIns="0" tIns="0" rIns="0" bIns="0" rtlCol="0" anchor="ctr"/>
          <a:lstStyle/>
          <a:p>
            <a:pPr marL="0" indent="0">
              <a:buNone/>
            </a:pPr>
            <a:r>
              <a:rPr lang="en-US" sz="1700" dirty="0">
                <a:solidFill>
                  <a:srgbClr val="5B6B7C"/>
                </a:solidFill>
                <a:latin typeface="Calibri" pitchFamily="34" charset="0"/>
                <a:ea typeface="Calibri" pitchFamily="34" charset="-122"/>
                <a:cs typeface="Calibri" pitchFamily="34" charset="-120"/>
              </a:rPr>
              <a:t>WUB 03/23/64/3829</a:t>
            </a:r>
            <a:endParaRPr lang="en-US" sz="1700" dirty="0"/>
          </a:p>
        </p:txBody>
      </p:sp>
      <p:sp>
        <p:nvSpPr>
          <p:cNvPr id="9" name="Text 7"/>
          <p:cNvSpPr/>
          <p:nvPr/>
        </p:nvSpPr>
        <p:spPr>
          <a:xfrm>
            <a:off x="3200400" y="7909560"/>
            <a:ext cx="5303520" cy="384048"/>
          </a:xfrm>
          <a:prstGeom prst="rect">
            <a:avLst/>
          </a:prstGeom>
          <a:noFill/>
          <a:ln/>
        </p:spPr>
        <p:txBody>
          <a:bodyPr wrap="square" lIns="0" tIns="0" rIns="0" bIns="0" rtlCol="0" anchor="ctr"/>
          <a:lstStyle/>
          <a:p>
            <a:pPr marL="0" indent="0">
              <a:buNone/>
            </a:pPr>
            <a:r>
              <a:rPr lang="en-US" sz="2100" b="1" dirty="0">
                <a:solidFill>
                  <a:srgbClr val="000000"/>
                </a:solidFill>
                <a:latin typeface="Calibri" pitchFamily="34" charset="0"/>
                <a:ea typeface="Calibri" pitchFamily="34" charset="-122"/>
                <a:cs typeface="Calibri" pitchFamily="34" charset="-120"/>
              </a:rPr>
              <a:t>Subir Sarker Saurav</a:t>
            </a:r>
            <a:endParaRPr lang="en-US" sz="2100" dirty="0"/>
          </a:p>
        </p:txBody>
      </p:sp>
      <p:sp>
        <p:nvSpPr>
          <p:cNvPr id="10" name="Text 8"/>
          <p:cNvSpPr/>
          <p:nvPr/>
        </p:nvSpPr>
        <p:spPr>
          <a:xfrm>
            <a:off x="3200400" y="8293608"/>
            <a:ext cx="5303520" cy="329184"/>
          </a:xfrm>
          <a:prstGeom prst="rect">
            <a:avLst/>
          </a:prstGeom>
          <a:noFill/>
          <a:ln/>
        </p:spPr>
        <p:txBody>
          <a:bodyPr wrap="square" lIns="0" tIns="0" rIns="0" bIns="0" rtlCol="0" anchor="ctr"/>
          <a:lstStyle/>
          <a:p>
            <a:pPr marL="0" indent="0">
              <a:buNone/>
            </a:pPr>
            <a:r>
              <a:rPr lang="en-US" sz="1700" dirty="0">
                <a:solidFill>
                  <a:srgbClr val="5B6B7C"/>
                </a:solidFill>
                <a:latin typeface="Calibri" pitchFamily="34" charset="0"/>
                <a:ea typeface="Calibri" pitchFamily="34" charset="-122"/>
                <a:cs typeface="Calibri" pitchFamily="34" charset="-120"/>
              </a:rPr>
              <a:t>WUB 03/23/64/3840</a:t>
            </a:r>
            <a:endParaRPr lang="en-US" sz="1700" dirty="0"/>
          </a:p>
        </p:txBody>
      </p:sp>
      <p:sp>
        <p:nvSpPr>
          <p:cNvPr id="11" name="Shape 9"/>
          <p:cNvSpPr/>
          <p:nvPr/>
        </p:nvSpPr>
        <p:spPr>
          <a:xfrm>
            <a:off x="8796528" y="5532120"/>
            <a:ext cx="45720" cy="82296"/>
          </a:xfrm>
          <a:prstGeom prst="rect">
            <a:avLst/>
          </a:prstGeom>
          <a:solidFill>
            <a:srgbClr val="8C97A3"/>
          </a:solidFill>
          <a:ln w="12700">
            <a:solidFill>
              <a:srgbClr val="8C97A3"/>
            </a:solidFill>
            <a:prstDash val="solid"/>
          </a:ln>
        </p:spPr>
      </p:sp>
      <p:sp>
        <p:nvSpPr>
          <p:cNvPr id="12" name="Shape 10"/>
          <p:cNvSpPr/>
          <p:nvPr/>
        </p:nvSpPr>
        <p:spPr>
          <a:xfrm>
            <a:off x="8796528" y="5705856"/>
            <a:ext cx="45720" cy="82296"/>
          </a:xfrm>
          <a:prstGeom prst="rect">
            <a:avLst/>
          </a:prstGeom>
          <a:solidFill>
            <a:srgbClr val="8C97A3"/>
          </a:solidFill>
          <a:ln w="12700">
            <a:solidFill>
              <a:srgbClr val="8C97A3"/>
            </a:solidFill>
            <a:prstDash val="solid"/>
          </a:ln>
        </p:spPr>
      </p:sp>
      <p:sp>
        <p:nvSpPr>
          <p:cNvPr id="13" name="Shape 11"/>
          <p:cNvSpPr/>
          <p:nvPr/>
        </p:nvSpPr>
        <p:spPr>
          <a:xfrm>
            <a:off x="8796528" y="5879592"/>
            <a:ext cx="45720" cy="82296"/>
          </a:xfrm>
          <a:prstGeom prst="rect">
            <a:avLst/>
          </a:prstGeom>
          <a:solidFill>
            <a:srgbClr val="8C97A3"/>
          </a:solidFill>
          <a:ln w="12700">
            <a:solidFill>
              <a:srgbClr val="8C97A3"/>
            </a:solidFill>
            <a:prstDash val="solid"/>
          </a:ln>
        </p:spPr>
      </p:sp>
      <p:sp>
        <p:nvSpPr>
          <p:cNvPr id="14" name="Shape 12"/>
          <p:cNvSpPr/>
          <p:nvPr/>
        </p:nvSpPr>
        <p:spPr>
          <a:xfrm>
            <a:off x="8796528" y="6053328"/>
            <a:ext cx="45720" cy="82296"/>
          </a:xfrm>
          <a:prstGeom prst="rect">
            <a:avLst/>
          </a:prstGeom>
          <a:solidFill>
            <a:srgbClr val="8C97A3"/>
          </a:solidFill>
          <a:ln w="12700">
            <a:solidFill>
              <a:srgbClr val="8C97A3"/>
            </a:solidFill>
            <a:prstDash val="solid"/>
          </a:ln>
        </p:spPr>
      </p:sp>
      <p:sp>
        <p:nvSpPr>
          <p:cNvPr id="15" name="Shape 13"/>
          <p:cNvSpPr/>
          <p:nvPr/>
        </p:nvSpPr>
        <p:spPr>
          <a:xfrm>
            <a:off x="8796528" y="6227064"/>
            <a:ext cx="45720" cy="82296"/>
          </a:xfrm>
          <a:prstGeom prst="rect">
            <a:avLst/>
          </a:prstGeom>
          <a:solidFill>
            <a:srgbClr val="8C97A3"/>
          </a:solidFill>
          <a:ln w="12700">
            <a:solidFill>
              <a:srgbClr val="8C97A3"/>
            </a:solidFill>
            <a:prstDash val="solid"/>
          </a:ln>
        </p:spPr>
      </p:sp>
      <p:sp>
        <p:nvSpPr>
          <p:cNvPr id="16" name="Shape 14"/>
          <p:cNvSpPr/>
          <p:nvPr/>
        </p:nvSpPr>
        <p:spPr>
          <a:xfrm>
            <a:off x="8796528" y="6400800"/>
            <a:ext cx="45720" cy="82296"/>
          </a:xfrm>
          <a:prstGeom prst="rect">
            <a:avLst/>
          </a:prstGeom>
          <a:solidFill>
            <a:srgbClr val="8C97A3"/>
          </a:solidFill>
          <a:ln w="12700">
            <a:solidFill>
              <a:srgbClr val="8C97A3"/>
            </a:solidFill>
            <a:prstDash val="solid"/>
          </a:ln>
        </p:spPr>
      </p:sp>
      <p:sp>
        <p:nvSpPr>
          <p:cNvPr id="17" name="Shape 15"/>
          <p:cNvSpPr/>
          <p:nvPr/>
        </p:nvSpPr>
        <p:spPr>
          <a:xfrm>
            <a:off x="8796528" y="6574536"/>
            <a:ext cx="45720" cy="82296"/>
          </a:xfrm>
          <a:prstGeom prst="rect">
            <a:avLst/>
          </a:prstGeom>
          <a:solidFill>
            <a:srgbClr val="8C97A3"/>
          </a:solidFill>
          <a:ln w="12700">
            <a:solidFill>
              <a:srgbClr val="8C97A3"/>
            </a:solidFill>
            <a:prstDash val="solid"/>
          </a:ln>
        </p:spPr>
      </p:sp>
      <p:sp>
        <p:nvSpPr>
          <p:cNvPr id="18" name="Shape 16"/>
          <p:cNvSpPr/>
          <p:nvPr/>
        </p:nvSpPr>
        <p:spPr>
          <a:xfrm>
            <a:off x="8796528" y="6748272"/>
            <a:ext cx="45720" cy="82296"/>
          </a:xfrm>
          <a:prstGeom prst="rect">
            <a:avLst/>
          </a:prstGeom>
          <a:solidFill>
            <a:srgbClr val="8C97A3"/>
          </a:solidFill>
          <a:ln w="12700">
            <a:solidFill>
              <a:srgbClr val="8C97A3"/>
            </a:solidFill>
            <a:prstDash val="solid"/>
          </a:ln>
        </p:spPr>
      </p:sp>
      <p:sp>
        <p:nvSpPr>
          <p:cNvPr id="19" name="Shape 17"/>
          <p:cNvSpPr/>
          <p:nvPr/>
        </p:nvSpPr>
        <p:spPr>
          <a:xfrm>
            <a:off x="8796528" y="6922008"/>
            <a:ext cx="45720" cy="82296"/>
          </a:xfrm>
          <a:prstGeom prst="rect">
            <a:avLst/>
          </a:prstGeom>
          <a:solidFill>
            <a:srgbClr val="8C97A3"/>
          </a:solidFill>
          <a:ln w="12700">
            <a:solidFill>
              <a:srgbClr val="8C97A3"/>
            </a:solidFill>
            <a:prstDash val="solid"/>
          </a:ln>
        </p:spPr>
      </p:sp>
      <p:sp>
        <p:nvSpPr>
          <p:cNvPr id="20" name="Shape 18"/>
          <p:cNvSpPr/>
          <p:nvPr/>
        </p:nvSpPr>
        <p:spPr>
          <a:xfrm>
            <a:off x="8796528" y="7095744"/>
            <a:ext cx="45720" cy="82296"/>
          </a:xfrm>
          <a:prstGeom prst="rect">
            <a:avLst/>
          </a:prstGeom>
          <a:solidFill>
            <a:srgbClr val="8C97A3"/>
          </a:solidFill>
          <a:ln w="12700">
            <a:solidFill>
              <a:srgbClr val="8C97A3"/>
            </a:solidFill>
            <a:prstDash val="solid"/>
          </a:ln>
        </p:spPr>
      </p:sp>
      <p:sp>
        <p:nvSpPr>
          <p:cNvPr id="21" name="Shape 19"/>
          <p:cNvSpPr/>
          <p:nvPr/>
        </p:nvSpPr>
        <p:spPr>
          <a:xfrm>
            <a:off x="8796528" y="7269480"/>
            <a:ext cx="45720" cy="82296"/>
          </a:xfrm>
          <a:prstGeom prst="rect">
            <a:avLst/>
          </a:prstGeom>
          <a:solidFill>
            <a:srgbClr val="8C97A3"/>
          </a:solidFill>
          <a:ln w="12700">
            <a:solidFill>
              <a:srgbClr val="8C97A3"/>
            </a:solidFill>
            <a:prstDash val="solid"/>
          </a:ln>
        </p:spPr>
      </p:sp>
      <p:sp>
        <p:nvSpPr>
          <p:cNvPr id="22" name="Shape 20"/>
          <p:cNvSpPr/>
          <p:nvPr/>
        </p:nvSpPr>
        <p:spPr>
          <a:xfrm>
            <a:off x="8796528" y="7443216"/>
            <a:ext cx="45720" cy="82296"/>
          </a:xfrm>
          <a:prstGeom prst="rect">
            <a:avLst/>
          </a:prstGeom>
          <a:solidFill>
            <a:srgbClr val="8C97A3"/>
          </a:solidFill>
          <a:ln w="12700">
            <a:solidFill>
              <a:srgbClr val="8C97A3"/>
            </a:solidFill>
            <a:prstDash val="solid"/>
          </a:ln>
        </p:spPr>
      </p:sp>
      <p:sp>
        <p:nvSpPr>
          <p:cNvPr id="23" name="Shape 21"/>
          <p:cNvSpPr/>
          <p:nvPr/>
        </p:nvSpPr>
        <p:spPr>
          <a:xfrm>
            <a:off x="8796528" y="7616952"/>
            <a:ext cx="45720" cy="82296"/>
          </a:xfrm>
          <a:prstGeom prst="rect">
            <a:avLst/>
          </a:prstGeom>
          <a:solidFill>
            <a:srgbClr val="8C97A3"/>
          </a:solidFill>
          <a:ln w="12700">
            <a:solidFill>
              <a:srgbClr val="8C97A3"/>
            </a:solidFill>
            <a:prstDash val="solid"/>
          </a:ln>
        </p:spPr>
      </p:sp>
      <p:sp>
        <p:nvSpPr>
          <p:cNvPr id="24" name="Text 22"/>
          <p:cNvSpPr/>
          <p:nvPr/>
        </p:nvSpPr>
        <p:spPr>
          <a:xfrm>
            <a:off x="9692640" y="5120640"/>
            <a:ext cx="548640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S U P E R V I S E D   B Y</a:t>
            </a:r>
            <a:endParaRPr lang="en-US" sz="1500" dirty="0"/>
          </a:p>
        </p:txBody>
      </p:sp>
      <p:sp>
        <p:nvSpPr>
          <p:cNvPr id="25" name="Text 23"/>
          <p:cNvSpPr/>
          <p:nvPr/>
        </p:nvSpPr>
        <p:spPr>
          <a:xfrm>
            <a:off x="9692640" y="5806440"/>
            <a:ext cx="5669280" cy="384048"/>
          </a:xfrm>
          <a:prstGeom prst="rect">
            <a:avLst/>
          </a:prstGeom>
          <a:noFill/>
          <a:ln/>
        </p:spPr>
        <p:txBody>
          <a:bodyPr wrap="square" lIns="0" tIns="0" rIns="0" bIns="0" rtlCol="0" anchor="ctr"/>
          <a:lstStyle/>
          <a:p>
            <a:pPr marL="0" indent="0">
              <a:buNone/>
            </a:pPr>
            <a:r>
              <a:rPr lang="en-US" sz="2100" b="1" dirty="0">
                <a:solidFill>
                  <a:srgbClr val="000000"/>
                </a:solidFill>
                <a:latin typeface="Calibri" pitchFamily="34" charset="0"/>
                <a:ea typeface="Calibri" pitchFamily="34" charset="-122"/>
                <a:cs typeface="Calibri" pitchFamily="34" charset="-120"/>
              </a:rPr>
              <a:t>Kazi Hassan Robin</a:t>
            </a:r>
            <a:endParaRPr lang="en-US" sz="2100" dirty="0"/>
          </a:p>
        </p:txBody>
      </p:sp>
      <p:sp>
        <p:nvSpPr>
          <p:cNvPr id="26" name="Text 24"/>
          <p:cNvSpPr/>
          <p:nvPr/>
        </p:nvSpPr>
        <p:spPr>
          <a:xfrm>
            <a:off x="9692640" y="6217920"/>
            <a:ext cx="5669280" cy="1463040"/>
          </a:xfrm>
          <a:prstGeom prst="rect">
            <a:avLst/>
          </a:prstGeom>
          <a:noFill/>
          <a:ln/>
        </p:spPr>
        <p:txBody>
          <a:bodyPr wrap="square" lIns="0" tIns="0" rIns="0" bIns="0" rtlCol="0" anchor="t"/>
          <a:lstStyle/>
          <a:p>
            <a:pPr marL="0" indent="0">
              <a:lnSpc>
                <a:spcPts val="2400"/>
              </a:lnSpc>
              <a:buNone/>
            </a:pPr>
            <a:r>
              <a:rPr lang="en-US" sz="1700" dirty="0">
                <a:solidFill>
                  <a:srgbClr val="5B6B7C"/>
                </a:solidFill>
                <a:latin typeface="Calibri" pitchFamily="34" charset="0"/>
                <a:ea typeface="Calibri" pitchFamily="34" charset="-122"/>
                <a:cs typeface="Calibri" pitchFamily="34" charset="-120"/>
              </a:rPr>
              <a:t>Associate Professor</a:t>
            </a:r>
            <a:endParaRPr lang="en-US" sz="1700" dirty="0"/>
          </a:p>
          <a:p>
            <a:pPr marL="0" indent="0">
              <a:lnSpc>
                <a:spcPts val="2400"/>
              </a:lnSpc>
              <a:buNone/>
            </a:pPr>
            <a:r>
              <a:rPr lang="en-US" sz="1700" dirty="0">
                <a:solidFill>
                  <a:srgbClr val="5B6B7C"/>
                </a:solidFill>
                <a:latin typeface="Calibri" pitchFamily="34" charset="0"/>
                <a:ea typeface="Calibri" pitchFamily="34" charset="-122"/>
                <a:cs typeface="Calibri" pitchFamily="34" charset="-120"/>
              </a:rPr>
              <a:t>Department of Computer Science and Engineering</a:t>
            </a:r>
            <a:endParaRPr lang="en-US" sz="1700" dirty="0"/>
          </a:p>
          <a:p>
            <a:pPr marL="0" indent="0">
              <a:lnSpc>
                <a:spcPts val="2400"/>
              </a:lnSpc>
              <a:buNone/>
            </a:pPr>
            <a:r>
              <a:rPr lang="en-US" sz="1700" dirty="0">
                <a:solidFill>
                  <a:srgbClr val="5B6B7C"/>
                </a:solidFill>
                <a:latin typeface="Calibri" pitchFamily="34" charset="0"/>
                <a:ea typeface="Calibri" pitchFamily="34" charset="-122"/>
                <a:cs typeface="Calibri" pitchFamily="34" charset="-120"/>
              </a:rPr>
              <a:t>World University of Bangladesh</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INTRODUCTION</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What This Project Is About</a:t>
            </a:r>
            <a:endParaRPr lang="en-US" sz="3900" dirty="0"/>
          </a:p>
        </p:txBody>
      </p:sp>
      <p:sp>
        <p:nvSpPr>
          <p:cNvPr id="4" name="Text 2"/>
          <p:cNvSpPr/>
          <p:nvPr/>
        </p:nvSpPr>
        <p:spPr>
          <a:xfrm>
            <a:off x="685800" y="1847088"/>
            <a:ext cx="16916400" cy="822960"/>
          </a:xfrm>
          <a:prstGeom prst="rect">
            <a:avLst/>
          </a:prstGeom>
          <a:noFill/>
          <a:ln/>
        </p:spPr>
        <p:txBody>
          <a:bodyPr wrap="square" lIns="0" tIns="0" rIns="0" bIns="0" rtlCol="0" anchor="t"/>
          <a:lstStyle/>
          <a:p>
            <a:pPr marL="0" indent="0">
              <a:lnSpc>
                <a:spcPts val="2700"/>
              </a:lnSpc>
              <a:buNone/>
            </a:pPr>
            <a:r>
              <a:rPr lang="en-US" sz="2000" dirty="0">
                <a:solidFill>
                  <a:srgbClr val="000000"/>
                </a:solidFill>
                <a:latin typeface="Calibri" pitchFamily="34" charset="0"/>
                <a:ea typeface="Calibri" pitchFamily="34" charset="-122"/>
                <a:cs typeface="Calibri" pitchFamily="34" charset="-120"/>
              </a:rPr>
              <a:t>This project applies supervised machine learning to model the employability of fresh Computer Science and Engineering graduates in Bangladesh — identifying which academic, technical, experiential and behavioural factors most strongly determine employment outcomes, and converting that model into interpretable, individual-level guidance.</a:t>
            </a:r>
            <a:endParaRPr lang="en-US" sz="2000" dirty="0"/>
          </a:p>
        </p:txBody>
      </p:sp>
      <p:sp>
        <p:nvSpPr>
          <p:cNvPr id="5" name="Shape 3"/>
          <p:cNvSpPr/>
          <p:nvPr/>
        </p:nvSpPr>
        <p:spPr>
          <a:xfrm>
            <a:off x="685800" y="3127248"/>
            <a:ext cx="5394960" cy="2788920"/>
          </a:xfrm>
          <a:prstGeom prst="roundRect">
            <a:avLst>
              <a:gd name="adj" fmla="val 2951"/>
            </a:avLst>
          </a:prstGeom>
          <a:solidFill>
            <a:srgbClr val="F4F6F8"/>
          </a:solidFill>
          <a:ln w="12700">
            <a:solidFill>
              <a:srgbClr val="D7DCE1"/>
            </a:solidFill>
            <a:prstDash val="solid"/>
          </a:ln>
        </p:spPr>
      </p:sp>
      <p:sp>
        <p:nvSpPr>
          <p:cNvPr id="6" name="Text 4"/>
          <p:cNvSpPr/>
          <p:nvPr/>
        </p:nvSpPr>
        <p:spPr>
          <a:xfrm>
            <a:off x="1069848" y="3401568"/>
            <a:ext cx="4626864"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BACKGROUND</a:t>
            </a:r>
            <a:endParaRPr lang="en-US" sz="1500" dirty="0"/>
          </a:p>
        </p:txBody>
      </p:sp>
      <p:sp>
        <p:nvSpPr>
          <p:cNvPr id="7" name="Text 5"/>
          <p:cNvSpPr/>
          <p:nvPr/>
        </p:nvSpPr>
        <p:spPr>
          <a:xfrm>
            <a:off x="1069848" y="3904488"/>
            <a:ext cx="4626864" cy="1874520"/>
          </a:xfrm>
          <a:prstGeom prst="rect">
            <a:avLst/>
          </a:prstGeom>
          <a:noFill/>
          <a:ln/>
        </p:spPr>
        <p:txBody>
          <a:bodyPr wrap="square" lIns="0" tIns="0" rIns="0" bIns="0" rtlCol="0" anchor="t"/>
          <a:lstStyle/>
          <a:p>
            <a:pPr marL="0" indent="0">
              <a:lnSpc>
                <a:spcPts val="2046"/>
              </a:lnSpc>
              <a:buNone/>
            </a:pPr>
            <a:r>
              <a:rPr lang="en-US" sz="1550" dirty="0">
                <a:solidFill>
                  <a:srgbClr val="000000"/>
                </a:solidFill>
                <a:latin typeface="Calibri" pitchFamily="34" charset="0"/>
                <a:ea typeface="Calibri" pitchFamily="34" charset="-122"/>
                <a:cs typeface="Calibri" pitchFamily="34" charset="-120"/>
              </a:rPr>
              <a:t>Employability is a multidimensional propensity, not an outcome (Yorke, 2006; Tomlinson, 2017; Clarke, 2018). In computing, where the technical knowledge base turns over faster than a four-year degree, employers recruit on demonstrated capability rather than credentials.</a:t>
            </a:r>
            <a:endParaRPr lang="en-US" sz="1550" dirty="0"/>
          </a:p>
        </p:txBody>
      </p:sp>
      <p:sp>
        <p:nvSpPr>
          <p:cNvPr id="8" name="Shape 6"/>
          <p:cNvSpPr/>
          <p:nvPr/>
        </p:nvSpPr>
        <p:spPr>
          <a:xfrm>
            <a:off x="6446520" y="3127248"/>
            <a:ext cx="5394960" cy="2788920"/>
          </a:xfrm>
          <a:prstGeom prst="roundRect">
            <a:avLst>
              <a:gd name="adj" fmla="val 2951"/>
            </a:avLst>
          </a:prstGeom>
          <a:solidFill>
            <a:srgbClr val="F4F6F8"/>
          </a:solidFill>
          <a:ln w="12700">
            <a:solidFill>
              <a:srgbClr val="D7DCE1"/>
            </a:solidFill>
            <a:prstDash val="solid"/>
          </a:ln>
        </p:spPr>
      </p:sp>
      <p:sp>
        <p:nvSpPr>
          <p:cNvPr id="9" name="Text 7"/>
          <p:cNvSpPr/>
          <p:nvPr/>
        </p:nvSpPr>
        <p:spPr>
          <a:xfrm>
            <a:off x="6830568" y="3401568"/>
            <a:ext cx="4626864"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PROBLEM STATEMENT</a:t>
            </a:r>
            <a:endParaRPr lang="en-US" sz="1500" dirty="0"/>
          </a:p>
        </p:txBody>
      </p:sp>
      <p:sp>
        <p:nvSpPr>
          <p:cNvPr id="10" name="Text 8"/>
          <p:cNvSpPr/>
          <p:nvPr/>
        </p:nvSpPr>
        <p:spPr>
          <a:xfrm>
            <a:off x="6830568" y="3904488"/>
            <a:ext cx="4626864" cy="1874520"/>
          </a:xfrm>
          <a:prstGeom prst="rect">
            <a:avLst/>
          </a:prstGeom>
          <a:noFill/>
          <a:ln/>
        </p:spPr>
        <p:txBody>
          <a:bodyPr wrap="square" lIns="0" tIns="0" rIns="0" bIns="0" rtlCol="0" anchor="t"/>
          <a:lstStyle/>
          <a:p>
            <a:pPr marL="0" indent="0">
              <a:lnSpc>
                <a:spcPts val="2046"/>
              </a:lnSpc>
              <a:buNone/>
            </a:pPr>
            <a:r>
              <a:rPr lang="en-US" sz="1550" dirty="0">
                <a:solidFill>
                  <a:srgbClr val="000000"/>
                </a:solidFill>
                <a:latin typeface="Calibri" pitchFamily="34" charset="0"/>
                <a:ea typeface="Calibri" pitchFamily="34" charset="-122"/>
                <a:cs typeface="Calibri" pitchFamily="34" charset="-120"/>
              </a:rPr>
              <a:t>Bangladesh's ICT sector reports sustained demand (Jony et al., 2022), yet university graduates record the country's highest unemployment rate at 13.5% (BBS, 2025). The binding constraint is alignment between graduate profiles and employer requirements — not a shortage of jobs.</a:t>
            </a:r>
            <a:endParaRPr lang="en-US" sz="1550" dirty="0"/>
          </a:p>
        </p:txBody>
      </p:sp>
      <p:sp>
        <p:nvSpPr>
          <p:cNvPr id="11" name="Shape 9"/>
          <p:cNvSpPr/>
          <p:nvPr/>
        </p:nvSpPr>
        <p:spPr>
          <a:xfrm>
            <a:off x="12207240" y="3127248"/>
            <a:ext cx="5394960" cy="2788920"/>
          </a:xfrm>
          <a:prstGeom prst="roundRect">
            <a:avLst>
              <a:gd name="adj" fmla="val 2951"/>
            </a:avLst>
          </a:prstGeom>
          <a:solidFill>
            <a:srgbClr val="F4F6F8"/>
          </a:solidFill>
          <a:ln w="12700">
            <a:solidFill>
              <a:srgbClr val="D7DCE1"/>
            </a:solidFill>
            <a:prstDash val="solid"/>
          </a:ln>
        </p:spPr>
      </p:sp>
      <p:sp>
        <p:nvSpPr>
          <p:cNvPr id="12" name="Text 10"/>
          <p:cNvSpPr/>
          <p:nvPr/>
        </p:nvSpPr>
        <p:spPr>
          <a:xfrm>
            <a:off x="12591288" y="3401568"/>
            <a:ext cx="4626864"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WHY IT MATTERS</a:t>
            </a:r>
            <a:endParaRPr lang="en-US" sz="1500" dirty="0"/>
          </a:p>
        </p:txBody>
      </p:sp>
      <p:sp>
        <p:nvSpPr>
          <p:cNvPr id="13" name="Text 11"/>
          <p:cNvSpPr/>
          <p:nvPr/>
        </p:nvSpPr>
        <p:spPr>
          <a:xfrm>
            <a:off x="12591288" y="3904488"/>
            <a:ext cx="4626864" cy="1874520"/>
          </a:xfrm>
          <a:prstGeom prst="rect">
            <a:avLst/>
          </a:prstGeom>
          <a:noFill/>
          <a:ln/>
        </p:spPr>
        <p:txBody>
          <a:bodyPr wrap="square" lIns="0" tIns="0" rIns="0" bIns="0" rtlCol="0" anchor="t"/>
          <a:lstStyle/>
          <a:p>
            <a:pPr marL="0" indent="0">
              <a:lnSpc>
                <a:spcPts val="2046"/>
              </a:lnSpc>
              <a:buNone/>
            </a:pPr>
            <a:r>
              <a:rPr lang="en-US" sz="1550" dirty="0">
                <a:solidFill>
                  <a:srgbClr val="000000"/>
                </a:solidFill>
                <a:latin typeface="Calibri" pitchFamily="34" charset="0"/>
                <a:ea typeface="Calibri" pitchFamily="34" charset="-122"/>
                <a:cs typeface="Calibri" pitchFamily="34" charset="-120"/>
              </a:rPr>
              <a:t>The evidence a student can access is diagnostic, aggregate and retrospective. Tracer studies report one to two years after graduation, when the affected cohort can no longer act. No context-specific, individual-level predictive model exists for Bangladeshi CSE graduates.</a:t>
            </a:r>
            <a:endParaRPr lang="en-US" sz="1550" dirty="0"/>
          </a:p>
        </p:txBody>
      </p:sp>
      <p:sp>
        <p:nvSpPr>
          <p:cNvPr id="14" name="Shape 12"/>
          <p:cNvSpPr/>
          <p:nvPr/>
        </p:nvSpPr>
        <p:spPr>
          <a:xfrm>
            <a:off x="685800" y="6163056"/>
            <a:ext cx="5394960" cy="2788920"/>
          </a:xfrm>
          <a:prstGeom prst="roundRect">
            <a:avLst>
              <a:gd name="adj" fmla="val 2951"/>
            </a:avLst>
          </a:prstGeom>
          <a:solidFill>
            <a:srgbClr val="E7EBEF"/>
          </a:solidFill>
          <a:ln w="12700">
            <a:solidFill>
              <a:srgbClr val="D7DCE1"/>
            </a:solidFill>
            <a:prstDash val="solid"/>
          </a:ln>
        </p:spPr>
      </p:sp>
      <p:sp>
        <p:nvSpPr>
          <p:cNvPr id="15" name="Text 13"/>
          <p:cNvSpPr/>
          <p:nvPr/>
        </p:nvSpPr>
        <p:spPr>
          <a:xfrm>
            <a:off x="1069848" y="6437376"/>
            <a:ext cx="4626864"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MOTIVATION</a:t>
            </a:r>
            <a:endParaRPr lang="en-US" sz="1500" dirty="0"/>
          </a:p>
        </p:txBody>
      </p:sp>
      <p:sp>
        <p:nvSpPr>
          <p:cNvPr id="16" name="Text 14"/>
          <p:cNvSpPr/>
          <p:nvPr/>
        </p:nvSpPr>
        <p:spPr>
          <a:xfrm>
            <a:off x="1069848" y="6940296"/>
            <a:ext cx="4626864" cy="1874520"/>
          </a:xfrm>
          <a:prstGeom prst="rect">
            <a:avLst/>
          </a:prstGeom>
          <a:noFill/>
          <a:ln/>
        </p:spPr>
        <p:txBody>
          <a:bodyPr wrap="square" lIns="0" tIns="0" rIns="0" bIns="0" rtlCol="0" anchor="t"/>
          <a:lstStyle/>
          <a:p>
            <a:pPr marL="0" indent="0">
              <a:lnSpc>
                <a:spcPts val="2046"/>
              </a:lnSpc>
              <a:buNone/>
            </a:pPr>
            <a:r>
              <a:rPr lang="en-US" sz="1550" dirty="0">
                <a:solidFill>
                  <a:srgbClr val="000000"/>
                </a:solidFill>
                <a:latin typeface="Calibri" pitchFamily="34" charset="0"/>
                <a:ea typeface="Calibri" pitchFamily="34" charset="-122"/>
                <a:cs typeface="Calibri" pitchFamily="34" charset="-120"/>
              </a:rPr>
              <a:t>Skills employers reward accumulate over semesters and cannot be acquired at the point of job search. The value of employability research therefore lies in an early, explainable signal a student can still respond to — not in describing who was hired after the fact.</a:t>
            </a:r>
            <a:endParaRPr lang="en-US" sz="1550" dirty="0"/>
          </a:p>
        </p:txBody>
      </p:sp>
      <p:sp>
        <p:nvSpPr>
          <p:cNvPr id="17" name="Shape 15"/>
          <p:cNvSpPr/>
          <p:nvPr/>
        </p:nvSpPr>
        <p:spPr>
          <a:xfrm>
            <a:off x="6446520" y="6163056"/>
            <a:ext cx="5394960" cy="2788920"/>
          </a:xfrm>
          <a:prstGeom prst="roundRect">
            <a:avLst>
              <a:gd name="adj" fmla="val 2951"/>
            </a:avLst>
          </a:prstGeom>
          <a:solidFill>
            <a:srgbClr val="E7EBEF"/>
          </a:solidFill>
          <a:ln w="12700">
            <a:solidFill>
              <a:srgbClr val="D7DCE1"/>
            </a:solidFill>
            <a:prstDash val="solid"/>
          </a:ln>
        </p:spPr>
      </p:sp>
      <p:sp>
        <p:nvSpPr>
          <p:cNvPr id="18" name="Text 16"/>
          <p:cNvSpPr/>
          <p:nvPr/>
        </p:nvSpPr>
        <p:spPr>
          <a:xfrm>
            <a:off x="6830568" y="6437376"/>
            <a:ext cx="4626864"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MAIN OBJECTIVES</a:t>
            </a:r>
            <a:endParaRPr lang="en-US" sz="1500" dirty="0"/>
          </a:p>
        </p:txBody>
      </p:sp>
      <p:sp>
        <p:nvSpPr>
          <p:cNvPr id="19" name="Text 17"/>
          <p:cNvSpPr/>
          <p:nvPr/>
        </p:nvSpPr>
        <p:spPr>
          <a:xfrm>
            <a:off x="6830568" y="6940296"/>
            <a:ext cx="4626864" cy="1874520"/>
          </a:xfrm>
          <a:prstGeom prst="rect">
            <a:avLst/>
          </a:prstGeom>
          <a:noFill/>
          <a:ln/>
        </p:spPr>
        <p:txBody>
          <a:bodyPr wrap="square" lIns="0" tIns="0" rIns="0" bIns="0" rtlCol="0" anchor="t"/>
          <a:lstStyle/>
          <a:p>
            <a:pPr marL="0" indent="0">
              <a:lnSpc>
                <a:spcPts val="2046"/>
              </a:lnSpc>
              <a:buNone/>
            </a:pPr>
            <a:r>
              <a:rPr lang="en-US" sz="1550" dirty="0" smtClean="0">
                <a:solidFill>
                  <a:srgbClr val="000000"/>
                </a:solidFill>
                <a:latin typeface="Calibri" pitchFamily="34" charset="0"/>
                <a:ea typeface="Calibri" pitchFamily="34" charset="-122"/>
                <a:cs typeface="Calibri" pitchFamily="34" charset="-120"/>
              </a:rPr>
              <a:t>(1) Identify </a:t>
            </a:r>
            <a:r>
              <a:rPr lang="en-US" sz="1550" dirty="0">
                <a:solidFill>
                  <a:srgbClr val="000000"/>
                </a:solidFill>
                <a:latin typeface="Calibri" pitchFamily="34" charset="0"/>
                <a:ea typeface="Calibri" pitchFamily="34" charset="-122"/>
                <a:cs typeface="Calibri" pitchFamily="34" charset="-120"/>
              </a:rPr>
              <a:t>and rank the determinants of </a:t>
            </a:r>
            <a:r>
              <a:rPr lang="en-US" sz="1550" dirty="0" smtClean="0">
                <a:solidFill>
                  <a:srgbClr val="000000"/>
                </a:solidFill>
                <a:latin typeface="Calibri" pitchFamily="34" charset="0"/>
                <a:ea typeface="Calibri" pitchFamily="34" charset="-122"/>
                <a:cs typeface="Calibri" pitchFamily="34" charset="-120"/>
              </a:rPr>
              <a:t>employability. </a:t>
            </a:r>
            <a:r>
              <a:rPr lang="en-US" sz="1550" dirty="0">
                <a:solidFill>
                  <a:srgbClr val="000000"/>
                </a:solidFill>
                <a:latin typeface="Calibri" pitchFamily="34" charset="0"/>
                <a:ea typeface="Calibri" pitchFamily="34" charset="-122"/>
                <a:cs typeface="Calibri" pitchFamily="34" charset="-120"/>
              </a:rPr>
              <a:t>(2) develop, implement and evaluate a supervised classification model under an imbalance-sensitive </a:t>
            </a:r>
            <a:r>
              <a:rPr lang="en-US" sz="1550" dirty="0" smtClean="0">
                <a:solidFill>
                  <a:srgbClr val="000000"/>
                </a:solidFill>
                <a:latin typeface="Calibri" pitchFamily="34" charset="0"/>
                <a:ea typeface="Calibri" pitchFamily="34" charset="-122"/>
                <a:cs typeface="Calibri" pitchFamily="34" charset="-120"/>
              </a:rPr>
              <a:t>protocol</a:t>
            </a:r>
            <a:r>
              <a:rPr lang="en-US" sz="1550" dirty="0">
                <a:solidFill>
                  <a:srgbClr val="000000"/>
                </a:solidFill>
                <a:latin typeface="Calibri" pitchFamily="34" charset="0"/>
                <a:ea typeface="Calibri" pitchFamily="34" charset="-122"/>
                <a:cs typeface="Calibri" pitchFamily="34" charset="-120"/>
              </a:rPr>
              <a:t>.</a:t>
            </a:r>
            <a:endParaRPr lang="en-US" sz="1550" dirty="0" smtClean="0">
              <a:solidFill>
                <a:srgbClr val="000000"/>
              </a:solidFill>
              <a:latin typeface="Calibri" pitchFamily="34" charset="0"/>
              <a:ea typeface="Calibri" pitchFamily="34" charset="-122"/>
              <a:cs typeface="Calibri" pitchFamily="34" charset="-120"/>
            </a:endParaRPr>
          </a:p>
          <a:p>
            <a:pPr marL="0" indent="0">
              <a:lnSpc>
                <a:spcPts val="2046"/>
              </a:lnSpc>
              <a:buNone/>
            </a:pPr>
            <a:r>
              <a:rPr lang="en-US" sz="1550" dirty="0" smtClean="0">
                <a:solidFill>
                  <a:srgbClr val="000000"/>
                </a:solidFill>
                <a:latin typeface="Calibri" pitchFamily="34" charset="0"/>
                <a:ea typeface="Calibri" pitchFamily="34" charset="-122"/>
                <a:cs typeface="Calibri" pitchFamily="34" charset="-120"/>
              </a:rPr>
              <a:t> </a:t>
            </a:r>
            <a:r>
              <a:rPr lang="en-US" sz="1550" dirty="0">
                <a:solidFill>
                  <a:srgbClr val="000000"/>
                </a:solidFill>
                <a:latin typeface="Calibri" pitchFamily="34" charset="0"/>
                <a:ea typeface="Calibri" pitchFamily="34" charset="-122"/>
                <a:cs typeface="Calibri" pitchFamily="34" charset="-120"/>
              </a:rPr>
              <a:t>(3) interpret the model and translate it into evidence-based recommendations.</a:t>
            </a:r>
            <a:endParaRPr lang="en-US" sz="1550" dirty="0"/>
          </a:p>
        </p:txBody>
      </p:sp>
      <p:sp>
        <p:nvSpPr>
          <p:cNvPr id="20" name="Shape 18"/>
          <p:cNvSpPr/>
          <p:nvPr/>
        </p:nvSpPr>
        <p:spPr>
          <a:xfrm>
            <a:off x="12207240" y="6163056"/>
            <a:ext cx="5394960" cy="2788920"/>
          </a:xfrm>
          <a:prstGeom prst="roundRect">
            <a:avLst>
              <a:gd name="adj" fmla="val 2951"/>
            </a:avLst>
          </a:prstGeom>
          <a:solidFill>
            <a:srgbClr val="E7EBEF"/>
          </a:solidFill>
          <a:ln w="12700">
            <a:solidFill>
              <a:srgbClr val="D7DCE1"/>
            </a:solidFill>
            <a:prstDash val="solid"/>
          </a:ln>
        </p:spPr>
      </p:sp>
      <p:sp>
        <p:nvSpPr>
          <p:cNvPr id="21" name="Text 19"/>
          <p:cNvSpPr/>
          <p:nvPr/>
        </p:nvSpPr>
        <p:spPr>
          <a:xfrm>
            <a:off x="12591288" y="6437376"/>
            <a:ext cx="4626864"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SCOPE &amp; PURPOSE</a:t>
            </a:r>
            <a:endParaRPr lang="en-US" sz="1500" dirty="0"/>
          </a:p>
        </p:txBody>
      </p:sp>
      <p:sp>
        <p:nvSpPr>
          <p:cNvPr id="22" name="Text 20"/>
          <p:cNvSpPr/>
          <p:nvPr/>
        </p:nvSpPr>
        <p:spPr>
          <a:xfrm>
            <a:off x="12591288" y="6940296"/>
            <a:ext cx="4626864" cy="1874520"/>
          </a:xfrm>
          <a:prstGeom prst="rect">
            <a:avLst/>
          </a:prstGeom>
          <a:noFill/>
          <a:ln/>
        </p:spPr>
        <p:txBody>
          <a:bodyPr wrap="square" lIns="0" tIns="0" rIns="0" bIns="0" rtlCol="0" anchor="t"/>
          <a:lstStyle/>
          <a:p>
            <a:pPr marL="0" indent="0">
              <a:lnSpc>
                <a:spcPts val="2046"/>
              </a:lnSpc>
              <a:buNone/>
            </a:pPr>
            <a:r>
              <a:rPr lang="en-US" sz="1550" dirty="0">
                <a:solidFill>
                  <a:srgbClr val="000000"/>
                </a:solidFill>
                <a:latin typeface="Calibri" pitchFamily="34" charset="0"/>
                <a:ea typeface="Calibri" pitchFamily="34" charset="-122"/>
                <a:cs typeface="Calibri" pitchFamily="34" charset="-120"/>
              </a:rPr>
              <a:t>Supervised binary classification with an interpretability layer, on a secondary cross-sectional dataset of 50,000 student records. Outcome: employed in an ICT role within 12 months of graduation. Delivered behind a documented HTTP API.</a:t>
            </a:r>
            <a:endParaRPr lang="en-US" sz="1550" dirty="0"/>
          </a:p>
        </p:txBody>
      </p:sp>
      <p:sp>
        <p:nvSpPr>
          <p:cNvPr id="23" name="Text 21"/>
          <p:cNvSpPr/>
          <p:nvPr/>
        </p:nvSpPr>
        <p:spPr>
          <a:xfrm>
            <a:off x="685800" y="9281160"/>
            <a:ext cx="16916400" cy="566928"/>
          </a:xfrm>
          <a:prstGeom prst="rect">
            <a:avLst/>
          </a:prstGeom>
          <a:noFill/>
          <a:ln/>
        </p:spPr>
        <p:txBody>
          <a:bodyPr wrap="square" lIns="0" tIns="0" rIns="0" bIns="0" rtlCol="0" anchor="t"/>
          <a:lstStyle/>
          <a:p>
            <a:pPr marL="0" indent="0">
              <a:lnSpc>
                <a:spcPts val="2015"/>
              </a:lnSpc>
              <a:buNone/>
            </a:pPr>
            <a:r>
              <a:rPr lang="en-US" sz="1550" i="1" dirty="0">
                <a:solidFill>
                  <a:srgbClr val="5B6B7C"/>
                </a:solidFill>
                <a:latin typeface="Calibri" pitchFamily="34" charset="0"/>
                <a:ea typeface="Calibri" pitchFamily="34" charset="-122"/>
                <a:cs typeface="Calibri" pitchFamily="34" charset="-120"/>
              </a:rPr>
              <a:t>Chapters 1–6 of the final thesis are represented across the slides that follow: problem and objectives (Ch. 1), literature and research gaps (Ch. 2), development methodology (Ch. 3), research and system design (Ch. 4), results and discussion (Ch. 5), and conclusions (Ch. 6).</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r>
              <a:rPr lang="en-US" sz="1650" b="1" kern="0" spc="300" dirty="0">
                <a:solidFill>
                  <a:srgbClr val="000000"/>
                </a:solidFill>
                <a:latin typeface="Calibri" pitchFamily="34" charset="0"/>
                <a:ea typeface="Calibri" pitchFamily="34" charset="-122"/>
                <a:cs typeface="Calibri" pitchFamily="34" charset="-120"/>
              </a:rPr>
              <a:t>CHAPTER </a:t>
            </a:r>
            <a:r>
              <a:rPr lang="en-US" sz="1650" b="1" kern="0" spc="300" dirty="0" smtClean="0">
                <a:solidFill>
                  <a:srgbClr val="000000"/>
                </a:solidFill>
                <a:latin typeface="Calibri" pitchFamily="34" charset="0"/>
                <a:ea typeface="Calibri" pitchFamily="34" charset="-122"/>
                <a:cs typeface="Calibri" pitchFamily="34" charset="-120"/>
              </a:rPr>
              <a:t>1  </a:t>
            </a:r>
            <a:r>
              <a:rPr lang="en-US" sz="1650" b="1" kern="0" spc="300" dirty="0">
                <a:solidFill>
                  <a:srgbClr val="000000"/>
                </a:solidFill>
                <a:latin typeface="Calibri" pitchFamily="34" charset="0"/>
                <a:ea typeface="Calibri" pitchFamily="34" charset="-122"/>
                <a:cs typeface="Calibri" pitchFamily="34" charset="-120"/>
              </a:rPr>
              <a:t>— </a:t>
            </a:r>
            <a:r>
              <a:rPr lang="en-US" sz="1650" b="1" kern="0" spc="300" dirty="0" smtClean="0">
                <a:solidFill>
                  <a:srgbClr val="000000"/>
                </a:solidFill>
                <a:latin typeface="Calibri" pitchFamily="34" charset="0"/>
                <a:ea typeface="Calibri" pitchFamily="34" charset="-122"/>
                <a:cs typeface="Calibri" pitchFamily="34" charset="-120"/>
              </a:rPr>
              <a:t>THE </a:t>
            </a:r>
            <a:r>
              <a:rPr lang="en-US" sz="1650" b="1" kern="0" spc="300" dirty="0">
                <a:solidFill>
                  <a:srgbClr val="000000"/>
                </a:solidFill>
                <a:latin typeface="Calibri" pitchFamily="34" charset="0"/>
                <a:ea typeface="Calibri" pitchFamily="34" charset="-122"/>
                <a:cs typeface="Calibri" pitchFamily="34" charset="-120"/>
              </a:rPr>
              <a:t>PROBLEM</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Bangladesh's Graduate Employability Paradox</a:t>
            </a:r>
            <a:endParaRPr lang="en-US" sz="3900" dirty="0"/>
          </a:p>
        </p:txBody>
      </p:sp>
      <p:sp>
        <p:nvSpPr>
          <p:cNvPr id="4" name="Text 2"/>
          <p:cNvSpPr/>
          <p:nvPr/>
        </p:nvSpPr>
        <p:spPr>
          <a:xfrm>
            <a:off x="685800" y="1874520"/>
            <a:ext cx="8138160" cy="2377440"/>
          </a:xfrm>
          <a:prstGeom prst="rect">
            <a:avLst/>
          </a:prstGeom>
          <a:noFill/>
          <a:ln/>
        </p:spPr>
        <p:txBody>
          <a:bodyPr wrap="square" lIns="0" tIns="0" rIns="0" bIns="0" rtlCol="0" anchor="t"/>
          <a:lstStyle/>
          <a:p>
            <a:pPr marL="0" indent="0" algn="just">
              <a:lnSpc>
                <a:spcPts val="2376"/>
              </a:lnSpc>
              <a:buNone/>
            </a:pPr>
            <a:r>
              <a:rPr lang="en-US" sz="1800" dirty="0">
                <a:solidFill>
                  <a:srgbClr val="000000"/>
                </a:solidFill>
                <a:latin typeface="Calibri" pitchFamily="34" charset="0"/>
                <a:ea typeface="Calibri" pitchFamily="34" charset="-122"/>
                <a:cs typeface="Calibri" pitchFamily="34" charset="-120"/>
              </a:rPr>
              <a:t>Approximately 2.62 million people were unemployed at the end of 2024, of whom roughly 885,000 held tertiary qualifications. Unemployment rises monotonically with education rather than falling, and about one in three unemployed graduates remained without work for up to two years (BBS, 2025). Bangladesh does not exhibit a general shortage of jobs so much as a structural mismatch between what higher education produces and what the labour market absorbs.</a:t>
            </a:r>
            <a:endParaRPr lang="en-US" sz="1800" dirty="0"/>
          </a:p>
        </p:txBody>
      </p:sp>
      <p:sp>
        <p:nvSpPr>
          <p:cNvPr id="5" name="Shape 3"/>
          <p:cNvSpPr/>
          <p:nvPr/>
        </p:nvSpPr>
        <p:spPr>
          <a:xfrm>
            <a:off x="685800" y="4434840"/>
            <a:ext cx="8138160" cy="1920240"/>
          </a:xfrm>
          <a:prstGeom prst="roundRect">
            <a:avLst>
              <a:gd name="adj" fmla="val 4286"/>
            </a:avLst>
          </a:prstGeom>
          <a:solidFill>
            <a:srgbClr val="F4F6F8"/>
          </a:solidFill>
          <a:ln w="12700">
            <a:solidFill>
              <a:srgbClr val="D7DCE1"/>
            </a:solidFill>
            <a:prstDash val="solid"/>
          </a:ln>
        </p:spPr>
      </p:sp>
      <p:sp>
        <p:nvSpPr>
          <p:cNvPr id="6" name="Text 4"/>
          <p:cNvSpPr/>
          <p:nvPr/>
        </p:nvSpPr>
        <p:spPr>
          <a:xfrm>
            <a:off x="1097280" y="4617720"/>
            <a:ext cx="2743200" cy="1463040"/>
          </a:xfrm>
          <a:prstGeom prst="rect">
            <a:avLst/>
          </a:prstGeom>
          <a:noFill/>
          <a:ln/>
        </p:spPr>
        <p:txBody>
          <a:bodyPr wrap="square" lIns="0" tIns="0" rIns="0" bIns="0" rtlCol="0" anchor="ctr"/>
          <a:lstStyle/>
          <a:p>
            <a:pPr marL="0" indent="0">
              <a:buNone/>
            </a:pPr>
            <a:r>
              <a:rPr lang="en-US" sz="6000" b="1" dirty="0">
                <a:solidFill>
                  <a:srgbClr val="000000"/>
                </a:solidFill>
                <a:latin typeface="Calibri" pitchFamily="34" charset="0"/>
                <a:ea typeface="Calibri" pitchFamily="34" charset="-122"/>
                <a:cs typeface="Calibri" pitchFamily="34" charset="-120"/>
              </a:rPr>
              <a:t>13.5%</a:t>
            </a:r>
            <a:endParaRPr lang="en-US" sz="6000" dirty="0"/>
          </a:p>
        </p:txBody>
      </p:sp>
      <p:sp>
        <p:nvSpPr>
          <p:cNvPr id="7" name="Text 5"/>
          <p:cNvSpPr/>
          <p:nvPr/>
        </p:nvSpPr>
        <p:spPr>
          <a:xfrm>
            <a:off x="3977640" y="4617720"/>
            <a:ext cx="4206240" cy="1463040"/>
          </a:xfrm>
          <a:prstGeom prst="rect">
            <a:avLst/>
          </a:prstGeom>
          <a:noFill/>
          <a:ln/>
        </p:spPr>
        <p:txBody>
          <a:bodyPr wrap="square" lIns="0" tIns="0" rIns="0" bIns="0" rtlCol="0" anchor="ctr"/>
          <a:lstStyle/>
          <a:p>
            <a:pPr marL="0" indent="0" algn="just">
              <a:lnSpc>
                <a:spcPts val="2300"/>
              </a:lnSpc>
              <a:buNone/>
            </a:pPr>
            <a:r>
              <a:rPr lang="en-US" sz="1700" dirty="0">
                <a:solidFill>
                  <a:srgbClr val="000000"/>
                </a:solidFill>
                <a:latin typeface="Calibri" pitchFamily="34" charset="0"/>
                <a:ea typeface="Calibri" pitchFamily="34" charset="-122"/>
                <a:cs typeface="Calibri" pitchFamily="34" charset="-120"/>
              </a:rPr>
              <a:t>Unemployment rate among university graduates </a:t>
            </a:r>
            <a:r>
              <a:rPr lang="en-US" sz="1700" dirty="0" smtClean="0">
                <a:solidFill>
                  <a:srgbClr val="000000"/>
                </a:solidFill>
                <a:latin typeface="Calibri" pitchFamily="34" charset="0"/>
                <a:ea typeface="Calibri" pitchFamily="34" charset="-122"/>
                <a:cs typeface="Calibri" pitchFamily="34" charset="-120"/>
              </a:rPr>
              <a:t> </a:t>
            </a:r>
            <a:r>
              <a:rPr lang="en-US" sz="1700" dirty="0">
                <a:solidFill>
                  <a:srgbClr val="000000"/>
                </a:solidFill>
                <a:latin typeface="Calibri" pitchFamily="34" charset="0"/>
                <a:ea typeface="Calibri" pitchFamily="34" charset="-122"/>
                <a:cs typeface="Calibri" pitchFamily="34" charset="-120"/>
              </a:rPr>
              <a:t>the highest of any education group in Bangladesh</a:t>
            </a:r>
            <a:endParaRPr lang="en-US" sz="1700" dirty="0"/>
          </a:p>
        </p:txBody>
      </p:sp>
      <p:sp>
        <p:nvSpPr>
          <p:cNvPr id="8" name="Shape 6"/>
          <p:cNvSpPr/>
          <p:nvPr/>
        </p:nvSpPr>
        <p:spPr>
          <a:xfrm>
            <a:off x="685800" y="6583680"/>
            <a:ext cx="8138160" cy="3063240"/>
          </a:xfrm>
          <a:prstGeom prst="roundRect">
            <a:avLst>
              <a:gd name="adj" fmla="val 2687"/>
            </a:avLst>
          </a:prstGeom>
          <a:solidFill>
            <a:srgbClr val="E7EBEF"/>
          </a:solidFill>
          <a:ln w="12700">
            <a:solidFill>
              <a:srgbClr val="D7DCE1"/>
            </a:solidFill>
            <a:prstDash val="solid"/>
          </a:ln>
        </p:spPr>
      </p:sp>
      <p:sp>
        <p:nvSpPr>
          <p:cNvPr id="9" name="Text 7"/>
          <p:cNvSpPr/>
          <p:nvPr/>
        </p:nvSpPr>
        <p:spPr>
          <a:xfrm>
            <a:off x="1097280" y="6903720"/>
            <a:ext cx="731520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WHY IT MATTERS FOR CSE</a:t>
            </a:r>
            <a:endParaRPr lang="en-US" sz="1500" dirty="0"/>
          </a:p>
        </p:txBody>
      </p:sp>
      <p:sp>
        <p:nvSpPr>
          <p:cNvPr id="10" name="Text 8"/>
          <p:cNvSpPr/>
          <p:nvPr/>
        </p:nvSpPr>
        <p:spPr>
          <a:xfrm>
            <a:off x="1097280" y="7452360"/>
            <a:ext cx="7315200" cy="2011680"/>
          </a:xfrm>
          <a:prstGeom prst="rect">
            <a:avLst/>
          </a:prstGeom>
          <a:noFill/>
          <a:ln/>
        </p:spPr>
        <p:txBody>
          <a:bodyPr wrap="square" lIns="0" tIns="0" rIns="0" bIns="0" rtlCol="0" anchor="t"/>
          <a:lstStyle/>
          <a:p>
            <a:pPr marL="0" indent="0" algn="just">
              <a:lnSpc>
                <a:spcPts val="2178"/>
              </a:lnSpc>
              <a:buNone/>
            </a:pPr>
            <a:r>
              <a:rPr lang="en-US" sz="1650" dirty="0">
                <a:solidFill>
                  <a:srgbClr val="000000"/>
                </a:solidFill>
                <a:latin typeface="Calibri" pitchFamily="34" charset="0"/>
                <a:ea typeface="Calibri" pitchFamily="34" charset="-122"/>
                <a:cs typeface="Calibri" pitchFamily="34" charset="-120"/>
              </a:rPr>
              <a:t>CSE and IT graduates already have an employment rate above the national graduate average (Jony et al., 2022) — advantaged, but not sufficient. A documented gap remains between the skills Bangladeshi universities deliver and what industry requires (Hasan et al., 2024), and national statistics are not disaggregated by discipline, so CSE-specific employability cannot be inferred from them.</a:t>
            </a:r>
            <a:endParaRPr lang="en-US" sz="1650" dirty="0"/>
          </a:p>
        </p:txBody>
      </p:sp>
      <p:sp>
        <p:nvSpPr>
          <p:cNvPr id="11" name="Shape 9"/>
          <p:cNvSpPr/>
          <p:nvPr/>
        </p:nvSpPr>
        <p:spPr>
          <a:xfrm>
            <a:off x="9464040" y="1874520"/>
            <a:ext cx="8138160" cy="7726680"/>
          </a:xfrm>
          <a:prstGeom prst="roundRect">
            <a:avLst>
              <a:gd name="adj" fmla="val 1065"/>
            </a:avLst>
          </a:prstGeom>
          <a:solidFill>
            <a:srgbClr val="E7EBEF"/>
          </a:solidFill>
          <a:ln w="12700">
            <a:solidFill>
              <a:srgbClr val="D7DCE1"/>
            </a:solidFill>
            <a:prstDash val="solid"/>
          </a:ln>
        </p:spPr>
      </p:sp>
      <p:sp>
        <p:nvSpPr>
          <p:cNvPr id="12" name="Text 10"/>
          <p:cNvSpPr/>
          <p:nvPr/>
        </p:nvSpPr>
        <p:spPr>
          <a:xfrm>
            <a:off x="9921240" y="2286000"/>
            <a:ext cx="722376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UNEMPLOYMENT RATE BY EDUCATION LEVEL, 2024</a:t>
            </a:r>
            <a:endParaRPr lang="en-US" sz="1500" dirty="0"/>
          </a:p>
        </p:txBody>
      </p:sp>
      <p:sp>
        <p:nvSpPr>
          <p:cNvPr id="13" name="Text 11"/>
          <p:cNvSpPr/>
          <p:nvPr/>
        </p:nvSpPr>
        <p:spPr>
          <a:xfrm>
            <a:off x="9921240" y="3063240"/>
            <a:ext cx="5394960" cy="365760"/>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University graduates</a:t>
            </a:r>
            <a:endParaRPr lang="en-US" sz="1700" dirty="0"/>
          </a:p>
        </p:txBody>
      </p:sp>
      <p:sp>
        <p:nvSpPr>
          <p:cNvPr id="14" name="Shape 12"/>
          <p:cNvSpPr/>
          <p:nvPr/>
        </p:nvSpPr>
        <p:spPr>
          <a:xfrm>
            <a:off x="9921240" y="3474720"/>
            <a:ext cx="5394960" cy="475488"/>
          </a:xfrm>
          <a:prstGeom prst="rect">
            <a:avLst/>
          </a:prstGeom>
          <a:solidFill>
            <a:srgbClr val="FFFFFF"/>
          </a:solidFill>
          <a:ln w="12700">
            <a:solidFill>
              <a:srgbClr val="D7DCE1"/>
            </a:solidFill>
            <a:prstDash val="solid"/>
          </a:ln>
        </p:spPr>
      </p:sp>
      <p:sp>
        <p:nvSpPr>
          <p:cNvPr id="15" name="Shape 13"/>
          <p:cNvSpPr/>
          <p:nvPr/>
        </p:nvSpPr>
        <p:spPr>
          <a:xfrm>
            <a:off x="9921240" y="3474720"/>
            <a:ext cx="5394960" cy="475488"/>
          </a:xfrm>
          <a:prstGeom prst="rect">
            <a:avLst/>
          </a:prstGeom>
          <a:solidFill>
            <a:srgbClr val="27405E"/>
          </a:solidFill>
          <a:ln w="12700">
            <a:solidFill>
              <a:srgbClr val="27405E"/>
            </a:solidFill>
            <a:prstDash val="solid"/>
          </a:ln>
        </p:spPr>
      </p:sp>
      <p:sp>
        <p:nvSpPr>
          <p:cNvPr id="16" name="Text 14"/>
          <p:cNvSpPr/>
          <p:nvPr/>
        </p:nvSpPr>
        <p:spPr>
          <a:xfrm>
            <a:off x="15544800" y="3474720"/>
            <a:ext cx="1828800" cy="475488"/>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13.5%</a:t>
            </a:r>
            <a:endParaRPr lang="en-US" sz="1800" dirty="0"/>
          </a:p>
        </p:txBody>
      </p:sp>
      <p:sp>
        <p:nvSpPr>
          <p:cNvPr id="17" name="Text 15"/>
          <p:cNvSpPr/>
          <p:nvPr/>
        </p:nvSpPr>
        <p:spPr>
          <a:xfrm>
            <a:off x="9921240" y="4389120"/>
            <a:ext cx="5394960" cy="365760"/>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Higher secondary</a:t>
            </a:r>
            <a:endParaRPr lang="en-US" sz="1700" dirty="0"/>
          </a:p>
        </p:txBody>
      </p:sp>
      <p:sp>
        <p:nvSpPr>
          <p:cNvPr id="18" name="Shape 16"/>
          <p:cNvSpPr/>
          <p:nvPr/>
        </p:nvSpPr>
        <p:spPr>
          <a:xfrm>
            <a:off x="9921240" y="4800600"/>
            <a:ext cx="5394960" cy="475488"/>
          </a:xfrm>
          <a:prstGeom prst="rect">
            <a:avLst/>
          </a:prstGeom>
          <a:solidFill>
            <a:srgbClr val="FFFFFF"/>
          </a:solidFill>
          <a:ln w="12700">
            <a:solidFill>
              <a:srgbClr val="D7DCE1"/>
            </a:solidFill>
            <a:prstDash val="solid"/>
          </a:ln>
        </p:spPr>
      </p:sp>
      <p:sp>
        <p:nvSpPr>
          <p:cNvPr id="19" name="Shape 17"/>
          <p:cNvSpPr/>
          <p:nvPr/>
        </p:nvSpPr>
        <p:spPr>
          <a:xfrm>
            <a:off x="9921240" y="4800600"/>
            <a:ext cx="2849338" cy="475488"/>
          </a:xfrm>
          <a:prstGeom prst="rect">
            <a:avLst/>
          </a:prstGeom>
          <a:solidFill>
            <a:srgbClr val="3B7488"/>
          </a:solidFill>
          <a:ln w="12700">
            <a:solidFill>
              <a:srgbClr val="3B7488"/>
            </a:solidFill>
            <a:prstDash val="solid"/>
          </a:ln>
        </p:spPr>
      </p:sp>
      <p:sp>
        <p:nvSpPr>
          <p:cNvPr id="20" name="Text 18"/>
          <p:cNvSpPr/>
          <p:nvPr/>
        </p:nvSpPr>
        <p:spPr>
          <a:xfrm>
            <a:off x="15544800" y="4800600"/>
            <a:ext cx="1828800" cy="475488"/>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7.13%</a:t>
            </a:r>
            <a:endParaRPr lang="en-US" sz="1800" dirty="0"/>
          </a:p>
        </p:txBody>
      </p:sp>
      <p:sp>
        <p:nvSpPr>
          <p:cNvPr id="21" name="Text 19"/>
          <p:cNvSpPr/>
          <p:nvPr/>
        </p:nvSpPr>
        <p:spPr>
          <a:xfrm>
            <a:off x="9921240" y="5715000"/>
            <a:ext cx="5394960" cy="365760"/>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Secondary school</a:t>
            </a:r>
            <a:endParaRPr lang="en-US" sz="1700" dirty="0"/>
          </a:p>
        </p:txBody>
      </p:sp>
      <p:sp>
        <p:nvSpPr>
          <p:cNvPr id="22" name="Shape 20"/>
          <p:cNvSpPr/>
          <p:nvPr/>
        </p:nvSpPr>
        <p:spPr>
          <a:xfrm>
            <a:off x="9921240" y="6126480"/>
            <a:ext cx="5394960" cy="475488"/>
          </a:xfrm>
          <a:prstGeom prst="rect">
            <a:avLst/>
          </a:prstGeom>
          <a:solidFill>
            <a:srgbClr val="FFFFFF"/>
          </a:solidFill>
          <a:ln w="12700">
            <a:solidFill>
              <a:srgbClr val="D7DCE1"/>
            </a:solidFill>
            <a:prstDash val="solid"/>
          </a:ln>
        </p:spPr>
      </p:sp>
      <p:sp>
        <p:nvSpPr>
          <p:cNvPr id="23" name="Shape 21"/>
          <p:cNvSpPr/>
          <p:nvPr/>
        </p:nvSpPr>
        <p:spPr>
          <a:xfrm>
            <a:off x="9921240" y="6126480"/>
            <a:ext cx="783268" cy="475488"/>
          </a:xfrm>
          <a:prstGeom prst="rect">
            <a:avLst/>
          </a:prstGeom>
          <a:solidFill>
            <a:srgbClr val="8C97A3"/>
          </a:solidFill>
          <a:ln w="12700">
            <a:solidFill>
              <a:srgbClr val="8C97A3"/>
            </a:solidFill>
            <a:prstDash val="solid"/>
          </a:ln>
        </p:spPr>
      </p:sp>
      <p:sp>
        <p:nvSpPr>
          <p:cNvPr id="24" name="Text 22"/>
          <p:cNvSpPr/>
          <p:nvPr/>
        </p:nvSpPr>
        <p:spPr>
          <a:xfrm>
            <a:off x="15544800" y="6126480"/>
            <a:ext cx="1828800" cy="475488"/>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1.96%</a:t>
            </a:r>
            <a:endParaRPr lang="en-US" sz="1800" dirty="0"/>
          </a:p>
        </p:txBody>
      </p:sp>
      <p:sp>
        <p:nvSpPr>
          <p:cNvPr id="25" name="Text 23"/>
          <p:cNvSpPr/>
          <p:nvPr/>
        </p:nvSpPr>
        <p:spPr>
          <a:xfrm>
            <a:off x="9921240" y="7040880"/>
            <a:ext cx="5394960" cy="365760"/>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No formal education</a:t>
            </a:r>
            <a:endParaRPr lang="en-US" sz="1700" dirty="0"/>
          </a:p>
        </p:txBody>
      </p:sp>
      <p:sp>
        <p:nvSpPr>
          <p:cNvPr id="26" name="Shape 24"/>
          <p:cNvSpPr/>
          <p:nvPr/>
        </p:nvSpPr>
        <p:spPr>
          <a:xfrm>
            <a:off x="9921240" y="7452360"/>
            <a:ext cx="5394960" cy="475488"/>
          </a:xfrm>
          <a:prstGeom prst="rect">
            <a:avLst/>
          </a:prstGeom>
          <a:solidFill>
            <a:srgbClr val="FFFFFF"/>
          </a:solidFill>
          <a:ln w="12700">
            <a:solidFill>
              <a:srgbClr val="D7DCE1"/>
            </a:solidFill>
            <a:prstDash val="solid"/>
          </a:ln>
        </p:spPr>
      </p:sp>
      <p:sp>
        <p:nvSpPr>
          <p:cNvPr id="27" name="Shape 25"/>
          <p:cNvSpPr/>
          <p:nvPr/>
        </p:nvSpPr>
        <p:spPr>
          <a:xfrm>
            <a:off x="9921240" y="7452360"/>
            <a:ext cx="499533" cy="475488"/>
          </a:xfrm>
          <a:prstGeom prst="rect">
            <a:avLst/>
          </a:prstGeom>
          <a:solidFill>
            <a:srgbClr val="8C97A3"/>
          </a:solidFill>
          <a:ln w="12700">
            <a:solidFill>
              <a:srgbClr val="8C97A3"/>
            </a:solidFill>
            <a:prstDash val="solid"/>
          </a:ln>
        </p:spPr>
      </p:sp>
      <p:sp>
        <p:nvSpPr>
          <p:cNvPr id="28" name="Text 26"/>
          <p:cNvSpPr/>
          <p:nvPr/>
        </p:nvSpPr>
        <p:spPr>
          <a:xfrm>
            <a:off x="15544800" y="7452360"/>
            <a:ext cx="1828800" cy="475488"/>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1.25%</a:t>
            </a:r>
            <a:endParaRPr lang="en-US" sz="1800" dirty="0"/>
          </a:p>
        </p:txBody>
      </p:sp>
      <p:sp>
        <p:nvSpPr>
          <p:cNvPr id="29" name="Shape 27"/>
          <p:cNvSpPr/>
          <p:nvPr/>
        </p:nvSpPr>
        <p:spPr>
          <a:xfrm>
            <a:off x="9921240" y="8549640"/>
            <a:ext cx="7223760" cy="0"/>
          </a:xfrm>
          <a:prstGeom prst="line">
            <a:avLst/>
          </a:prstGeom>
          <a:noFill/>
          <a:ln w="12700">
            <a:solidFill>
              <a:srgbClr val="D7DCE1"/>
            </a:solidFill>
            <a:prstDash val="solid"/>
          </a:ln>
        </p:spPr>
      </p:sp>
      <p:sp>
        <p:nvSpPr>
          <p:cNvPr id="30" name="Text 28"/>
          <p:cNvSpPr/>
          <p:nvPr/>
        </p:nvSpPr>
        <p:spPr>
          <a:xfrm>
            <a:off x="9921240" y="8778240"/>
            <a:ext cx="7223760" cy="777240"/>
          </a:xfrm>
          <a:prstGeom prst="rect">
            <a:avLst/>
          </a:prstGeom>
          <a:noFill/>
          <a:ln/>
        </p:spPr>
        <p:txBody>
          <a:bodyPr wrap="square" lIns="0" tIns="0" rIns="0" bIns="0" rtlCol="0" anchor="t"/>
          <a:lstStyle/>
          <a:p>
            <a:pPr marL="0" indent="0">
              <a:lnSpc>
                <a:spcPts val="2300"/>
              </a:lnSpc>
              <a:buNone/>
            </a:pPr>
            <a:r>
              <a:rPr lang="en-US" sz="1700" i="1" dirty="0">
                <a:solidFill>
                  <a:srgbClr val="5B6B7C"/>
                </a:solidFill>
                <a:latin typeface="Calibri" pitchFamily="34" charset="0"/>
                <a:ea typeface="Calibri" pitchFamily="34" charset="-122"/>
                <a:cs typeface="Calibri" pitchFamily="34" charset="-120"/>
              </a:rPr>
              <a:t>ICT-sector demand is strong and rising, yet graduate unemployment rises with education level — evidence of mismatch, not a general jobs shortage.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r>
              <a:rPr lang="en-US" sz="1650" b="1" kern="0" spc="300" dirty="0" smtClean="0">
                <a:solidFill>
                  <a:srgbClr val="000000"/>
                </a:solidFill>
                <a:latin typeface="Calibri" pitchFamily="34" charset="0"/>
                <a:ea typeface="Calibri" pitchFamily="34" charset="-122"/>
                <a:cs typeface="Calibri" pitchFamily="34" charset="-120"/>
              </a:rPr>
              <a:t>CHAPTER 1  </a:t>
            </a:r>
            <a:r>
              <a:rPr lang="en-US" sz="1650" b="1" kern="0" spc="300" dirty="0">
                <a:solidFill>
                  <a:srgbClr val="000000"/>
                </a:solidFill>
                <a:latin typeface="Calibri" pitchFamily="34" charset="0"/>
                <a:ea typeface="Calibri" pitchFamily="34" charset="-122"/>
                <a:cs typeface="Calibri" pitchFamily="34" charset="-120"/>
              </a:rPr>
              <a:t>— RESEARCH DESIGN</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smtClean="0">
                <a:solidFill>
                  <a:srgbClr val="000000"/>
                </a:solidFill>
                <a:latin typeface="Calibri" pitchFamily="34" charset="0"/>
                <a:ea typeface="Calibri" pitchFamily="34" charset="-122"/>
                <a:cs typeface="Calibri" pitchFamily="34" charset="-120"/>
              </a:rPr>
              <a:t>Research </a:t>
            </a:r>
            <a:r>
              <a:rPr lang="en-US" sz="3900" b="1" dirty="0">
                <a:solidFill>
                  <a:srgbClr val="000000"/>
                </a:solidFill>
                <a:latin typeface="Calibri" pitchFamily="34" charset="0"/>
                <a:ea typeface="Calibri" pitchFamily="34" charset="-122"/>
                <a:cs typeface="Calibri" pitchFamily="34" charset="-120"/>
              </a:rPr>
              <a:t>Objectives &amp; Scope</a:t>
            </a:r>
            <a:endParaRPr lang="en-US" sz="3900" dirty="0"/>
          </a:p>
        </p:txBody>
      </p:sp>
      <p:sp>
        <p:nvSpPr>
          <p:cNvPr id="4" name="Text 2"/>
          <p:cNvSpPr/>
          <p:nvPr/>
        </p:nvSpPr>
        <p:spPr>
          <a:xfrm>
            <a:off x="685800" y="1874520"/>
            <a:ext cx="8229600" cy="274320"/>
          </a:xfrm>
          <a:prstGeom prst="rect">
            <a:avLst/>
          </a:prstGeom>
          <a:noFill/>
          <a:ln/>
        </p:spPr>
        <p:txBody>
          <a:bodyPr wrap="square" lIns="0" tIns="0" rIns="0" bIns="0" rtlCol="0" anchor="ctr"/>
          <a:lstStyle/>
          <a:p>
            <a:pPr marL="0" indent="0">
              <a:buNone/>
            </a:pPr>
            <a:endParaRPr lang="en-US" sz="1500" dirty="0"/>
          </a:p>
        </p:txBody>
      </p:sp>
      <p:sp>
        <p:nvSpPr>
          <p:cNvPr id="7" name="Text 5"/>
          <p:cNvSpPr/>
          <p:nvPr/>
        </p:nvSpPr>
        <p:spPr>
          <a:xfrm>
            <a:off x="1014984" y="2724912"/>
            <a:ext cx="731520" cy="731520"/>
          </a:xfrm>
          <a:prstGeom prst="rect">
            <a:avLst/>
          </a:prstGeom>
          <a:noFill/>
          <a:ln/>
        </p:spPr>
        <p:txBody>
          <a:bodyPr wrap="square" lIns="0" tIns="0" rIns="0" bIns="0" rtlCol="0" anchor="ctr"/>
          <a:lstStyle/>
          <a:p>
            <a:pPr marL="0" indent="0" algn="ctr">
              <a:buNone/>
            </a:pPr>
            <a:endParaRPr lang="en-US" sz="1400" dirty="0"/>
          </a:p>
        </p:txBody>
      </p:sp>
      <p:sp>
        <p:nvSpPr>
          <p:cNvPr id="8" name="Text 6"/>
          <p:cNvSpPr/>
          <p:nvPr/>
        </p:nvSpPr>
        <p:spPr>
          <a:xfrm>
            <a:off x="2011680" y="2633472"/>
            <a:ext cx="6537960" cy="1005840"/>
          </a:xfrm>
          <a:prstGeom prst="rect">
            <a:avLst/>
          </a:prstGeom>
          <a:noFill/>
          <a:ln/>
        </p:spPr>
        <p:txBody>
          <a:bodyPr wrap="square" lIns="0" tIns="0" rIns="0" bIns="0" rtlCol="0" anchor="t"/>
          <a:lstStyle/>
          <a:p>
            <a:pPr marL="0" indent="0">
              <a:lnSpc>
                <a:spcPts val="2046"/>
              </a:lnSpc>
              <a:buNone/>
            </a:pPr>
            <a:endParaRPr lang="en-US" sz="1550" dirty="0"/>
          </a:p>
        </p:txBody>
      </p:sp>
      <p:sp>
        <p:nvSpPr>
          <p:cNvPr id="11" name="Text 9"/>
          <p:cNvSpPr/>
          <p:nvPr/>
        </p:nvSpPr>
        <p:spPr>
          <a:xfrm>
            <a:off x="1014984" y="4297680"/>
            <a:ext cx="731520" cy="731520"/>
          </a:xfrm>
          <a:prstGeom prst="rect">
            <a:avLst/>
          </a:prstGeom>
          <a:noFill/>
          <a:ln/>
        </p:spPr>
        <p:txBody>
          <a:bodyPr wrap="square" lIns="0" tIns="0" rIns="0" bIns="0" rtlCol="0" anchor="ctr"/>
          <a:lstStyle/>
          <a:p>
            <a:pPr marL="0" indent="0" algn="ctr">
              <a:buNone/>
            </a:pPr>
            <a:endParaRPr lang="en-US" sz="1400" dirty="0"/>
          </a:p>
        </p:txBody>
      </p:sp>
      <p:sp>
        <p:nvSpPr>
          <p:cNvPr id="12" name="Text 10"/>
          <p:cNvSpPr/>
          <p:nvPr/>
        </p:nvSpPr>
        <p:spPr>
          <a:xfrm>
            <a:off x="2011680" y="4206240"/>
            <a:ext cx="6537960" cy="1005840"/>
          </a:xfrm>
          <a:prstGeom prst="rect">
            <a:avLst/>
          </a:prstGeom>
          <a:noFill/>
          <a:ln/>
        </p:spPr>
        <p:txBody>
          <a:bodyPr wrap="square" lIns="0" tIns="0" rIns="0" bIns="0" rtlCol="0" anchor="t"/>
          <a:lstStyle/>
          <a:p>
            <a:pPr marL="0" indent="0">
              <a:lnSpc>
                <a:spcPts val="2046"/>
              </a:lnSpc>
              <a:buNone/>
            </a:pPr>
            <a:endParaRPr lang="en-US" sz="1550" dirty="0"/>
          </a:p>
        </p:txBody>
      </p:sp>
      <p:sp>
        <p:nvSpPr>
          <p:cNvPr id="15" name="Text 13"/>
          <p:cNvSpPr/>
          <p:nvPr/>
        </p:nvSpPr>
        <p:spPr>
          <a:xfrm>
            <a:off x="1014984" y="5870448"/>
            <a:ext cx="731520" cy="731520"/>
          </a:xfrm>
          <a:prstGeom prst="rect">
            <a:avLst/>
          </a:prstGeom>
          <a:noFill/>
          <a:ln/>
        </p:spPr>
        <p:txBody>
          <a:bodyPr wrap="square" lIns="0" tIns="0" rIns="0" bIns="0" rtlCol="0" anchor="ctr"/>
          <a:lstStyle/>
          <a:p>
            <a:pPr marL="0" indent="0" algn="ctr">
              <a:buNone/>
            </a:pPr>
            <a:endParaRPr lang="en-US" sz="1400" dirty="0"/>
          </a:p>
        </p:txBody>
      </p:sp>
      <p:sp>
        <p:nvSpPr>
          <p:cNvPr id="16" name="Text 14"/>
          <p:cNvSpPr/>
          <p:nvPr/>
        </p:nvSpPr>
        <p:spPr>
          <a:xfrm>
            <a:off x="2011680" y="5779008"/>
            <a:ext cx="6537960" cy="1005840"/>
          </a:xfrm>
          <a:prstGeom prst="rect">
            <a:avLst/>
          </a:prstGeom>
          <a:noFill/>
          <a:ln/>
        </p:spPr>
        <p:txBody>
          <a:bodyPr wrap="square" lIns="0" tIns="0" rIns="0" bIns="0" rtlCol="0" anchor="t"/>
          <a:lstStyle/>
          <a:p>
            <a:pPr marL="0" indent="0">
              <a:lnSpc>
                <a:spcPts val="2046"/>
              </a:lnSpc>
              <a:buNone/>
            </a:pPr>
            <a:endParaRPr lang="en-US" sz="1550" dirty="0"/>
          </a:p>
        </p:txBody>
      </p:sp>
      <p:sp>
        <p:nvSpPr>
          <p:cNvPr id="19" name="Text 17"/>
          <p:cNvSpPr/>
          <p:nvPr/>
        </p:nvSpPr>
        <p:spPr>
          <a:xfrm>
            <a:off x="1014984" y="7443216"/>
            <a:ext cx="731520" cy="731520"/>
          </a:xfrm>
          <a:prstGeom prst="rect">
            <a:avLst/>
          </a:prstGeom>
          <a:noFill/>
          <a:ln/>
        </p:spPr>
        <p:txBody>
          <a:bodyPr wrap="square" lIns="0" tIns="0" rIns="0" bIns="0" rtlCol="0" anchor="ctr"/>
          <a:lstStyle/>
          <a:p>
            <a:pPr marL="0" indent="0" algn="ctr">
              <a:buNone/>
            </a:pPr>
            <a:endParaRPr lang="en-US" sz="1400" dirty="0"/>
          </a:p>
        </p:txBody>
      </p:sp>
      <p:sp>
        <p:nvSpPr>
          <p:cNvPr id="20" name="Text 18"/>
          <p:cNvSpPr/>
          <p:nvPr/>
        </p:nvSpPr>
        <p:spPr>
          <a:xfrm>
            <a:off x="2011680" y="7351776"/>
            <a:ext cx="6537960" cy="1005840"/>
          </a:xfrm>
          <a:prstGeom prst="rect">
            <a:avLst/>
          </a:prstGeom>
          <a:noFill/>
          <a:ln/>
        </p:spPr>
        <p:txBody>
          <a:bodyPr wrap="square" lIns="0" tIns="0" rIns="0" bIns="0" rtlCol="0" anchor="t"/>
          <a:lstStyle/>
          <a:p>
            <a:pPr marL="0" indent="0">
              <a:lnSpc>
                <a:spcPts val="2046"/>
              </a:lnSpc>
              <a:buNone/>
            </a:pPr>
            <a:endParaRPr lang="en-US" sz="1550" dirty="0"/>
          </a:p>
        </p:txBody>
      </p:sp>
      <p:sp>
        <p:nvSpPr>
          <p:cNvPr id="21" name="Text 19"/>
          <p:cNvSpPr/>
          <p:nvPr/>
        </p:nvSpPr>
        <p:spPr>
          <a:xfrm>
            <a:off x="731520" y="1819656"/>
            <a:ext cx="822960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THREE RESEARCH OBJECTIVES</a:t>
            </a:r>
            <a:endParaRPr lang="en-US" sz="1500" dirty="0"/>
          </a:p>
        </p:txBody>
      </p:sp>
      <p:sp>
        <p:nvSpPr>
          <p:cNvPr id="25" name="Text 23"/>
          <p:cNvSpPr/>
          <p:nvPr/>
        </p:nvSpPr>
        <p:spPr>
          <a:xfrm>
            <a:off x="10561320" y="2670048"/>
            <a:ext cx="6629400" cy="457200"/>
          </a:xfrm>
          <a:prstGeom prst="rect">
            <a:avLst/>
          </a:prstGeom>
          <a:noFill/>
          <a:ln/>
        </p:spPr>
        <p:txBody>
          <a:bodyPr wrap="square" lIns="0" tIns="0" rIns="0" bIns="0" rtlCol="0" anchor="ctr"/>
          <a:lstStyle/>
          <a:p>
            <a:pPr marL="0" indent="0">
              <a:buNone/>
            </a:pPr>
            <a:endParaRPr lang="en-US" sz="1800" dirty="0"/>
          </a:p>
        </p:txBody>
      </p:sp>
      <p:grpSp>
        <p:nvGrpSpPr>
          <p:cNvPr id="48" name="Group 47"/>
          <p:cNvGrpSpPr/>
          <p:nvPr/>
        </p:nvGrpSpPr>
        <p:grpSpPr>
          <a:xfrm>
            <a:off x="685800" y="2478024"/>
            <a:ext cx="15023115" cy="1920240"/>
            <a:chOff x="9447894" y="2364133"/>
            <a:chExt cx="8229600" cy="1920240"/>
          </a:xfrm>
        </p:grpSpPr>
        <p:sp>
          <p:nvSpPr>
            <p:cNvPr id="22" name="Shape 20"/>
            <p:cNvSpPr/>
            <p:nvPr/>
          </p:nvSpPr>
          <p:spPr>
            <a:xfrm>
              <a:off x="9447894" y="2364133"/>
              <a:ext cx="8229600" cy="1920240"/>
            </a:xfrm>
            <a:prstGeom prst="roundRect">
              <a:avLst>
                <a:gd name="adj" fmla="val 4286"/>
              </a:avLst>
            </a:prstGeom>
            <a:solidFill>
              <a:srgbClr val="F4F6F8"/>
            </a:solidFill>
            <a:ln w="12700">
              <a:solidFill>
                <a:srgbClr val="D7DCE1"/>
              </a:solidFill>
              <a:prstDash val="solid"/>
            </a:ln>
          </p:spPr>
        </p:sp>
        <p:sp>
          <p:nvSpPr>
            <p:cNvPr id="23" name="Shape 21"/>
            <p:cNvSpPr/>
            <p:nvPr/>
          </p:nvSpPr>
          <p:spPr>
            <a:xfrm>
              <a:off x="9590665" y="2621632"/>
              <a:ext cx="310370" cy="539496"/>
            </a:xfrm>
            <a:prstGeom prst="ellipse">
              <a:avLst/>
            </a:prstGeom>
            <a:solidFill>
              <a:srgbClr val="FFFFFF"/>
            </a:solidFill>
            <a:ln w="12700">
              <a:solidFill>
                <a:srgbClr val="D7DCE1"/>
              </a:solidFill>
              <a:prstDash val="solid"/>
            </a:ln>
          </p:spPr>
        </p:sp>
        <p:sp>
          <p:nvSpPr>
            <p:cNvPr id="24" name="Text 22"/>
            <p:cNvSpPr/>
            <p:nvPr/>
          </p:nvSpPr>
          <p:spPr>
            <a:xfrm>
              <a:off x="9738360" y="2761488"/>
              <a:ext cx="566928" cy="566928"/>
            </a:xfrm>
            <a:prstGeom prst="rect">
              <a:avLst/>
            </a:prstGeom>
            <a:noFill/>
            <a:ln/>
          </p:spPr>
          <p:txBody>
            <a:bodyPr wrap="square" lIns="0" tIns="0" rIns="0" bIns="0" rtlCol="0" anchor="ctr"/>
            <a:lstStyle/>
            <a:p>
              <a:pPr marL="0" indent="0" algn="ctr">
                <a:buNone/>
              </a:pPr>
              <a:endParaRPr lang="en-US" sz="1700" dirty="0"/>
            </a:p>
          </p:txBody>
        </p:sp>
        <p:sp>
          <p:nvSpPr>
            <p:cNvPr id="26" name="Text 24"/>
            <p:cNvSpPr/>
            <p:nvPr/>
          </p:nvSpPr>
          <p:spPr>
            <a:xfrm>
              <a:off x="10104242" y="3145536"/>
              <a:ext cx="7418424" cy="1014984"/>
            </a:xfrm>
            <a:prstGeom prst="rect">
              <a:avLst/>
            </a:prstGeom>
            <a:noFill/>
            <a:ln/>
          </p:spPr>
          <p:txBody>
            <a:bodyPr wrap="square" lIns="0" tIns="0" rIns="0" bIns="0" rtlCol="0" anchor="t"/>
            <a:lstStyle/>
            <a:p>
              <a:pPr marL="0" indent="0">
                <a:lnSpc>
                  <a:spcPts val="2046"/>
                </a:lnSpc>
                <a:buNone/>
              </a:pPr>
              <a:r>
                <a:rPr lang="en-US" sz="1550" dirty="0">
                  <a:solidFill>
                    <a:srgbClr val="000000"/>
                  </a:solidFill>
                  <a:latin typeface="Calibri" pitchFamily="34" charset="0"/>
                  <a:ea typeface="Calibri" pitchFamily="34" charset="-122"/>
                  <a:cs typeface="Calibri" pitchFamily="34" charset="-120"/>
                </a:rPr>
                <a:t>Identify, examine and analyse the major academic, technical, experiential, behavioural and career-related factors associated with the employability of fresh CSE graduates in Bangladesh.</a:t>
              </a:r>
              <a:endParaRPr lang="en-US" sz="1550" dirty="0"/>
            </a:p>
          </p:txBody>
        </p:sp>
        <p:sp>
          <p:nvSpPr>
            <p:cNvPr id="63" name="Text 22"/>
            <p:cNvSpPr/>
            <p:nvPr/>
          </p:nvSpPr>
          <p:spPr>
            <a:xfrm>
              <a:off x="9590667" y="2656742"/>
              <a:ext cx="310368" cy="514998"/>
            </a:xfrm>
            <a:prstGeom prst="rect">
              <a:avLst/>
            </a:prstGeom>
            <a:noFill/>
            <a:ln/>
          </p:spPr>
          <p:txBody>
            <a:bodyPr wrap="square" lIns="0" tIns="0" rIns="0" bIns="0" rtlCol="0" anchor="ctr"/>
            <a:lstStyle/>
            <a:p>
              <a:pPr marL="0" indent="0" algn="ctr">
                <a:buNone/>
              </a:pPr>
              <a:r>
                <a:rPr lang="en-US" sz="1700" b="1" dirty="0" smtClean="0">
                  <a:solidFill>
                    <a:srgbClr val="000000"/>
                  </a:solidFill>
                  <a:latin typeface="Calibri" pitchFamily="34" charset="0"/>
                  <a:ea typeface="Calibri" pitchFamily="34" charset="-122"/>
                  <a:cs typeface="Calibri" pitchFamily="34" charset="-120"/>
                </a:rPr>
                <a:t>1</a:t>
              </a:r>
              <a:endParaRPr lang="en-US" sz="1700" dirty="0"/>
            </a:p>
          </p:txBody>
        </p:sp>
      </p:grpSp>
      <p:grpSp>
        <p:nvGrpSpPr>
          <p:cNvPr id="66" name="Group 65"/>
          <p:cNvGrpSpPr/>
          <p:nvPr/>
        </p:nvGrpSpPr>
        <p:grpSpPr>
          <a:xfrm>
            <a:off x="685800" y="4626864"/>
            <a:ext cx="15023115" cy="1920240"/>
            <a:chOff x="9372600" y="4480560"/>
            <a:chExt cx="8229600" cy="1920240"/>
          </a:xfrm>
        </p:grpSpPr>
        <p:sp>
          <p:nvSpPr>
            <p:cNvPr id="27" name="Shape 25"/>
            <p:cNvSpPr/>
            <p:nvPr/>
          </p:nvSpPr>
          <p:spPr>
            <a:xfrm>
              <a:off x="9372600" y="4480560"/>
              <a:ext cx="8229600" cy="1920240"/>
            </a:xfrm>
            <a:prstGeom prst="roundRect">
              <a:avLst>
                <a:gd name="adj" fmla="val 4286"/>
              </a:avLst>
            </a:prstGeom>
            <a:solidFill>
              <a:srgbClr val="E7EBEF"/>
            </a:solidFill>
            <a:ln w="12700">
              <a:solidFill>
                <a:srgbClr val="D7DCE1"/>
              </a:solidFill>
              <a:prstDash val="solid"/>
            </a:ln>
          </p:spPr>
        </p:sp>
        <p:sp>
          <p:nvSpPr>
            <p:cNvPr id="28" name="Shape 26"/>
            <p:cNvSpPr/>
            <p:nvPr/>
          </p:nvSpPr>
          <p:spPr>
            <a:xfrm>
              <a:off x="9560532" y="4649315"/>
              <a:ext cx="358687" cy="566928"/>
            </a:xfrm>
            <a:prstGeom prst="ellipse">
              <a:avLst/>
            </a:prstGeom>
            <a:solidFill>
              <a:srgbClr val="FFFFFF"/>
            </a:solidFill>
            <a:ln w="12700">
              <a:solidFill>
                <a:srgbClr val="D7DCE1"/>
              </a:solidFill>
              <a:prstDash val="solid"/>
            </a:ln>
          </p:spPr>
        </p:sp>
        <p:sp>
          <p:nvSpPr>
            <p:cNvPr id="29" name="Text 27"/>
            <p:cNvSpPr/>
            <p:nvPr/>
          </p:nvSpPr>
          <p:spPr>
            <a:xfrm>
              <a:off x="9560533" y="4649316"/>
              <a:ext cx="358687" cy="566928"/>
            </a:xfrm>
            <a:prstGeom prst="rect">
              <a:avLst/>
            </a:prstGeom>
            <a:noFill/>
            <a:ln/>
          </p:spPr>
          <p:txBody>
            <a:bodyPr wrap="square" lIns="0" tIns="0" rIns="0" bIns="0" rtlCol="0" anchor="ctr"/>
            <a:lstStyle/>
            <a:p>
              <a:pPr marL="0" indent="0" algn="ctr">
                <a:buNone/>
              </a:pPr>
              <a:r>
                <a:rPr lang="en-US" sz="1700" b="1" dirty="0">
                  <a:solidFill>
                    <a:srgbClr val="000000"/>
                  </a:solidFill>
                  <a:latin typeface="Calibri" pitchFamily="34" charset="0"/>
                  <a:ea typeface="Calibri" pitchFamily="34" charset="-122"/>
                  <a:cs typeface="Calibri" pitchFamily="34" charset="-120"/>
                </a:rPr>
                <a:t>2</a:t>
              </a:r>
              <a:endParaRPr lang="en-US" sz="1700" dirty="0"/>
            </a:p>
          </p:txBody>
        </p:sp>
        <p:sp>
          <p:nvSpPr>
            <p:cNvPr id="30" name="Text 28"/>
            <p:cNvSpPr/>
            <p:nvPr/>
          </p:nvSpPr>
          <p:spPr>
            <a:xfrm>
              <a:off x="10028948" y="4690872"/>
              <a:ext cx="6629400" cy="457200"/>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Model Development and Evaluation</a:t>
              </a:r>
              <a:endParaRPr lang="en-US" sz="1800" dirty="0"/>
            </a:p>
          </p:txBody>
        </p:sp>
        <p:sp>
          <p:nvSpPr>
            <p:cNvPr id="31" name="Text 29"/>
            <p:cNvSpPr/>
            <p:nvPr/>
          </p:nvSpPr>
          <p:spPr>
            <a:xfrm>
              <a:off x="10028948" y="5248656"/>
              <a:ext cx="7353060" cy="1014984"/>
            </a:xfrm>
            <a:prstGeom prst="rect">
              <a:avLst/>
            </a:prstGeom>
            <a:noFill/>
            <a:ln/>
          </p:spPr>
          <p:txBody>
            <a:bodyPr wrap="square" lIns="0" tIns="0" rIns="0" bIns="0" rtlCol="0" anchor="t"/>
            <a:lstStyle/>
            <a:p>
              <a:pPr marL="0" indent="0">
                <a:lnSpc>
                  <a:spcPts val="2046"/>
                </a:lnSpc>
                <a:buNone/>
              </a:pPr>
              <a:r>
                <a:rPr lang="en-US" sz="1550" dirty="0">
                  <a:solidFill>
                    <a:srgbClr val="000000"/>
                  </a:solidFill>
                  <a:latin typeface="Calibri" pitchFamily="34" charset="0"/>
                  <a:ea typeface="Calibri" pitchFamily="34" charset="-122"/>
                  <a:cs typeface="Calibri" pitchFamily="34" charset="-120"/>
                </a:rPr>
                <a:t>Develop, implement and comparatively evaluate supervised machine learning classification models for predicting the employability of fresh CSE graduates in Bangladesh.</a:t>
              </a:r>
              <a:endParaRPr lang="en-US" sz="1550" dirty="0"/>
            </a:p>
          </p:txBody>
        </p:sp>
      </p:grpSp>
      <p:grpSp>
        <p:nvGrpSpPr>
          <p:cNvPr id="67" name="Group 66"/>
          <p:cNvGrpSpPr/>
          <p:nvPr/>
        </p:nvGrpSpPr>
        <p:grpSpPr>
          <a:xfrm>
            <a:off x="685800" y="6784848"/>
            <a:ext cx="15023116" cy="1719072"/>
            <a:chOff x="9372600" y="6583680"/>
            <a:chExt cx="8229600" cy="1920240"/>
          </a:xfrm>
        </p:grpSpPr>
        <p:sp>
          <p:nvSpPr>
            <p:cNvPr id="32" name="Shape 30"/>
            <p:cNvSpPr/>
            <p:nvPr/>
          </p:nvSpPr>
          <p:spPr>
            <a:xfrm>
              <a:off x="9372600" y="6583680"/>
              <a:ext cx="8229600" cy="1920240"/>
            </a:xfrm>
            <a:prstGeom prst="roundRect">
              <a:avLst>
                <a:gd name="adj" fmla="val 4286"/>
              </a:avLst>
            </a:prstGeom>
            <a:solidFill>
              <a:srgbClr val="F4F6F8"/>
            </a:solidFill>
            <a:ln w="12700">
              <a:solidFill>
                <a:srgbClr val="D7DCE1"/>
              </a:solidFill>
              <a:prstDash val="solid"/>
            </a:ln>
          </p:spPr>
        </p:sp>
        <p:sp>
          <p:nvSpPr>
            <p:cNvPr id="33" name="Shape 31"/>
            <p:cNvSpPr/>
            <p:nvPr/>
          </p:nvSpPr>
          <p:spPr>
            <a:xfrm>
              <a:off x="9560532" y="6798175"/>
              <a:ext cx="358687" cy="608465"/>
            </a:xfrm>
            <a:prstGeom prst="ellipse">
              <a:avLst/>
            </a:prstGeom>
            <a:solidFill>
              <a:srgbClr val="FFFFFF"/>
            </a:solidFill>
            <a:ln w="12700">
              <a:solidFill>
                <a:srgbClr val="D7DCE1"/>
              </a:solidFill>
              <a:prstDash val="solid"/>
            </a:ln>
          </p:spPr>
        </p:sp>
        <p:sp>
          <p:nvSpPr>
            <p:cNvPr id="34" name="Text 32"/>
            <p:cNvSpPr/>
            <p:nvPr/>
          </p:nvSpPr>
          <p:spPr>
            <a:xfrm>
              <a:off x="9560532" y="6810219"/>
              <a:ext cx="358687" cy="559943"/>
            </a:xfrm>
            <a:prstGeom prst="rect">
              <a:avLst/>
            </a:prstGeom>
            <a:noFill/>
            <a:ln/>
          </p:spPr>
          <p:txBody>
            <a:bodyPr wrap="square" lIns="0" tIns="0" rIns="0" bIns="0" rtlCol="0" anchor="ctr"/>
            <a:lstStyle/>
            <a:p>
              <a:pPr marL="0" indent="0" algn="ctr">
                <a:buNone/>
              </a:pPr>
              <a:r>
                <a:rPr lang="en-US" sz="1700" b="1" dirty="0">
                  <a:solidFill>
                    <a:srgbClr val="000000"/>
                  </a:solidFill>
                  <a:latin typeface="Calibri" pitchFamily="34" charset="0"/>
                  <a:ea typeface="Calibri" pitchFamily="34" charset="-122"/>
                  <a:cs typeface="Calibri" pitchFamily="34" charset="-120"/>
                </a:rPr>
                <a:t>3</a:t>
              </a:r>
              <a:endParaRPr lang="en-US" sz="1700" dirty="0"/>
            </a:p>
          </p:txBody>
        </p:sp>
        <p:sp>
          <p:nvSpPr>
            <p:cNvPr id="35" name="Text 33"/>
            <p:cNvSpPr/>
            <p:nvPr/>
          </p:nvSpPr>
          <p:spPr>
            <a:xfrm>
              <a:off x="10028947" y="6810219"/>
              <a:ext cx="7161773" cy="523270"/>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Interpretation and Evidence-Based Recommendation</a:t>
              </a:r>
              <a:endParaRPr lang="en-US" sz="1800" dirty="0"/>
            </a:p>
          </p:txBody>
        </p:sp>
        <p:sp>
          <p:nvSpPr>
            <p:cNvPr id="36" name="Text 34"/>
            <p:cNvSpPr/>
            <p:nvPr/>
          </p:nvSpPr>
          <p:spPr>
            <a:xfrm>
              <a:off x="10028948" y="7406640"/>
              <a:ext cx="7353060" cy="960120"/>
            </a:xfrm>
            <a:prstGeom prst="rect">
              <a:avLst/>
            </a:prstGeom>
            <a:noFill/>
            <a:ln/>
          </p:spPr>
          <p:txBody>
            <a:bodyPr wrap="square" lIns="0" tIns="0" rIns="0" bIns="0" rtlCol="0" anchor="t"/>
            <a:lstStyle/>
            <a:p>
              <a:pPr marL="0" indent="0">
                <a:lnSpc>
                  <a:spcPts val="2046"/>
                </a:lnSpc>
                <a:buNone/>
              </a:pPr>
              <a:r>
                <a:rPr lang="en-US" sz="1550" dirty="0">
                  <a:solidFill>
                    <a:srgbClr val="000000"/>
                  </a:solidFill>
                  <a:latin typeface="Calibri" pitchFamily="34" charset="0"/>
                  <a:ea typeface="Calibri" pitchFamily="34" charset="-122"/>
                  <a:cs typeface="Calibri" pitchFamily="34" charset="-120"/>
                </a:rPr>
                <a:t>Interpret the best-performing model by identifying the relative importance of different employability factors, and translate that interpretation into actionable recommendations.</a:t>
              </a:r>
              <a:endParaRPr lang="en-US" sz="1550" dirty="0"/>
            </a:p>
          </p:txBody>
        </p:sp>
      </p:grpSp>
      <p:sp>
        <p:nvSpPr>
          <p:cNvPr id="37" name="Shape 35"/>
          <p:cNvSpPr/>
          <p:nvPr/>
        </p:nvSpPr>
        <p:spPr>
          <a:xfrm>
            <a:off x="685800" y="8796528"/>
            <a:ext cx="15023117" cy="1166338"/>
          </a:xfrm>
          <a:prstGeom prst="roundRect">
            <a:avLst>
              <a:gd name="adj" fmla="val 9000"/>
            </a:avLst>
          </a:prstGeom>
          <a:solidFill>
            <a:srgbClr val="E7EBEF"/>
          </a:solidFill>
          <a:ln w="12700">
            <a:solidFill>
              <a:srgbClr val="D7DCE1"/>
            </a:solidFill>
            <a:prstDash val="solid"/>
          </a:ln>
        </p:spPr>
      </p:sp>
      <p:sp>
        <p:nvSpPr>
          <p:cNvPr id="38" name="Text 36"/>
          <p:cNvSpPr/>
          <p:nvPr/>
        </p:nvSpPr>
        <p:spPr>
          <a:xfrm>
            <a:off x="1097280" y="8942832"/>
            <a:ext cx="3749040" cy="274320"/>
          </a:xfrm>
          <a:prstGeom prst="rect">
            <a:avLst/>
          </a:prstGeom>
          <a:noFill/>
          <a:ln/>
        </p:spPr>
        <p:txBody>
          <a:bodyPr wrap="square" lIns="0" tIns="0" rIns="0" bIns="0" rtlCol="0" anchor="ctr"/>
          <a:lstStyle/>
          <a:p>
            <a:pPr marL="0" indent="0">
              <a:buNone/>
            </a:pPr>
            <a:r>
              <a:rPr lang="en-US" sz="1300" b="1" kern="0" spc="200" dirty="0">
                <a:solidFill>
                  <a:srgbClr val="5B6B7C"/>
                </a:solidFill>
                <a:latin typeface="Calibri" pitchFamily="34" charset="0"/>
                <a:ea typeface="Calibri" pitchFamily="34" charset="-122"/>
                <a:cs typeface="Calibri" pitchFamily="34" charset="-120"/>
              </a:rPr>
              <a:t>POPULATION</a:t>
            </a:r>
            <a:endParaRPr lang="en-US" sz="1300" dirty="0"/>
          </a:p>
        </p:txBody>
      </p:sp>
      <p:sp>
        <p:nvSpPr>
          <p:cNvPr id="39" name="Text 37"/>
          <p:cNvSpPr/>
          <p:nvPr/>
        </p:nvSpPr>
        <p:spPr>
          <a:xfrm>
            <a:off x="1097280" y="9217151"/>
            <a:ext cx="3749040" cy="553865"/>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Fresh CSE graduates (≤ 24 months)</a:t>
            </a:r>
            <a:endParaRPr lang="en-US" sz="1700" dirty="0"/>
          </a:p>
        </p:txBody>
      </p:sp>
      <p:sp>
        <p:nvSpPr>
          <p:cNvPr id="40" name="Text 38"/>
          <p:cNvSpPr/>
          <p:nvPr/>
        </p:nvSpPr>
        <p:spPr>
          <a:xfrm>
            <a:off x="5120640" y="8942832"/>
            <a:ext cx="3749040" cy="274320"/>
          </a:xfrm>
          <a:prstGeom prst="rect">
            <a:avLst/>
          </a:prstGeom>
          <a:noFill/>
          <a:ln/>
        </p:spPr>
        <p:txBody>
          <a:bodyPr wrap="square" lIns="0" tIns="0" rIns="0" bIns="0" rtlCol="0" anchor="ctr"/>
          <a:lstStyle/>
          <a:p>
            <a:pPr marL="0" indent="0">
              <a:buNone/>
            </a:pPr>
            <a:r>
              <a:rPr lang="en-US" sz="1300" b="1" kern="0" spc="200" dirty="0">
                <a:solidFill>
                  <a:srgbClr val="5B6B7C"/>
                </a:solidFill>
                <a:latin typeface="Calibri" pitchFamily="34" charset="0"/>
                <a:ea typeface="Calibri" pitchFamily="34" charset="-122"/>
                <a:cs typeface="Calibri" pitchFamily="34" charset="-120"/>
              </a:rPr>
              <a:t>DATA SOURCE</a:t>
            </a:r>
            <a:endParaRPr lang="en-US" sz="1300" dirty="0"/>
          </a:p>
        </p:txBody>
      </p:sp>
      <p:sp>
        <p:nvSpPr>
          <p:cNvPr id="41" name="Text 39"/>
          <p:cNvSpPr/>
          <p:nvPr/>
        </p:nvSpPr>
        <p:spPr>
          <a:xfrm>
            <a:off x="5120640" y="9217152"/>
            <a:ext cx="3749040" cy="553864"/>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Kaggle — 50,000 records</a:t>
            </a:r>
            <a:endParaRPr lang="en-US" sz="1700" dirty="0"/>
          </a:p>
        </p:txBody>
      </p:sp>
      <p:sp>
        <p:nvSpPr>
          <p:cNvPr id="42" name="Text 40"/>
          <p:cNvSpPr/>
          <p:nvPr/>
        </p:nvSpPr>
        <p:spPr>
          <a:xfrm>
            <a:off x="9144000" y="8942832"/>
            <a:ext cx="3749040" cy="274320"/>
          </a:xfrm>
          <a:prstGeom prst="rect">
            <a:avLst/>
          </a:prstGeom>
          <a:noFill/>
          <a:ln/>
        </p:spPr>
        <p:txBody>
          <a:bodyPr wrap="square" lIns="0" tIns="0" rIns="0" bIns="0" rtlCol="0" anchor="ctr"/>
          <a:lstStyle/>
          <a:p>
            <a:pPr marL="0" indent="0">
              <a:buNone/>
            </a:pPr>
            <a:r>
              <a:rPr lang="en-US" sz="1300" b="1" kern="0" spc="200" dirty="0">
                <a:solidFill>
                  <a:srgbClr val="5B6B7C"/>
                </a:solidFill>
                <a:latin typeface="Calibri" pitchFamily="34" charset="0"/>
                <a:ea typeface="Calibri" pitchFamily="34" charset="-122"/>
                <a:cs typeface="Calibri" pitchFamily="34" charset="-120"/>
              </a:rPr>
              <a:t>OUTCOME</a:t>
            </a:r>
            <a:endParaRPr lang="en-US" sz="1300" dirty="0"/>
          </a:p>
        </p:txBody>
      </p:sp>
      <p:sp>
        <p:nvSpPr>
          <p:cNvPr id="43" name="Text 41"/>
          <p:cNvSpPr/>
          <p:nvPr/>
        </p:nvSpPr>
        <p:spPr>
          <a:xfrm>
            <a:off x="9144000" y="9217151"/>
            <a:ext cx="3749040" cy="488377"/>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ICT role within 12 months</a:t>
            </a:r>
            <a:endParaRPr lang="en-US" sz="1700" dirty="0"/>
          </a:p>
        </p:txBody>
      </p:sp>
      <p:sp>
        <p:nvSpPr>
          <p:cNvPr id="44" name="Text 42"/>
          <p:cNvSpPr/>
          <p:nvPr/>
        </p:nvSpPr>
        <p:spPr>
          <a:xfrm>
            <a:off x="13167360" y="8942832"/>
            <a:ext cx="3749040" cy="274320"/>
          </a:xfrm>
          <a:prstGeom prst="rect">
            <a:avLst/>
          </a:prstGeom>
          <a:noFill/>
          <a:ln/>
        </p:spPr>
        <p:txBody>
          <a:bodyPr wrap="square" lIns="0" tIns="0" rIns="0" bIns="0" rtlCol="0" anchor="ctr"/>
          <a:lstStyle/>
          <a:p>
            <a:pPr marL="0" indent="0">
              <a:buNone/>
            </a:pPr>
            <a:r>
              <a:rPr lang="en-US" sz="1300" b="1" kern="0" spc="200" dirty="0">
                <a:solidFill>
                  <a:srgbClr val="5B6B7C"/>
                </a:solidFill>
                <a:latin typeface="Calibri" pitchFamily="34" charset="0"/>
                <a:ea typeface="Calibri" pitchFamily="34" charset="-122"/>
                <a:cs typeface="Calibri" pitchFamily="34" charset="-120"/>
              </a:rPr>
              <a:t>DESIGN</a:t>
            </a:r>
            <a:endParaRPr lang="en-US" sz="1300" dirty="0"/>
          </a:p>
        </p:txBody>
      </p:sp>
      <p:sp>
        <p:nvSpPr>
          <p:cNvPr id="45" name="Text 43"/>
          <p:cNvSpPr/>
          <p:nvPr/>
        </p:nvSpPr>
        <p:spPr>
          <a:xfrm>
            <a:off x="13094142" y="9370007"/>
            <a:ext cx="3749040" cy="329184"/>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Cross-sectional, supervised</a:t>
            </a:r>
            <a:endParaRPr lang="en-US" sz="1700" dirty="0"/>
          </a:p>
        </p:txBody>
      </p:sp>
      <p:sp>
        <p:nvSpPr>
          <p:cNvPr id="49" name="Text 23"/>
          <p:cNvSpPr/>
          <p:nvPr/>
        </p:nvSpPr>
        <p:spPr>
          <a:xfrm>
            <a:off x="1883962" y="2735523"/>
            <a:ext cx="6571793" cy="464877"/>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Identification of Employability Determinants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2  —  LITERATURE REVIEW</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The Research Gap and Our Contribution</a:t>
            </a:r>
            <a:endParaRPr lang="en-US" sz="3900" dirty="0"/>
          </a:p>
        </p:txBody>
      </p:sp>
      <p:sp>
        <p:nvSpPr>
          <p:cNvPr id="4" name="Text 2"/>
          <p:cNvSpPr/>
          <p:nvPr/>
        </p:nvSpPr>
        <p:spPr>
          <a:xfrm>
            <a:off x="685800" y="1847088"/>
            <a:ext cx="16916400" cy="822960"/>
          </a:xfrm>
          <a:prstGeom prst="rect">
            <a:avLst/>
          </a:prstGeom>
          <a:noFill/>
          <a:ln/>
        </p:spPr>
        <p:txBody>
          <a:bodyPr wrap="square" lIns="0" tIns="0" rIns="0" bIns="0" rtlCol="0" anchor="t"/>
          <a:lstStyle/>
          <a:p>
            <a:pPr marL="0" indent="0">
              <a:lnSpc>
                <a:spcPts val="2700"/>
              </a:lnSpc>
              <a:buNone/>
            </a:pPr>
            <a:r>
              <a:rPr lang="en-US" sz="2000" dirty="0">
                <a:solidFill>
                  <a:srgbClr val="000000"/>
                </a:solidFill>
                <a:latin typeface="Calibri" pitchFamily="34" charset="0"/>
                <a:ea typeface="Calibri" pitchFamily="34" charset="-122"/>
                <a:cs typeface="Calibri" pitchFamily="34" charset="-120"/>
              </a:rPr>
              <a:t>A systematic review documents that employability-prediction studies are fragmented across inconsistent datasets, features and evaluation protocols, and calls explicitly for context-specific models (Mezhoudi et al., 2023). Models exist for Nigeria, the Philippines, Malaysia, Egypt, Vietnam and India — but none for Bangladesh.</a:t>
            </a:r>
            <a:endParaRPr lang="en-US" sz="2000" dirty="0"/>
          </a:p>
        </p:txBody>
      </p:sp>
      <p:sp>
        <p:nvSpPr>
          <p:cNvPr id="5" name="Text 3"/>
          <p:cNvSpPr/>
          <p:nvPr/>
        </p:nvSpPr>
        <p:spPr>
          <a:xfrm>
            <a:off x="685800" y="3017520"/>
            <a:ext cx="905256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FIVE IDENTIFIED RESEARCH GAPS  (TABLE 2.2)</a:t>
            </a:r>
            <a:endParaRPr lang="en-US" sz="1500" dirty="0"/>
          </a:p>
        </p:txBody>
      </p:sp>
      <p:grpSp>
        <p:nvGrpSpPr>
          <p:cNvPr id="41" name="Group 40"/>
          <p:cNvGrpSpPr/>
          <p:nvPr/>
        </p:nvGrpSpPr>
        <p:grpSpPr>
          <a:xfrm>
            <a:off x="685800" y="3520440"/>
            <a:ext cx="9052560" cy="6442426"/>
            <a:chOff x="685800" y="3520440"/>
            <a:chExt cx="9052560" cy="5961888"/>
          </a:xfrm>
        </p:grpSpPr>
        <p:sp>
          <p:nvSpPr>
            <p:cNvPr id="6" name="Shape 4"/>
            <p:cNvSpPr/>
            <p:nvPr/>
          </p:nvSpPr>
          <p:spPr>
            <a:xfrm>
              <a:off x="685800" y="3520440"/>
              <a:ext cx="9052560" cy="1097280"/>
            </a:xfrm>
            <a:prstGeom prst="roundRect">
              <a:avLst>
                <a:gd name="adj" fmla="val 7500"/>
              </a:avLst>
            </a:prstGeom>
            <a:solidFill>
              <a:srgbClr val="F4F6F8"/>
            </a:solidFill>
            <a:ln w="12700">
              <a:solidFill>
                <a:srgbClr val="D7DCE1"/>
              </a:solidFill>
              <a:prstDash val="solid"/>
            </a:ln>
          </p:spPr>
        </p:sp>
        <p:sp>
          <p:nvSpPr>
            <p:cNvPr id="7" name="Text 5"/>
            <p:cNvSpPr/>
            <p:nvPr/>
          </p:nvSpPr>
          <p:spPr>
            <a:xfrm>
              <a:off x="1005840" y="3648456"/>
              <a:ext cx="777240" cy="457200"/>
            </a:xfrm>
            <a:prstGeom prst="rect">
              <a:avLst/>
            </a:prstGeom>
            <a:noFill/>
            <a:ln/>
          </p:spPr>
          <p:txBody>
            <a:bodyPr wrap="square" lIns="0" tIns="0" rIns="0" bIns="0" rtlCol="0" anchor="ctr"/>
            <a:lstStyle/>
            <a:p>
              <a:pPr marL="0" indent="0">
                <a:buNone/>
              </a:pPr>
              <a:r>
                <a:rPr lang="en-US" sz="2000" b="1" dirty="0">
                  <a:solidFill>
                    <a:srgbClr val="5B6B7C"/>
                  </a:solidFill>
                  <a:latin typeface="Calibri" pitchFamily="34" charset="0"/>
                  <a:ea typeface="Calibri" pitchFamily="34" charset="-122"/>
                  <a:cs typeface="Calibri" pitchFamily="34" charset="-120"/>
                </a:rPr>
                <a:t>G1</a:t>
              </a:r>
              <a:endParaRPr lang="en-US" sz="2000" dirty="0"/>
            </a:p>
          </p:txBody>
        </p:sp>
        <p:sp>
          <p:nvSpPr>
            <p:cNvPr id="8" name="Text 6"/>
            <p:cNvSpPr/>
            <p:nvPr/>
          </p:nvSpPr>
          <p:spPr>
            <a:xfrm>
              <a:off x="1828800" y="3648456"/>
              <a:ext cx="7543800" cy="384048"/>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No context-specific evidence for Bangladeshi CSE graduates</a:t>
              </a:r>
              <a:endParaRPr lang="en-US" sz="1650" dirty="0"/>
            </a:p>
          </p:txBody>
        </p:sp>
        <p:sp>
          <p:nvSpPr>
            <p:cNvPr id="9" name="Text 7"/>
            <p:cNvSpPr/>
            <p:nvPr/>
          </p:nvSpPr>
          <p:spPr>
            <a:xfrm>
              <a:off x="1828800" y="4050792"/>
              <a:ext cx="7543800" cy="502920"/>
            </a:xfrm>
            <a:prstGeom prst="rect">
              <a:avLst/>
            </a:prstGeom>
            <a:noFill/>
            <a:ln/>
          </p:spPr>
          <p:txBody>
            <a:bodyPr wrap="square" lIns="0" tIns="0" rIns="0" bIns="0" rtlCol="0" anchor="t"/>
            <a:lstStyle/>
            <a:p>
              <a:pPr marL="0" indent="0">
                <a:lnSpc>
                  <a:spcPts val="1848"/>
                </a:lnSpc>
                <a:buNone/>
              </a:pPr>
              <a:r>
                <a:rPr lang="en-US" sz="1400" dirty="0">
                  <a:solidFill>
                    <a:srgbClr val="000000"/>
                  </a:solidFill>
                  <a:latin typeface="Calibri" pitchFamily="34" charset="0"/>
                  <a:ea typeface="Calibri" pitchFamily="34" charset="-122"/>
                  <a:cs typeface="Calibri" pitchFamily="34" charset="-120"/>
                </a:rPr>
                <a:t>Bangladeshi work targets academic performance (Zulfiker et al., 2020) or career category (Biswas et al., 2021), not employability.</a:t>
              </a:r>
              <a:endParaRPr lang="en-US" sz="1400" dirty="0"/>
            </a:p>
          </p:txBody>
        </p:sp>
        <p:sp>
          <p:nvSpPr>
            <p:cNvPr id="10" name="Shape 8"/>
            <p:cNvSpPr/>
            <p:nvPr/>
          </p:nvSpPr>
          <p:spPr>
            <a:xfrm>
              <a:off x="685800" y="4736592"/>
              <a:ext cx="9052560" cy="1097280"/>
            </a:xfrm>
            <a:prstGeom prst="roundRect">
              <a:avLst>
                <a:gd name="adj" fmla="val 7500"/>
              </a:avLst>
            </a:prstGeom>
            <a:solidFill>
              <a:srgbClr val="E7EBEF"/>
            </a:solidFill>
            <a:ln w="12700">
              <a:solidFill>
                <a:srgbClr val="D7DCE1"/>
              </a:solidFill>
              <a:prstDash val="solid"/>
            </a:ln>
          </p:spPr>
        </p:sp>
        <p:sp>
          <p:nvSpPr>
            <p:cNvPr id="11" name="Text 9"/>
            <p:cNvSpPr/>
            <p:nvPr/>
          </p:nvSpPr>
          <p:spPr>
            <a:xfrm>
              <a:off x="1005840" y="4864608"/>
              <a:ext cx="777240" cy="457200"/>
            </a:xfrm>
            <a:prstGeom prst="rect">
              <a:avLst/>
            </a:prstGeom>
            <a:noFill/>
            <a:ln/>
          </p:spPr>
          <p:txBody>
            <a:bodyPr wrap="square" lIns="0" tIns="0" rIns="0" bIns="0" rtlCol="0" anchor="ctr"/>
            <a:lstStyle/>
            <a:p>
              <a:pPr marL="0" indent="0">
                <a:buNone/>
              </a:pPr>
              <a:r>
                <a:rPr lang="en-US" sz="2000" b="1" dirty="0">
                  <a:solidFill>
                    <a:srgbClr val="5B6B7C"/>
                  </a:solidFill>
                  <a:latin typeface="Calibri" pitchFamily="34" charset="0"/>
                  <a:ea typeface="Calibri" pitchFamily="34" charset="-122"/>
                  <a:cs typeface="Calibri" pitchFamily="34" charset="-120"/>
                </a:rPr>
                <a:t>G2</a:t>
              </a:r>
              <a:endParaRPr lang="en-US" sz="2000" dirty="0"/>
            </a:p>
          </p:txBody>
        </p:sp>
        <p:sp>
          <p:nvSpPr>
            <p:cNvPr id="12" name="Text 10"/>
            <p:cNvSpPr/>
            <p:nvPr/>
          </p:nvSpPr>
          <p:spPr>
            <a:xfrm>
              <a:off x="1828800" y="4864608"/>
              <a:ext cx="7543800" cy="384048"/>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Fragmented, design-constrained feature coverage</a:t>
              </a:r>
              <a:endParaRPr lang="en-US" sz="1650" dirty="0"/>
            </a:p>
          </p:txBody>
        </p:sp>
        <p:sp>
          <p:nvSpPr>
            <p:cNvPr id="13" name="Text 11"/>
            <p:cNvSpPr/>
            <p:nvPr/>
          </p:nvSpPr>
          <p:spPr>
            <a:xfrm>
              <a:off x="1828800" y="5266944"/>
              <a:ext cx="7543800" cy="502920"/>
            </a:xfrm>
            <a:prstGeom prst="rect">
              <a:avLst/>
            </a:prstGeom>
            <a:noFill/>
            <a:ln/>
          </p:spPr>
          <p:txBody>
            <a:bodyPr wrap="square" lIns="0" tIns="0" rIns="0" bIns="0" rtlCol="0" anchor="t"/>
            <a:lstStyle/>
            <a:p>
              <a:pPr marL="0" indent="0">
                <a:lnSpc>
                  <a:spcPts val="1848"/>
                </a:lnSpc>
                <a:buNone/>
              </a:pPr>
              <a:r>
                <a:rPr lang="en-US" sz="1400" dirty="0">
                  <a:solidFill>
                    <a:srgbClr val="000000"/>
                  </a:solidFill>
                  <a:latin typeface="Calibri" pitchFamily="34" charset="0"/>
                  <a:ea typeface="Calibri" pitchFamily="34" charset="-122"/>
                  <a:cs typeface="Calibri" pitchFamily="34" charset="-120"/>
                </a:rPr>
                <a:t>Institutional-record studies report academic predictors only; those that include experiential variables find them dominant.</a:t>
              </a:r>
              <a:endParaRPr lang="en-US" sz="1400" dirty="0"/>
            </a:p>
          </p:txBody>
        </p:sp>
        <p:sp>
          <p:nvSpPr>
            <p:cNvPr id="14" name="Shape 12"/>
            <p:cNvSpPr/>
            <p:nvPr/>
          </p:nvSpPr>
          <p:spPr>
            <a:xfrm>
              <a:off x="685800" y="5952744"/>
              <a:ext cx="9052560" cy="1097280"/>
            </a:xfrm>
            <a:prstGeom prst="roundRect">
              <a:avLst>
                <a:gd name="adj" fmla="val 7500"/>
              </a:avLst>
            </a:prstGeom>
            <a:solidFill>
              <a:srgbClr val="F4F6F8"/>
            </a:solidFill>
            <a:ln w="12700">
              <a:solidFill>
                <a:srgbClr val="D7DCE1"/>
              </a:solidFill>
              <a:prstDash val="solid"/>
            </a:ln>
          </p:spPr>
        </p:sp>
        <p:sp>
          <p:nvSpPr>
            <p:cNvPr id="15" name="Text 13"/>
            <p:cNvSpPr/>
            <p:nvPr/>
          </p:nvSpPr>
          <p:spPr>
            <a:xfrm>
              <a:off x="1005840" y="6080760"/>
              <a:ext cx="777240" cy="457200"/>
            </a:xfrm>
            <a:prstGeom prst="rect">
              <a:avLst/>
            </a:prstGeom>
            <a:noFill/>
            <a:ln/>
          </p:spPr>
          <p:txBody>
            <a:bodyPr wrap="square" lIns="0" tIns="0" rIns="0" bIns="0" rtlCol="0" anchor="ctr"/>
            <a:lstStyle/>
            <a:p>
              <a:pPr marL="0" indent="0">
                <a:buNone/>
              </a:pPr>
              <a:r>
                <a:rPr lang="en-US" sz="2000" b="1" dirty="0">
                  <a:solidFill>
                    <a:srgbClr val="5B6B7C"/>
                  </a:solidFill>
                  <a:latin typeface="Calibri" pitchFamily="34" charset="0"/>
                  <a:ea typeface="Calibri" pitchFamily="34" charset="-122"/>
                  <a:cs typeface="Calibri" pitchFamily="34" charset="-120"/>
                </a:rPr>
                <a:t>G3</a:t>
              </a:r>
              <a:endParaRPr lang="en-US" sz="2000" dirty="0"/>
            </a:p>
          </p:txBody>
        </p:sp>
        <p:sp>
          <p:nvSpPr>
            <p:cNvPr id="16" name="Text 14"/>
            <p:cNvSpPr/>
            <p:nvPr/>
          </p:nvSpPr>
          <p:spPr>
            <a:xfrm>
              <a:off x="1828800" y="6080760"/>
              <a:ext cx="7543800" cy="384048"/>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Weak and non-comparable evaluation practice</a:t>
              </a:r>
              <a:endParaRPr lang="en-US" sz="1650" dirty="0"/>
            </a:p>
          </p:txBody>
        </p:sp>
        <p:sp>
          <p:nvSpPr>
            <p:cNvPr id="17" name="Text 15"/>
            <p:cNvSpPr/>
            <p:nvPr/>
          </p:nvSpPr>
          <p:spPr>
            <a:xfrm>
              <a:off x="1828800" y="6483096"/>
              <a:ext cx="7543800" cy="502920"/>
            </a:xfrm>
            <a:prstGeom prst="rect">
              <a:avLst/>
            </a:prstGeom>
            <a:noFill/>
            <a:ln/>
          </p:spPr>
          <p:txBody>
            <a:bodyPr wrap="square" lIns="0" tIns="0" rIns="0" bIns="0" rtlCol="0" anchor="t"/>
            <a:lstStyle/>
            <a:p>
              <a:pPr marL="0" indent="0">
                <a:lnSpc>
                  <a:spcPts val="1848"/>
                </a:lnSpc>
                <a:buNone/>
              </a:pPr>
              <a:r>
                <a:rPr lang="en-US" sz="1400" dirty="0">
                  <a:solidFill>
                    <a:srgbClr val="000000"/>
                  </a:solidFill>
                  <a:latin typeface="Calibri" pitchFamily="34" charset="0"/>
                  <a:ea typeface="Calibri" pitchFamily="34" charset="-122"/>
                  <a:cs typeface="Calibri" pitchFamily="34" charset="-120"/>
                </a:rPr>
                <a:t>Accuracy reported alone, on small samples, without class distribution or minority-class recall (Baffa et al., 2023).</a:t>
              </a:r>
              <a:endParaRPr lang="en-US" sz="1400" dirty="0"/>
            </a:p>
          </p:txBody>
        </p:sp>
        <p:sp>
          <p:nvSpPr>
            <p:cNvPr id="18" name="Shape 16"/>
            <p:cNvSpPr/>
            <p:nvPr/>
          </p:nvSpPr>
          <p:spPr>
            <a:xfrm>
              <a:off x="685800" y="7168896"/>
              <a:ext cx="9052560" cy="1097280"/>
            </a:xfrm>
            <a:prstGeom prst="roundRect">
              <a:avLst>
                <a:gd name="adj" fmla="val 7500"/>
              </a:avLst>
            </a:prstGeom>
            <a:solidFill>
              <a:srgbClr val="E7EBEF"/>
            </a:solidFill>
            <a:ln w="12700">
              <a:solidFill>
                <a:srgbClr val="D7DCE1"/>
              </a:solidFill>
              <a:prstDash val="solid"/>
            </a:ln>
          </p:spPr>
        </p:sp>
        <p:sp>
          <p:nvSpPr>
            <p:cNvPr id="19" name="Text 17"/>
            <p:cNvSpPr/>
            <p:nvPr/>
          </p:nvSpPr>
          <p:spPr>
            <a:xfrm>
              <a:off x="1005840" y="7296912"/>
              <a:ext cx="777240" cy="457200"/>
            </a:xfrm>
            <a:prstGeom prst="rect">
              <a:avLst/>
            </a:prstGeom>
            <a:noFill/>
            <a:ln/>
          </p:spPr>
          <p:txBody>
            <a:bodyPr wrap="square" lIns="0" tIns="0" rIns="0" bIns="0" rtlCol="0" anchor="ctr"/>
            <a:lstStyle/>
            <a:p>
              <a:pPr marL="0" indent="0">
                <a:buNone/>
              </a:pPr>
              <a:r>
                <a:rPr lang="en-US" sz="2000" b="1" dirty="0">
                  <a:solidFill>
                    <a:srgbClr val="5B6B7C"/>
                  </a:solidFill>
                  <a:latin typeface="Calibri" pitchFamily="34" charset="0"/>
                  <a:ea typeface="Calibri" pitchFamily="34" charset="-122"/>
                  <a:cs typeface="Calibri" pitchFamily="34" charset="-120"/>
                </a:rPr>
                <a:t>G4</a:t>
              </a:r>
              <a:endParaRPr lang="en-US" sz="2000" dirty="0"/>
            </a:p>
          </p:txBody>
        </p:sp>
        <p:sp>
          <p:nvSpPr>
            <p:cNvPr id="20" name="Text 18"/>
            <p:cNvSpPr/>
            <p:nvPr/>
          </p:nvSpPr>
          <p:spPr>
            <a:xfrm>
              <a:off x="1828800" y="7296912"/>
              <a:ext cx="7543800" cy="384048"/>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Absence of interpretability</a:t>
              </a:r>
              <a:endParaRPr lang="en-US" sz="1650" dirty="0"/>
            </a:p>
          </p:txBody>
        </p:sp>
        <p:sp>
          <p:nvSpPr>
            <p:cNvPr id="21" name="Text 19"/>
            <p:cNvSpPr/>
            <p:nvPr/>
          </p:nvSpPr>
          <p:spPr>
            <a:xfrm>
              <a:off x="1828800" y="7699248"/>
              <a:ext cx="7543800" cy="502920"/>
            </a:xfrm>
            <a:prstGeom prst="rect">
              <a:avLst/>
            </a:prstGeom>
            <a:noFill/>
            <a:ln/>
          </p:spPr>
          <p:txBody>
            <a:bodyPr wrap="square" lIns="0" tIns="0" rIns="0" bIns="0" rtlCol="0" anchor="t"/>
            <a:lstStyle/>
            <a:p>
              <a:pPr marL="0" indent="0">
                <a:lnSpc>
                  <a:spcPts val="1848"/>
                </a:lnSpc>
                <a:buNone/>
              </a:pPr>
              <a:r>
                <a:rPr lang="en-US" sz="1400" dirty="0">
                  <a:solidFill>
                    <a:srgbClr val="000000"/>
                  </a:solidFill>
                  <a:latin typeface="Calibri" pitchFamily="34" charset="0"/>
                  <a:ea typeface="Calibri" pitchFamily="34" charset="-122"/>
                  <a:cs typeface="Calibri" pitchFamily="34" charset="-120"/>
                </a:rPr>
                <a:t>Most reviewed models are black boxes, so predictions cannot be translated into student guidance.</a:t>
              </a:r>
              <a:endParaRPr lang="en-US" sz="1400" dirty="0"/>
            </a:p>
          </p:txBody>
        </p:sp>
        <p:sp>
          <p:nvSpPr>
            <p:cNvPr id="22" name="Shape 20"/>
            <p:cNvSpPr/>
            <p:nvPr/>
          </p:nvSpPr>
          <p:spPr>
            <a:xfrm>
              <a:off x="685800" y="8385048"/>
              <a:ext cx="9052560" cy="1097280"/>
            </a:xfrm>
            <a:prstGeom prst="roundRect">
              <a:avLst>
                <a:gd name="adj" fmla="val 7500"/>
              </a:avLst>
            </a:prstGeom>
            <a:solidFill>
              <a:srgbClr val="F4F6F8"/>
            </a:solidFill>
            <a:ln w="12700">
              <a:solidFill>
                <a:srgbClr val="D7DCE1"/>
              </a:solidFill>
              <a:prstDash val="solid"/>
            </a:ln>
          </p:spPr>
        </p:sp>
        <p:sp>
          <p:nvSpPr>
            <p:cNvPr id="23" name="Text 21"/>
            <p:cNvSpPr/>
            <p:nvPr/>
          </p:nvSpPr>
          <p:spPr>
            <a:xfrm>
              <a:off x="1005840" y="8513064"/>
              <a:ext cx="777240" cy="457200"/>
            </a:xfrm>
            <a:prstGeom prst="rect">
              <a:avLst/>
            </a:prstGeom>
            <a:noFill/>
            <a:ln/>
          </p:spPr>
          <p:txBody>
            <a:bodyPr wrap="square" lIns="0" tIns="0" rIns="0" bIns="0" rtlCol="0" anchor="ctr"/>
            <a:lstStyle/>
            <a:p>
              <a:pPr marL="0" indent="0">
                <a:buNone/>
              </a:pPr>
              <a:r>
                <a:rPr lang="en-US" sz="2000" b="1" dirty="0">
                  <a:solidFill>
                    <a:srgbClr val="5B6B7C"/>
                  </a:solidFill>
                  <a:latin typeface="Calibri" pitchFamily="34" charset="0"/>
                  <a:ea typeface="Calibri" pitchFamily="34" charset="-122"/>
                  <a:cs typeface="Calibri" pitchFamily="34" charset="-120"/>
                </a:rPr>
                <a:t>G5</a:t>
              </a:r>
              <a:endParaRPr lang="en-US" sz="2000" dirty="0"/>
            </a:p>
          </p:txBody>
        </p:sp>
        <p:sp>
          <p:nvSpPr>
            <p:cNvPr id="24" name="Text 22"/>
            <p:cNvSpPr/>
            <p:nvPr/>
          </p:nvSpPr>
          <p:spPr>
            <a:xfrm>
              <a:off x="1828800" y="8513064"/>
              <a:ext cx="7543800" cy="384048"/>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Neglect of fairness in developing-country settings</a:t>
              </a:r>
              <a:endParaRPr lang="en-US" sz="1650" dirty="0"/>
            </a:p>
          </p:txBody>
        </p:sp>
        <p:sp>
          <p:nvSpPr>
            <p:cNvPr id="25" name="Text 23"/>
            <p:cNvSpPr/>
            <p:nvPr/>
          </p:nvSpPr>
          <p:spPr>
            <a:xfrm>
              <a:off x="1828800" y="8915400"/>
              <a:ext cx="7543800" cy="502920"/>
            </a:xfrm>
            <a:prstGeom prst="rect">
              <a:avLst/>
            </a:prstGeom>
            <a:noFill/>
            <a:ln/>
          </p:spPr>
          <p:txBody>
            <a:bodyPr wrap="square" lIns="0" tIns="0" rIns="0" bIns="0" rtlCol="0" anchor="t"/>
            <a:lstStyle/>
            <a:p>
              <a:pPr marL="0" indent="0">
                <a:lnSpc>
                  <a:spcPts val="1848"/>
                </a:lnSpc>
                <a:buNone/>
              </a:pPr>
              <a:r>
                <a:rPr lang="en-US" sz="1400" dirty="0">
                  <a:solidFill>
                    <a:srgbClr val="000000"/>
                  </a:solidFill>
                  <a:latin typeface="Calibri" pitchFamily="34" charset="0"/>
                  <a:ea typeface="Calibri" pitchFamily="34" charset="-122"/>
                  <a:cs typeface="Calibri" pitchFamily="34" charset="-120"/>
                </a:rPr>
                <a:t>Employment prediction models can encode bias (Guo et al., 2020), yet fairness analysis is effectively absent from South Asian research.</a:t>
              </a:r>
              <a:endParaRPr lang="en-US" sz="1400" dirty="0"/>
            </a:p>
          </p:txBody>
        </p:sp>
      </p:grpSp>
      <p:sp>
        <p:nvSpPr>
          <p:cNvPr id="26" name="Text 24"/>
          <p:cNvSpPr/>
          <p:nvPr/>
        </p:nvSpPr>
        <p:spPr>
          <a:xfrm>
            <a:off x="10241280" y="3017520"/>
            <a:ext cx="736092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OUR CONTRIBUTION — FOUR ELEMENTS COMBINED</a:t>
            </a:r>
            <a:endParaRPr lang="en-US" sz="1500" dirty="0"/>
          </a:p>
        </p:txBody>
      </p:sp>
      <p:sp>
        <p:nvSpPr>
          <p:cNvPr id="27" name="Shape 25"/>
          <p:cNvSpPr/>
          <p:nvPr/>
        </p:nvSpPr>
        <p:spPr>
          <a:xfrm>
            <a:off x="10241280" y="3520440"/>
            <a:ext cx="7360920" cy="1216152"/>
          </a:xfrm>
          <a:prstGeom prst="roundRect">
            <a:avLst>
              <a:gd name="adj" fmla="val 6767"/>
            </a:avLst>
          </a:prstGeom>
          <a:solidFill>
            <a:srgbClr val="E7EBEF"/>
          </a:solidFill>
          <a:ln w="12700">
            <a:solidFill>
              <a:srgbClr val="D7DCE1"/>
            </a:solidFill>
            <a:prstDash val="solid"/>
          </a:ln>
        </p:spPr>
      </p:sp>
      <p:sp>
        <p:nvSpPr>
          <p:cNvPr id="28" name="Text 26"/>
          <p:cNvSpPr/>
          <p:nvPr/>
        </p:nvSpPr>
        <p:spPr>
          <a:xfrm>
            <a:off x="10652760" y="3666744"/>
            <a:ext cx="6537960" cy="384048"/>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Bangladesh + CSE focus</a:t>
            </a:r>
            <a:endParaRPr lang="en-US" sz="1700" dirty="0"/>
          </a:p>
        </p:txBody>
      </p:sp>
      <p:sp>
        <p:nvSpPr>
          <p:cNvPr id="29" name="Text 27"/>
          <p:cNvSpPr/>
          <p:nvPr/>
        </p:nvSpPr>
        <p:spPr>
          <a:xfrm>
            <a:off x="10652760" y="4087368"/>
            <a:ext cx="6537960" cy="54864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The first employability model built specifically for fresh CSE graduates entering the Bangladeshi ICT labour market.</a:t>
            </a:r>
            <a:endParaRPr lang="en-US" sz="1450" dirty="0"/>
          </a:p>
        </p:txBody>
      </p:sp>
      <p:sp>
        <p:nvSpPr>
          <p:cNvPr id="30" name="Shape 28"/>
          <p:cNvSpPr/>
          <p:nvPr/>
        </p:nvSpPr>
        <p:spPr>
          <a:xfrm>
            <a:off x="10241280" y="4855464"/>
            <a:ext cx="7360920" cy="1216152"/>
          </a:xfrm>
          <a:prstGeom prst="roundRect">
            <a:avLst>
              <a:gd name="adj" fmla="val 6767"/>
            </a:avLst>
          </a:prstGeom>
          <a:solidFill>
            <a:srgbClr val="F4F6F8"/>
          </a:solidFill>
          <a:ln w="12700">
            <a:solidFill>
              <a:srgbClr val="D7DCE1"/>
            </a:solidFill>
            <a:prstDash val="solid"/>
          </a:ln>
        </p:spPr>
      </p:sp>
      <p:sp>
        <p:nvSpPr>
          <p:cNvPr id="31" name="Text 29"/>
          <p:cNvSpPr/>
          <p:nvPr/>
        </p:nvSpPr>
        <p:spPr>
          <a:xfrm>
            <a:off x="10652760" y="5001768"/>
            <a:ext cx="6537960" cy="384048"/>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Six-dimension feature set</a:t>
            </a:r>
            <a:endParaRPr lang="en-US" sz="1700" dirty="0"/>
          </a:p>
        </p:txBody>
      </p:sp>
      <p:sp>
        <p:nvSpPr>
          <p:cNvPr id="32" name="Text 30"/>
          <p:cNvSpPr/>
          <p:nvPr/>
        </p:nvSpPr>
        <p:spPr>
          <a:xfrm>
            <a:off x="10652760" y="5422392"/>
            <a:ext cx="6537960" cy="54864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Theory-derived features spanning academic, technical, experiential, certification, soft-skill and career-preparation attributes.</a:t>
            </a:r>
            <a:endParaRPr lang="en-US" sz="1450" dirty="0"/>
          </a:p>
        </p:txBody>
      </p:sp>
      <p:sp>
        <p:nvSpPr>
          <p:cNvPr id="33" name="Shape 31"/>
          <p:cNvSpPr/>
          <p:nvPr/>
        </p:nvSpPr>
        <p:spPr>
          <a:xfrm>
            <a:off x="10241280" y="6190488"/>
            <a:ext cx="7360920" cy="1216152"/>
          </a:xfrm>
          <a:prstGeom prst="roundRect">
            <a:avLst>
              <a:gd name="adj" fmla="val 6767"/>
            </a:avLst>
          </a:prstGeom>
          <a:solidFill>
            <a:srgbClr val="E7EBEF"/>
          </a:solidFill>
          <a:ln w="12700">
            <a:solidFill>
              <a:srgbClr val="D7DCE1"/>
            </a:solidFill>
            <a:prstDash val="solid"/>
          </a:ln>
        </p:spPr>
      </p:sp>
      <p:sp>
        <p:nvSpPr>
          <p:cNvPr id="34" name="Text 32"/>
          <p:cNvSpPr/>
          <p:nvPr/>
        </p:nvSpPr>
        <p:spPr>
          <a:xfrm>
            <a:off x="10652760" y="6336792"/>
            <a:ext cx="6537960" cy="384048"/>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Imbalance-sensitive evaluation</a:t>
            </a:r>
            <a:endParaRPr lang="en-US" sz="1700" dirty="0"/>
          </a:p>
        </p:txBody>
      </p:sp>
      <p:sp>
        <p:nvSpPr>
          <p:cNvPr id="35" name="Text 33"/>
          <p:cNvSpPr/>
          <p:nvPr/>
        </p:nvSpPr>
        <p:spPr>
          <a:xfrm>
            <a:off x="10652760" y="6757416"/>
            <a:ext cx="6537960" cy="54864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A documented, seeded stratified hold-out protocol with per-class precision, recall and F1 on a 10,000-record test partition.</a:t>
            </a:r>
            <a:endParaRPr lang="en-US" sz="1450" dirty="0"/>
          </a:p>
        </p:txBody>
      </p:sp>
      <p:sp>
        <p:nvSpPr>
          <p:cNvPr id="36" name="Shape 34"/>
          <p:cNvSpPr/>
          <p:nvPr/>
        </p:nvSpPr>
        <p:spPr>
          <a:xfrm>
            <a:off x="10241280" y="7525512"/>
            <a:ext cx="7360920" cy="1216152"/>
          </a:xfrm>
          <a:prstGeom prst="roundRect">
            <a:avLst>
              <a:gd name="adj" fmla="val 6767"/>
            </a:avLst>
          </a:prstGeom>
          <a:solidFill>
            <a:srgbClr val="F4F6F8"/>
          </a:solidFill>
          <a:ln w="12700">
            <a:solidFill>
              <a:srgbClr val="D7DCE1"/>
            </a:solidFill>
            <a:prstDash val="solid"/>
          </a:ln>
        </p:spPr>
      </p:sp>
      <p:sp>
        <p:nvSpPr>
          <p:cNvPr id="37" name="Text 35"/>
          <p:cNvSpPr/>
          <p:nvPr/>
        </p:nvSpPr>
        <p:spPr>
          <a:xfrm>
            <a:off x="10652760" y="7671816"/>
            <a:ext cx="6537960" cy="384048"/>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Scale and transparency</a:t>
            </a:r>
            <a:endParaRPr lang="en-US" sz="1700" dirty="0"/>
          </a:p>
        </p:txBody>
      </p:sp>
      <p:sp>
        <p:nvSpPr>
          <p:cNvPr id="38" name="Text 36"/>
          <p:cNvSpPr/>
          <p:nvPr/>
        </p:nvSpPr>
        <p:spPr>
          <a:xfrm>
            <a:off x="10652760" y="8092440"/>
            <a:ext cx="6537960" cy="54864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50,000 records — an order of magnitude above the reviewed studies — with every limitation stated rather than obscured.</a:t>
            </a:r>
            <a:endParaRPr lang="en-US" sz="1450" dirty="0"/>
          </a:p>
        </p:txBody>
      </p:sp>
      <p:sp>
        <p:nvSpPr>
          <p:cNvPr id="39" name="Shape 37"/>
          <p:cNvSpPr/>
          <p:nvPr/>
        </p:nvSpPr>
        <p:spPr>
          <a:xfrm>
            <a:off x="10241280" y="8970264"/>
            <a:ext cx="7360920" cy="992602"/>
          </a:xfrm>
          <a:prstGeom prst="roundRect">
            <a:avLst>
              <a:gd name="adj" fmla="val 9000"/>
            </a:avLst>
          </a:prstGeom>
          <a:solidFill>
            <a:srgbClr val="F4F6F8"/>
          </a:solidFill>
          <a:ln w="12700">
            <a:solidFill>
              <a:srgbClr val="D7DCE1"/>
            </a:solidFill>
            <a:prstDash val="solid"/>
          </a:ln>
        </p:spPr>
      </p:sp>
      <p:sp>
        <p:nvSpPr>
          <p:cNvPr id="40" name="Text 38"/>
          <p:cNvSpPr/>
          <p:nvPr/>
        </p:nvSpPr>
        <p:spPr>
          <a:xfrm>
            <a:off x="10652760" y="8887968"/>
            <a:ext cx="6537960" cy="1074898"/>
          </a:xfrm>
          <a:prstGeom prst="rect">
            <a:avLst/>
          </a:prstGeom>
          <a:noFill/>
          <a:ln/>
        </p:spPr>
        <p:txBody>
          <a:bodyPr wrap="square" lIns="0" tIns="0" rIns="0" bIns="0" rtlCol="0" anchor="ctr"/>
          <a:lstStyle/>
          <a:p>
            <a:pPr marL="0" indent="0">
              <a:lnSpc>
                <a:spcPts val="1900"/>
              </a:lnSpc>
              <a:buNone/>
            </a:pPr>
            <a:r>
              <a:rPr lang="en-US" sz="1450" i="1" dirty="0">
                <a:solidFill>
                  <a:srgbClr val="5B6B7C"/>
                </a:solidFill>
                <a:latin typeface="Calibri" pitchFamily="34" charset="0"/>
                <a:ea typeface="Calibri" pitchFamily="34" charset="-122"/>
                <a:cs typeface="Calibri" pitchFamily="34" charset="-120"/>
              </a:rPr>
              <a:t>Framed honestly: the model is Bangladesh-focused in its research question, but at this stage is trained on a secondary, non-Bangladesh-specific dataset — a limitation this thesis states explicitly (Sections 1.6 &amp; 6.2).</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434145"/>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3  —  METHODOLOGY</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Built in Five Evaluated Increments</a:t>
            </a:r>
            <a:endParaRPr lang="en-US" sz="3900" dirty="0"/>
          </a:p>
        </p:txBody>
      </p:sp>
      <p:sp>
        <p:nvSpPr>
          <p:cNvPr id="4" name="Text 2"/>
          <p:cNvSpPr/>
          <p:nvPr/>
        </p:nvSpPr>
        <p:spPr>
          <a:xfrm>
            <a:off x="685800" y="1847088"/>
            <a:ext cx="16916400" cy="822960"/>
          </a:xfrm>
          <a:prstGeom prst="rect">
            <a:avLst/>
          </a:prstGeom>
          <a:noFill/>
          <a:ln/>
        </p:spPr>
        <p:txBody>
          <a:bodyPr wrap="square" lIns="0" tIns="0" rIns="0" bIns="0" rtlCol="0" anchor="t"/>
          <a:lstStyle/>
          <a:p>
            <a:pPr marL="0" indent="0">
              <a:lnSpc>
                <a:spcPts val="2700"/>
              </a:lnSpc>
              <a:buNone/>
            </a:pPr>
            <a:r>
              <a:rPr lang="en-US" sz="2000" dirty="0">
                <a:solidFill>
                  <a:srgbClr val="000000"/>
                </a:solidFill>
                <a:latin typeface="Calibri" pitchFamily="34" charset="0"/>
                <a:ea typeface="Calibri" pitchFamily="34" charset="-122"/>
                <a:cs typeface="Calibri" pitchFamily="34" charset="-120"/>
              </a:rPr>
              <a:t>The system was developed using an Incremental Model of the SDLC rather than Waterfall, because the achievable accuracy, the most informative features and the most suitable algorithm could only be determined once real data had been explored. Each increment delivered a working, testable artefact whose evaluation fed directly into the requirements of the increment that followed.</a:t>
            </a:r>
            <a:endParaRPr lang="en-US" sz="2000" dirty="0"/>
          </a:p>
        </p:txBody>
      </p:sp>
      <p:sp>
        <p:nvSpPr>
          <p:cNvPr id="5" name="Shape 3"/>
          <p:cNvSpPr/>
          <p:nvPr/>
        </p:nvSpPr>
        <p:spPr>
          <a:xfrm>
            <a:off x="685800" y="3035808"/>
            <a:ext cx="16916400" cy="2826398"/>
          </a:xfrm>
          <a:prstGeom prst="roundRect">
            <a:avLst>
              <a:gd name="adj" fmla="val 3600"/>
            </a:avLst>
          </a:prstGeom>
          <a:solidFill>
            <a:srgbClr val="F4F6F8"/>
          </a:solidFill>
          <a:ln w="12700">
            <a:solidFill>
              <a:srgbClr val="D7DCE1"/>
            </a:solidFill>
            <a:prstDash val="solid"/>
          </a:ln>
        </p:spPr>
      </p:sp>
      <p:pic>
        <p:nvPicPr>
          <p:cNvPr id="6" name="Image 0" descr="figs/Figure_3_2.png"/>
          <p:cNvPicPr>
            <a:picLocks noChangeAspect="1"/>
          </p:cNvPicPr>
          <p:nvPr/>
        </p:nvPicPr>
        <p:blipFill rotWithShape="1">
          <a:blip r:embed="rId3"/>
          <a:srcRect l="1704" r="5208"/>
          <a:stretch/>
        </p:blipFill>
        <p:spPr>
          <a:xfrm>
            <a:off x="1733267" y="3200400"/>
            <a:ext cx="14534864" cy="2109816"/>
          </a:xfrm>
          <a:prstGeom prst="rect">
            <a:avLst/>
          </a:prstGeom>
        </p:spPr>
      </p:pic>
      <p:sp>
        <p:nvSpPr>
          <p:cNvPr id="7" name="Text 4"/>
          <p:cNvSpPr/>
          <p:nvPr/>
        </p:nvSpPr>
        <p:spPr>
          <a:xfrm>
            <a:off x="685800" y="5310216"/>
            <a:ext cx="16916400" cy="541943"/>
          </a:xfrm>
          <a:prstGeom prst="rect">
            <a:avLst/>
          </a:prstGeom>
          <a:noFill/>
          <a:ln/>
        </p:spPr>
        <p:txBody>
          <a:bodyPr wrap="square" lIns="0" tIns="0" rIns="0" bIns="0" rtlCol="0" anchor="ctr"/>
          <a:lstStyle/>
          <a:p>
            <a:pPr marL="0" indent="0" algn="ctr">
              <a:buNone/>
            </a:pPr>
            <a:r>
              <a:rPr lang="en-US" sz="1600" i="1" dirty="0">
                <a:solidFill>
                  <a:srgbClr val="5B6B7C"/>
                </a:solidFill>
                <a:latin typeface="Calibri" pitchFamily="34" charset="0"/>
                <a:ea typeface="Calibri" pitchFamily="34" charset="-122"/>
                <a:cs typeface="Calibri" pitchFamily="34" charset="-120"/>
              </a:rPr>
              <a:t>Figure 3.2 — Incremental development of the employability prediction system</a:t>
            </a:r>
            <a:endParaRPr lang="en-US" sz="1600" dirty="0"/>
          </a:p>
        </p:txBody>
      </p:sp>
      <p:sp>
        <p:nvSpPr>
          <p:cNvPr id="10" name="Text 7"/>
          <p:cNvSpPr/>
          <p:nvPr/>
        </p:nvSpPr>
        <p:spPr>
          <a:xfrm>
            <a:off x="996696" y="5852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grpSp>
        <p:nvGrpSpPr>
          <p:cNvPr id="65" name="Group 64"/>
          <p:cNvGrpSpPr/>
          <p:nvPr/>
        </p:nvGrpSpPr>
        <p:grpSpPr>
          <a:xfrm>
            <a:off x="685800" y="6035040"/>
            <a:ext cx="3178454" cy="2788920"/>
            <a:chOff x="685800" y="5577840"/>
            <a:chExt cx="3178454" cy="3246120"/>
          </a:xfrm>
        </p:grpSpPr>
        <p:sp>
          <p:nvSpPr>
            <p:cNvPr id="8" name="Shape 5"/>
            <p:cNvSpPr/>
            <p:nvPr/>
          </p:nvSpPr>
          <p:spPr>
            <a:xfrm>
              <a:off x="685800" y="5577840"/>
              <a:ext cx="3178454" cy="3246120"/>
            </a:xfrm>
            <a:prstGeom prst="roundRect">
              <a:avLst>
                <a:gd name="adj" fmla="val 2589"/>
              </a:avLst>
            </a:prstGeom>
            <a:solidFill>
              <a:srgbClr val="F4F6F8"/>
            </a:solidFill>
            <a:ln w="12700">
              <a:solidFill>
                <a:srgbClr val="D7DCE1"/>
              </a:solidFill>
              <a:prstDash val="solid"/>
            </a:ln>
          </p:spPr>
        </p:sp>
        <p:sp>
          <p:nvSpPr>
            <p:cNvPr id="9" name="Shape 6"/>
            <p:cNvSpPr/>
            <p:nvPr/>
          </p:nvSpPr>
          <p:spPr>
            <a:xfrm>
              <a:off x="996696" y="5852160"/>
              <a:ext cx="457200" cy="457200"/>
            </a:xfrm>
            <a:prstGeom prst="rect">
              <a:avLst/>
            </a:prstGeom>
            <a:solidFill>
              <a:srgbClr val="1B2A41"/>
            </a:solidFill>
            <a:ln w="12700">
              <a:solidFill>
                <a:srgbClr val="1B2A41"/>
              </a:solidFill>
              <a:prstDash val="solid"/>
            </a:ln>
          </p:spPr>
          <p:txBody>
            <a:bodyPr/>
            <a:lstStyle/>
            <a:p>
              <a:pPr algn="ctr"/>
              <a:r>
                <a:rPr lang="en-US" dirty="0" smtClean="0">
                  <a:solidFill>
                    <a:schemeClr val="bg1"/>
                  </a:solidFill>
                </a:rPr>
                <a:t>1</a:t>
              </a:r>
              <a:endParaRPr lang="en-US" dirty="0">
                <a:solidFill>
                  <a:schemeClr val="bg1"/>
                </a:solidFill>
              </a:endParaRPr>
            </a:p>
          </p:txBody>
        </p:sp>
        <p:sp>
          <p:nvSpPr>
            <p:cNvPr id="11" name="Text 8"/>
            <p:cNvSpPr/>
            <p:nvPr/>
          </p:nvSpPr>
          <p:spPr>
            <a:xfrm>
              <a:off x="1563624" y="5815584"/>
              <a:ext cx="1989734" cy="566928"/>
            </a:xfrm>
            <a:prstGeom prst="rect">
              <a:avLst/>
            </a:prstGeom>
            <a:noFill/>
            <a:ln/>
          </p:spPr>
          <p:txBody>
            <a:bodyPr wrap="square" lIns="0" tIns="0" rIns="0" bIns="0" rtlCol="0" anchor="ctr"/>
            <a:lstStyle/>
            <a:p>
              <a:pPr marL="0" indent="0">
                <a:lnSpc>
                  <a:spcPts val="1900"/>
                </a:lnSpc>
                <a:buNone/>
              </a:pPr>
              <a:r>
                <a:rPr lang="en-US" sz="1500" b="1" dirty="0">
                  <a:solidFill>
                    <a:srgbClr val="000000"/>
                  </a:solidFill>
                  <a:latin typeface="Calibri" pitchFamily="34" charset="0"/>
                  <a:ea typeface="Calibri" pitchFamily="34" charset="-122"/>
                  <a:cs typeface="Calibri" pitchFamily="34" charset="-120"/>
                </a:rPr>
                <a:t>Requirement analysis &amp; dataset construction</a:t>
              </a:r>
              <a:endParaRPr lang="en-US" sz="1500" dirty="0"/>
            </a:p>
          </p:txBody>
        </p:sp>
        <p:sp>
          <p:nvSpPr>
            <p:cNvPr id="12" name="Text 9"/>
            <p:cNvSpPr/>
            <p:nvPr/>
          </p:nvSpPr>
          <p:spPr>
            <a:xfrm>
              <a:off x="996696" y="6583680"/>
              <a:ext cx="2556662" cy="2011680"/>
            </a:xfrm>
            <a:prstGeom prst="rect">
              <a:avLst/>
            </a:prstGeom>
            <a:noFill/>
            <a:ln/>
          </p:spPr>
          <p:txBody>
            <a:bodyPr wrap="square" lIns="0" tIns="0" rIns="0" bIns="0" rtlCol="0" anchor="t"/>
            <a:lstStyle/>
            <a:p>
              <a:pPr marL="0" indent="0">
                <a:lnSpc>
                  <a:spcPts val="1848"/>
                </a:lnSpc>
                <a:buNone/>
              </a:pPr>
              <a:r>
                <a:rPr lang="en-US" sz="1400" dirty="0">
                  <a:solidFill>
                    <a:srgbClr val="000000"/>
                  </a:solidFill>
                  <a:latin typeface="Calibri" pitchFamily="34" charset="0"/>
                  <a:ea typeface="Calibri" pitchFamily="34" charset="-122"/>
                  <a:cs typeface="Calibri" pitchFamily="34" charset="-120"/>
                </a:rPr>
                <a:t>Research objectives translated into a concrete attribute list; the Student Career Success Prediction Dataset (50,000 records, Kaggle) identified and prepared.</a:t>
              </a:r>
              <a:endParaRPr lang="en-US" sz="1400" dirty="0"/>
            </a:p>
          </p:txBody>
        </p:sp>
      </p:grpSp>
      <p:sp>
        <p:nvSpPr>
          <p:cNvPr id="15" name="Text 12"/>
          <p:cNvSpPr/>
          <p:nvPr/>
        </p:nvSpPr>
        <p:spPr>
          <a:xfrm>
            <a:off x="4431182" y="5852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grpSp>
        <p:nvGrpSpPr>
          <p:cNvPr id="66" name="Group 65"/>
          <p:cNvGrpSpPr/>
          <p:nvPr/>
        </p:nvGrpSpPr>
        <p:grpSpPr>
          <a:xfrm>
            <a:off x="4120286" y="6035040"/>
            <a:ext cx="3178454" cy="2788920"/>
            <a:chOff x="4120286" y="5577840"/>
            <a:chExt cx="3178454" cy="3246120"/>
          </a:xfrm>
        </p:grpSpPr>
        <p:sp>
          <p:nvSpPr>
            <p:cNvPr id="13" name="Shape 10"/>
            <p:cNvSpPr/>
            <p:nvPr/>
          </p:nvSpPr>
          <p:spPr>
            <a:xfrm>
              <a:off x="4120286" y="5577840"/>
              <a:ext cx="3178454" cy="3246120"/>
            </a:xfrm>
            <a:prstGeom prst="roundRect">
              <a:avLst>
                <a:gd name="adj" fmla="val 2589"/>
              </a:avLst>
            </a:prstGeom>
            <a:solidFill>
              <a:srgbClr val="E7EBEF"/>
            </a:solidFill>
            <a:ln w="12700">
              <a:solidFill>
                <a:srgbClr val="D7DCE1"/>
              </a:solidFill>
              <a:prstDash val="solid"/>
            </a:ln>
          </p:spPr>
        </p:sp>
        <p:sp>
          <p:nvSpPr>
            <p:cNvPr id="14" name="Shape 11"/>
            <p:cNvSpPr/>
            <p:nvPr/>
          </p:nvSpPr>
          <p:spPr>
            <a:xfrm>
              <a:off x="4431182" y="5852160"/>
              <a:ext cx="457200" cy="457200"/>
            </a:xfrm>
            <a:prstGeom prst="rect">
              <a:avLst/>
            </a:prstGeom>
            <a:solidFill>
              <a:srgbClr val="27405E"/>
            </a:solidFill>
            <a:ln w="12700">
              <a:solidFill>
                <a:srgbClr val="27405E"/>
              </a:solidFill>
              <a:prstDash val="solid"/>
            </a:ln>
          </p:spPr>
          <p:txBody>
            <a:bodyPr/>
            <a:lstStyle/>
            <a:p>
              <a:pPr algn="ctr"/>
              <a:r>
                <a:rPr lang="en-US" dirty="0" smtClean="0">
                  <a:solidFill>
                    <a:schemeClr val="bg1"/>
                  </a:solidFill>
                </a:rPr>
                <a:t>2</a:t>
              </a:r>
              <a:endParaRPr lang="en-US" dirty="0">
                <a:solidFill>
                  <a:schemeClr val="bg1"/>
                </a:solidFill>
              </a:endParaRPr>
            </a:p>
          </p:txBody>
        </p:sp>
        <p:sp>
          <p:nvSpPr>
            <p:cNvPr id="16" name="Text 13"/>
            <p:cNvSpPr/>
            <p:nvPr/>
          </p:nvSpPr>
          <p:spPr>
            <a:xfrm>
              <a:off x="4998110" y="5815584"/>
              <a:ext cx="1989734" cy="566928"/>
            </a:xfrm>
            <a:prstGeom prst="rect">
              <a:avLst/>
            </a:prstGeom>
            <a:noFill/>
            <a:ln/>
          </p:spPr>
          <p:txBody>
            <a:bodyPr wrap="square" lIns="0" tIns="0" rIns="0" bIns="0" rtlCol="0" anchor="ctr"/>
            <a:lstStyle/>
            <a:p>
              <a:pPr marL="0" indent="0">
                <a:lnSpc>
                  <a:spcPts val="1900"/>
                </a:lnSpc>
                <a:buNone/>
              </a:pPr>
              <a:r>
                <a:rPr lang="en-US" sz="1500" b="1" dirty="0">
                  <a:solidFill>
                    <a:srgbClr val="000000"/>
                  </a:solidFill>
                  <a:latin typeface="Calibri" pitchFamily="34" charset="0"/>
                  <a:ea typeface="Calibri" pitchFamily="34" charset="-122"/>
                  <a:cs typeface="Calibri" pitchFamily="34" charset="-120"/>
                </a:rPr>
                <a:t>Data preprocessing &amp; exploratory analysis</a:t>
              </a:r>
              <a:endParaRPr lang="en-US" sz="1500" dirty="0"/>
            </a:p>
          </p:txBody>
        </p:sp>
        <p:sp>
          <p:nvSpPr>
            <p:cNvPr id="17" name="Text 14"/>
            <p:cNvSpPr/>
            <p:nvPr/>
          </p:nvSpPr>
          <p:spPr>
            <a:xfrm>
              <a:off x="4431182" y="6583680"/>
              <a:ext cx="2556662" cy="2011680"/>
            </a:xfrm>
            <a:prstGeom prst="rect">
              <a:avLst/>
            </a:prstGeom>
            <a:noFill/>
            <a:ln/>
          </p:spPr>
          <p:txBody>
            <a:bodyPr wrap="square" lIns="0" tIns="0" rIns="0" bIns="0" rtlCol="0" anchor="t"/>
            <a:lstStyle/>
            <a:p>
              <a:pPr marL="0" indent="0">
                <a:lnSpc>
                  <a:spcPts val="1848"/>
                </a:lnSpc>
                <a:buNone/>
              </a:pPr>
              <a:r>
                <a:rPr lang="en-US" sz="1400" dirty="0">
                  <a:solidFill>
                    <a:srgbClr val="000000"/>
                  </a:solidFill>
                  <a:latin typeface="Calibri" pitchFamily="34" charset="0"/>
                  <a:ea typeface="Calibri" pitchFamily="34" charset="-122"/>
                  <a:cs typeface="Calibri" pitchFamily="34" charset="-120"/>
                </a:rPr>
                <a:t>Missing values, inconsistent categories and outliers treated; numeric features scaled, categorical features encoded; class balance of the outcome examined.</a:t>
              </a:r>
              <a:endParaRPr lang="en-US" sz="1400" dirty="0"/>
            </a:p>
          </p:txBody>
        </p:sp>
      </p:grpSp>
      <p:grpSp>
        <p:nvGrpSpPr>
          <p:cNvPr id="68" name="Group 67"/>
          <p:cNvGrpSpPr/>
          <p:nvPr/>
        </p:nvGrpSpPr>
        <p:grpSpPr>
          <a:xfrm>
            <a:off x="7554773" y="6035040"/>
            <a:ext cx="3178454" cy="2788920"/>
            <a:chOff x="7554773" y="5577840"/>
            <a:chExt cx="3178454" cy="3246120"/>
          </a:xfrm>
        </p:grpSpPr>
        <p:sp>
          <p:nvSpPr>
            <p:cNvPr id="18" name="Shape 15"/>
            <p:cNvSpPr/>
            <p:nvPr/>
          </p:nvSpPr>
          <p:spPr>
            <a:xfrm>
              <a:off x="7554773" y="5577840"/>
              <a:ext cx="3178454" cy="3246120"/>
            </a:xfrm>
            <a:prstGeom prst="roundRect">
              <a:avLst>
                <a:gd name="adj" fmla="val 2589"/>
              </a:avLst>
            </a:prstGeom>
            <a:solidFill>
              <a:srgbClr val="F4F6F8"/>
            </a:solidFill>
            <a:ln w="12700">
              <a:solidFill>
                <a:srgbClr val="D7DCE1"/>
              </a:solidFill>
              <a:prstDash val="solid"/>
            </a:ln>
          </p:spPr>
        </p:sp>
        <p:sp>
          <p:nvSpPr>
            <p:cNvPr id="19" name="Shape 16"/>
            <p:cNvSpPr/>
            <p:nvPr/>
          </p:nvSpPr>
          <p:spPr>
            <a:xfrm>
              <a:off x="7865669" y="5852160"/>
              <a:ext cx="457200" cy="457200"/>
            </a:xfrm>
            <a:prstGeom prst="rect">
              <a:avLst/>
            </a:prstGeom>
            <a:solidFill>
              <a:srgbClr val="35597A"/>
            </a:solidFill>
            <a:ln w="12700">
              <a:solidFill>
                <a:srgbClr val="35597A"/>
              </a:solidFill>
              <a:prstDash val="solid"/>
            </a:ln>
          </p:spPr>
        </p:sp>
        <p:sp>
          <p:nvSpPr>
            <p:cNvPr id="20" name="Text 17"/>
            <p:cNvSpPr/>
            <p:nvPr/>
          </p:nvSpPr>
          <p:spPr>
            <a:xfrm>
              <a:off x="7865669" y="5852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8"/>
            <p:cNvSpPr/>
            <p:nvPr/>
          </p:nvSpPr>
          <p:spPr>
            <a:xfrm>
              <a:off x="8432597" y="5815584"/>
              <a:ext cx="1989734" cy="566928"/>
            </a:xfrm>
            <a:prstGeom prst="rect">
              <a:avLst/>
            </a:prstGeom>
            <a:noFill/>
            <a:ln/>
          </p:spPr>
          <p:txBody>
            <a:bodyPr wrap="square" lIns="0" tIns="0" rIns="0" bIns="0" rtlCol="0" anchor="ctr"/>
            <a:lstStyle/>
            <a:p>
              <a:pPr marL="0" indent="0">
                <a:lnSpc>
                  <a:spcPts val="1900"/>
                </a:lnSpc>
                <a:buNone/>
              </a:pPr>
              <a:r>
                <a:rPr lang="en-US" sz="1500" b="1" dirty="0">
                  <a:solidFill>
                    <a:srgbClr val="000000"/>
                  </a:solidFill>
                  <a:latin typeface="Calibri" pitchFamily="34" charset="0"/>
                  <a:ea typeface="Calibri" pitchFamily="34" charset="-122"/>
                  <a:cs typeface="Calibri" pitchFamily="34" charset="-120"/>
                </a:rPr>
                <a:t>Baseline model development</a:t>
              </a:r>
              <a:endParaRPr lang="en-US" sz="1500" dirty="0"/>
            </a:p>
          </p:txBody>
        </p:sp>
        <p:sp>
          <p:nvSpPr>
            <p:cNvPr id="22" name="Text 19"/>
            <p:cNvSpPr/>
            <p:nvPr/>
          </p:nvSpPr>
          <p:spPr>
            <a:xfrm>
              <a:off x="7865669" y="6583680"/>
              <a:ext cx="2556662" cy="2011680"/>
            </a:xfrm>
            <a:prstGeom prst="rect">
              <a:avLst/>
            </a:prstGeom>
            <a:noFill/>
            <a:ln/>
          </p:spPr>
          <p:txBody>
            <a:bodyPr wrap="square" lIns="0" tIns="0" rIns="0" bIns="0" rtlCol="0" anchor="t"/>
            <a:lstStyle/>
            <a:p>
              <a:pPr marL="0" indent="0">
                <a:lnSpc>
                  <a:spcPts val="1848"/>
                </a:lnSpc>
                <a:buNone/>
              </a:pPr>
              <a:r>
                <a:rPr lang="en-US" sz="1400" dirty="0">
                  <a:solidFill>
                    <a:srgbClr val="000000"/>
                  </a:solidFill>
                  <a:latin typeface="Calibri" pitchFamily="34" charset="0"/>
                  <a:ea typeface="Calibri" pitchFamily="34" charset="-122"/>
                  <a:cs typeface="Calibri" pitchFamily="34" charset="-120"/>
                </a:rPr>
                <a:t>A Logistic Regression baseline was specified. In the executed implementation the pipeline was validated end-to-end directly with XGBoost; the baseline comparison remains outstanding.</a:t>
              </a:r>
              <a:endParaRPr lang="en-US" sz="1400" dirty="0"/>
            </a:p>
          </p:txBody>
        </p:sp>
      </p:grpSp>
      <p:grpSp>
        <p:nvGrpSpPr>
          <p:cNvPr id="72" name="Group 71"/>
          <p:cNvGrpSpPr/>
          <p:nvPr/>
        </p:nvGrpSpPr>
        <p:grpSpPr>
          <a:xfrm>
            <a:off x="10989259" y="6035040"/>
            <a:ext cx="3178454" cy="2788920"/>
            <a:chOff x="10989259" y="5577840"/>
            <a:chExt cx="3178454" cy="3246120"/>
          </a:xfrm>
        </p:grpSpPr>
        <p:sp>
          <p:nvSpPr>
            <p:cNvPr id="23" name="Shape 20"/>
            <p:cNvSpPr/>
            <p:nvPr/>
          </p:nvSpPr>
          <p:spPr>
            <a:xfrm>
              <a:off x="10989259" y="5577840"/>
              <a:ext cx="3178454" cy="3246120"/>
            </a:xfrm>
            <a:prstGeom prst="roundRect">
              <a:avLst>
                <a:gd name="adj" fmla="val 2589"/>
              </a:avLst>
            </a:prstGeom>
            <a:solidFill>
              <a:srgbClr val="E7EBEF"/>
            </a:solidFill>
            <a:ln w="12700">
              <a:solidFill>
                <a:srgbClr val="D7DCE1"/>
              </a:solidFill>
              <a:prstDash val="solid"/>
            </a:ln>
          </p:spPr>
        </p:sp>
        <p:sp>
          <p:nvSpPr>
            <p:cNvPr id="24" name="Shape 21"/>
            <p:cNvSpPr/>
            <p:nvPr/>
          </p:nvSpPr>
          <p:spPr>
            <a:xfrm>
              <a:off x="11300155" y="5852160"/>
              <a:ext cx="457200" cy="457200"/>
            </a:xfrm>
            <a:prstGeom prst="rect">
              <a:avLst/>
            </a:prstGeom>
            <a:solidFill>
              <a:srgbClr val="3B7488"/>
            </a:solidFill>
            <a:ln w="12700">
              <a:solidFill>
                <a:srgbClr val="3B7488"/>
              </a:solidFill>
              <a:prstDash val="solid"/>
            </a:ln>
          </p:spPr>
        </p:sp>
        <p:sp>
          <p:nvSpPr>
            <p:cNvPr id="25" name="Text 22"/>
            <p:cNvSpPr/>
            <p:nvPr/>
          </p:nvSpPr>
          <p:spPr>
            <a:xfrm>
              <a:off x="11300155" y="5852160"/>
              <a:ext cx="457200" cy="457200"/>
            </a:xfrm>
            <a:prstGeom prst="rect">
              <a:avLst/>
            </a:prstGeom>
            <a:noFill/>
            <a:ln/>
          </p:spPr>
          <p:txBody>
            <a:bodyPr wrap="square" lIns="0" tIns="0" rIns="0" bIns="0" rtlCol="0" anchor="ctr"/>
            <a:lstStyle/>
            <a:p>
              <a:pPr marL="0" indent="0" algn="ctr">
                <a:buNone/>
              </a:pPr>
              <a:r>
                <a:rPr lang="en-US" sz="1600" b="1" dirty="0" smtClean="0">
                  <a:solidFill>
                    <a:srgbClr val="FFFFFF"/>
                  </a:solidFill>
                  <a:latin typeface="Calibri" pitchFamily="34" charset="0"/>
                  <a:ea typeface="Calibri" pitchFamily="34" charset="-122"/>
                  <a:cs typeface="Calibri" pitchFamily="34" charset="-120"/>
                </a:rPr>
                <a:t>4</a:t>
              </a:r>
              <a:endParaRPr lang="en-US" sz="1600" dirty="0"/>
            </a:p>
          </p:txBody>
        </p:sp>
        <p:sp>
          <p:nvSpPr>
            <p:cNvPr id="26" name="Text 23"/>
            <p:cNvSpPr/>
            <p:nvPr/>
          </p:nvSpPr>
          <p:spPr>
            <a:xfrm>
              <a:off x="11867083" y="5815584"/>
              <a:ext cx="1989734" cy="566928"/>
            </a:xfrm>
            <a:prstGeom prst="rect">
              <a:avLst/>
            </a:prstGeom>
            <a:noFill/>
            <a:ln/>
          </p:spPr>
          <p:txBody>
            <a:bodyPr wrap="square" lIns="0" tIns="0" rIns="0" bIns="0" rtlCol="0" anchor="ctr"/>
            <a:lstStyle/>
            <a:p>
              <a:pPr marL="0" indent="0">
                <a:lnSpc>
                  <a:spcPts val="1900"/>
                </a:lnSpc>
                <a:buNone/>
              </a:pPr>
              <a:r>
                <a:rPr lang="en-US" sz="1500" b="1" dirty="0">
                  <a:solidFill>
                    <a:srgbClr val="000000"/>
                  </a:solidFill>
                  <a:latin typeface="Calibri" pitchFamily="34" charset="0"/>
                  <a:ea typeface="Calibri" pitchFamily="34" charset="-122"/>
                  <a:cs typeface="Calibri" pitchFamily="34" charset="-120"/>
                </a:rPr>
                <a:t>Comparative model training &amp; tuning</a:t>
              </a:r>
              <a:endParaRPr lang="en-US" sz="1500" dirty="0"/>
            </a:p>
          </p:txBody>
        </p:sp>
        <p:sp>
          <p:nvSpPr>
            <p:cNvPr id="27" name="Text 24"/>
            <p:cNvSpPr/>
            <p:nvPr/>
          </p:nvSpPr>
          <p:spPr>
            <a:xfrm>
              <a:off x="11300155" y="6583680"/>
              <a:ext cx="2556662" cy="2011680"/>
            </a:xfrm>
            <a:prstGeom prst="rect">
              <a:avLst/>
            </a:prstGeom>
            <a:noFill/>
            <a:ln/>
          </p:spPr>
          <p:txBody>
            <a:bodyPr wrap="square" lIns="0" tIns="0" rIns="0" bIns="0" rtlCol="0" anchor="t"/>
            <a:lstStyle/>
            <a:p>
              <a:pPr marL="0" indent="0">
                <a:lnSpc>
                  <a:spcPts val="1848"/>
                </a:lnSpc>
                <a:buNone/>
              </a:pPr>
              <a:r>
                <a:rPr lang="en-US" sz="1400" dirty="0">
                  <a:solidFill>
                    <a:srgbClr val="000000"/>
                  </a:solidFill>
                  <a:latin typeface="Calibri" pitchFamily="34" charset="0"/>
                  <a:ea typeface="Calibri" pitchFamily="34" charset="-122"/>
                  <a:cs typeface="Calibri" pitchFamily="34" charset="-120"/>
                </a:rPr>
                <a:t>Decision Tree, Random Forest, SVM and XGBoost were planned under a common protocol. Only XGBoost was trained within the project timeframe, on a single stratified 80:20 hold-out.</a:t>
              </a:r>
              <a:endParaRPr lang="en-US" sz="1400" dirty="0"/>
            </a:p>
          </p:txBody>
        </p:sp>
      </p:grpSp>
      <p:sp>
        <p:nvSpPr>
          <p:cNvPr id="30" name="Text 27"/>
          <p:cNvSpPr/>
          <p:nvPr/>
        </p:nvSpPr>
        <p:spPr>
          <a:xfrm>
            <a:off x="14734642" y="5852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grpSp>
        <p:nvGrpSpPr>
          <p:cNvPr id="77" name="Group 76"/>
          <p:cNvGrpSpPr/>
          <p:nvPr/>
        </p:nvGrpSpPr>
        <p:grpSpPr>
          <a:xfrm>
            <a:off x="14423746" y="6035040"/>
            <a:ext cx="3178454" cy="2788920"/>
            <a:chOff x="14423746" y="5577840"/>
            <a:chExt cx="3178454" cy="3246120"/>
          </a:xfrm>
        </p:grpSpPr>
        <p:sp>
          <p:nvSpPr>
            <p:cNvPr id="28" name="Shape 25"/>
            <p:cNvSpPr/>
            <p:nvPr/>
          </p:nvSpPr>
          <p:spPr>
            <a:xfrm>
              <a:off x="14423746" y="5577840"/>
              <a:ext cx="3178454" cy="3246120"/>
            </a:xfrm>
            <a:prstGeom prst="roundRect">
              <a:avLst>
                <a:gd name="adj" fmla="val 2589"/>
              </a:avLst>
            </a:prstGeom>
            <a:solidFill>
              <a:srgbClr val="F4F6F8"/>
            </a:solidFill>
            <a:ln w="12700">
              <a:solidFill>
                <a:srgbClr val="D7DCE1"/>
              </a:solidFill>
              <a:prstDash val="solid"/>
            </a:ln>
          </p:spPr>
        </p:sp>
        <p:sp>
          <p:nvSpPr>
            <p:cNvPr id="29" name="Shape 26"/>
            <p:cNvSpPr/>
            <p:nvPr/>
          </p:nvSpPr>
          <p:spPr>
            <a:xfrm>
              <a:off x="14734642" y="5852160"/>
              <a:ext cx="457200" cy="457200"/>
            </a:xfrm>
            <a:prstGeom prst="rect">
              <a:avLst/>
            </a:prstGeom>
            <a:solidFill>
              <a:srgbClr val="4192A6"/>
            </a:solidFill>
            <a:ln w="12700">
              <a:solidFill>
                <a:srgbClr val="4192A6"/>
              </a:solidFill>
              <a:prstDash val="solid"/>
            </a:ln>
          </p:spPr>
          <p:txBody>
            <a:bodyPr/>
            <a:lstStyle/>
            <a:p>
              <a:pPr algn="ctr"/>
              <a:r>
                <a:rPr lang="en-US" dirty="0" smtClean="0">
                  <a:solidFill>
                    <a:schemeClr val="bg1"/>
                  </a:solidFill>
                </a:rPr>
                <a:t>5</a:t>
              </a:r>
              <a:endParaRPr lang="en-US" dirty="0">
                <a:solidFill>
                  <a:schemeClr val="bg1"/>
                </a:solidFill>
              </a:endParaRPr>
            </a:p>
          </p:txBody>
        </p:sp>
        <p:sp>
          <p:nvSpPr>
            <p:cNvPr id="31" name="Text 28"/>
            <p:cNvSpPr/>
            <p:nvPr/>
          </p:nvSpPr>
          <p:spPr>
            <a:xfrm>
              <a:off x="15301570" y="5815584"/>
              <a:ext cx="1989734" cy="566928"/>
            </a:xfrm>
            <a:prstGeom prst="rect">
              <a:avLst/>
            </a:prstGeom>
            <a:noFill/>
            <a:ln/>
          </p:spPr>
          <p:txBody>
            <a:bodyPr wrap="square" lIns="0" tIns="0" rIns="0" bIns="0" rtlCol="0" anchor="ctr"/>
            <a:lstStyle/>
            <a:p>
              <a:pPr marL="0" indent="0">
                <a:lnSpc>
                  <a:spcPts val="1900"/>
                </a:lnSpc>
                <a:buNone/>
              </a:pPr>
              <a:r>
                <a:rPr lang="en-US" sz="1500" b="1" dirty="0">
                  <a:solidFill>
                    <a:srgbClr val="000000"/>
                  </a:solidFill>
                  <a:latin typeface="Calibri" pitchFamily="34" charset="0"/>
                  <a:ea typeface="Calibri" pitchFamily="34" charset="-122"/>
                  <a:cs typeface="Calibri" pitchFamily="34" charset="-120"/>
                </a:rPr>
                <a:t>Interpretation &amp; API-based prediction</a:t>
              </a:r>
              <a:endParaRPr lang="en-US" sz="1500" dirty="0"/>
            </a:p>
          </p:txBody>
        </p:sp>
        <p:sp>
          <p:nvSpPr>
            <p:cNvPr id="32" name="Text 29"/>
            <p:cNvSpPr/>
            <p:nvPr/>
          </p:nvSpPr>
          <p:spPr>
            <a:xfrm>
              <a:off x="14734642" y="6583680"/>
              <a:ext cx="2556662" cy="2011680"/>
            </a:xfrm>
            <a:prstGeom prst="rect">
              <a:avLst/>
            </a:prstGeom>
            <a:noFill/>
            <a:ln/>
          </p:spPr>
          <p:txBody>
            <a:bodyPr wrap="square" lIns="0" tIns="0" rIns="0" bIns="0" rtlCol="0" anchor="t"/>
            <a:lstStyle/>
            <a:p>
              <a:pPr marL="0" indent="0">
                <a:lnSpc>
                  <a:spcPts val="1848"/>
                </a:lnSpc>
                <a:buNone/>
              </a:pPr>
              <a:r>
                <a:rPr lang="en-US" sz="1400" dirty="0">
                  <a:solidFill>
                    <a:srgbClr val="000000"/>
                  </a:solidFill>
                  <a:latin typeface="Calibri" pitchFamily="34" charset="0"/>
                  <a:ea typeface="Calibri" pitchFamily="34" charset="-122"/>
                  <a:cs typeface="Calibri" pitchFamily="34" charset="-120"/>
                </a:rPr>
                <a:t>The selected model was interpreted through native feature-importance analysis and served through a documented HTTP API. SHAP attribution was specified but is not implemented.</a:t>
              </a:r>
              <a:endParaRPr lang="en-US" sz="1400" dirty="0"/>
            </a:p>
          </p:txBody>
        </p:sp>
      </p:grpSp>
      <p:sp>
        <p:nvSpPr>
          <p:cNvPr id="33" name="Text 30"/>
          <p:cNvSpPr/>
          <p:nvPr/>
        </p:nvSpPr>
        <p:spPr>
          <a:xfrm>
            <a:off x="685800" y="9006840"/>
            <a:ext cx="16916400" cy="566928"/>
          </a:xfrm>
          <a:prstGeom prst="rect">
            <a:avLst/>
          </a:prstGeom>
          <a:noFill/>
          <a:ln/>
        </p:spPr>
        <p:txBody>
          <a:bodyPr wrap="square" lIns="0" tIns="0" rIns="0" bIns="0" rtlCol="0" anchor="t"/>
          <a:lstStyle/>
          <a:p>
            <a:pPr marL="0" indent="0">
              <a:lnSpc>
                <a:spcPts val="2080"/>
              </a:lnSpc>
              <a:buNone/>
            </a:pPr>
            <a:r>
              <a:rPr lang="en-US" sz="1600" i="1" dirty="0">
                <a:solidFill>
                  <a:srgbClr val="5B6B7C"/>
                </a:solidFill>
                <a:latin typeface="Calibri" pitchFamily="34" charset="0"/>
                <a:ea typeface="Calibri" pitchFamily="34" charset="-122"/>
                <a:cs typeface="Calibri" pitchFamily="34" charset="-120"/>
              </a:rPr>
              <a:t>Why not Waterfall: a data-driven model whose achievable accuracy and most informative features are unknown until the data has been explored cannot have its specification frozen at the outset. The Spiral Model's repeated formal risk analysis carries overhead heavier than this project's scale warrants (Section 3.2).</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4  —  RESEARCH DESIGN</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ML Pipeline &amp; System Architecture</a:t>
            </a:r>
            <a:endParaRPr lang="en-US" sz="3900" dirty="0"/>
          </a:p>
        </p:txBody>
      </p:sp>
      <p:sp>
        <p:nvSpPr>
          <p:cNvPr id="4" name="Text 2"/>
          <p:cNvSpPr/>
          <p:nvPr/>
        </p:nvSpPr>
        <p:spPr>
          <a:xfrm>
            <a:off x="685800" y="1874520"/>
            <a:ext cx="7863840" cy="1234440"/>
          </a:xfrm>
          <a:prstGeom prst="rect">
            <a:avLst/>
          </a:prstGeom>
          <a:noFill/>
          <a:ln/>
        </p:spPr>
        <p:txBody>
          <a:bodyPr wrap="square" lIns="0" tIns="0" rIns="0" bIns="0" rtlCol="0" anchor="t"/>
          <a:lstStyle/>
          <a:p>
            <a:pPr marL="0" indent="0">
              <a:lnSpc>
                <a:spcPts val="2244"/>
              </a:lnSpc>
              <a:buNone/>
            </a:pPr>
            <a:r>
              <a:rPr lang="en-US" sz="1700" dirty="0">
                <a:solidFill>
                  <a:srgbClr val="000000"/>
                </a:solidFill>
                <a:latin typeface="Calibri" pitchFamily="34" charset="0"/>
                <a:ea typeface="Calibri" pitchFamily="34" charset="-122"/>
                <a:cs typeface="Calibri" pitchFamily="34" charset="-120"/>
              </a:rPr>
              <a:t>The pipeline comprises nine stages, from data collection through to the prediction returned for a new graduate. Splitting the data before any transformation is fitted is what guarantees that performance is judged only on records the model has never seen.</a:t>
            </a:r>
            <a:endParaRPr lang="en-US" sz="1700" dirty="0"/>
          </a:p>
        </p:txBody>
      </p:sp>
      <p:sp>
        <p:nvSpPr>
          <p:cNvPr id="5" name="Shape 3"/>
          <p:cNvSpPr/>
          <p:nvPr/>
        </p:nvSpPr>
        <p:spPr>
          <a:xfrm>
            <a:off x="685800" y="3246120"/>
            <a:ext cx="2438400" cy="1481328"/>
          </a:xfrm>
          <a:prstGeom prst="rect">
            <a:avLst/>
          </a:prstGeom>
          <a:solidFill>
            <a:srgbClr val="1B2A41"/>
          </a:solidFill>
          <a:ln w="12700">
            <a:solidFill>
              <a:srgbClr val="1B2A41"/>
            </a:solidFill>
            <a:prstDash val="solid"/>
          </a:ln>
        </p:spPr>
      </p:sp>
      <p:sp>
        <p:nvSpPr>
          <p:cNvPr id="6" name="Text 4"/>
          <p:cNvSpPr/>
          <p:nvPr/>
        </p:nvSpPr>
        <p:spPr>
          <a:xfrm>
            <a:off x="813816" y="3337560"/>
            <a:ext cx="548640" cy="329184"/>
          </a:xfrm>
          <a:prstGeom prst="rect">
            <a:avLst/>
          </a:prstGeom>
          <a:noFill/>
          <a:ln/>
        </p:spPr>
        <p:txBody>
          <a:bodyPr wrap="square" lIns="0" tIns="0" rIns="0" bIns="0" rtlCol="0" anchor="ctr"/>
          <a:lstStyle/>
          <a:p>
            <a:pPr marL="0" indent="0">
              <a:buNone/>
            </a:pPr>
            <a:endParaRPr lang="en-US" sz="1400" dirty="0"/>
          </a:p>
        </p:txBody>
      </p:sp>
      <p:sp>
        <p:nvSpPr>
          <p:cNvPr id="7" name="Text 5"/>
          <p:cNvSpPr/>
          <p:nvPr/>
        </p:nvSpPr>
        <p:spPr>
          <a:xfrm>
            <a:off x="868680" y="3630168"/>
            <a:ext cx="2072640" cy="978408"/>
          </a:xfrm>
          <a:prstGeom prst="rect">
            <a:avLst/>
          </a:prstGeom>
          <a:noFill/>
          <a:ln/>
        </p:spPr>
        <p:txBody>
          <a:bodyPr wrap="square" lIns="0" tIns="0" rIns="0" bIns="0" rtlCol="0" anchor="ctr"/>
          <a:lstStyle/>
          <a:p>
            <a:pPr marL="0" indent="0" algn="ctr">
              <a:lnSpc>
                <a:spcPts val="1900"/>
              </a:lnSpc>
              <a:buNone/>
            </a:pPr>
            <a:r>
              <a:rPr lang="en-US" sz="1450" b="1" dirty="0">
                <a:solidFill>
                  <a:srgbClr val="FFFFFF"/>
                </a:solidFill>
                <a:latin typeface="Calibri" pitchFamily="34" charset="0"/>
                <a:ea typeface="Calibri" pitchFamily="34" charset="-122"/>
                <a:cs typeface="Calibri" pitchFamily="34" charset="-120"/>
              </a:rPr>
              <a:t>Data Collection</a:t>
            </a:r>
            <a:endParaRPr lang="en-US" sz="1450" dirty="0"/>
          </a:p>
          <a:p>
            <a:pPr marL="0" indent="0" algn="ctr">
              <a:lnSpc>
                <a:spcPts val="1900"/>
              </a:lnSpc>
              <a:buNone/>
            </a:pPr>
            <a:r>
              <a:rPr lang="en-US" sz="1450" b="1" dirty="0">
                <a:solidFill>
                  <a:srgbClr val="FFFFFF"/>
                </a:solidFill>
                <a:latin typeface="Calibri" pitchFamily="34" charset="0"/>
                <a:ea typeface="Calibri" pitchFamily="34" charset="-122"/>
                <a:cs typeface="Calibri" pitchFamily="34" charset="-120"/>
              </a:rPr>
              <a:t>(Kaggle dataset, 50,000 records)</a:t>
            </a:r>
            <a:endParaRPr lang="en-US" sz="1450" dirty="0"/>
          </a:p>
        </p:txBody>
      </p:sp>
      <p:sp>
        <p:nvSpPr>
          <p:cNvPr id="8" name="Shape 6"/>
          <p:cNvSpPr/>
          <p:nvPr/>
        </p:nvSpPr>
        <p:spPr>
          <a:xfrm>
            <a:off x="3398520" y="3246120"/>
            <a:ext cx="2438400" cy="1481328"/>
          </a:xfrm>
          <a:prstGeom prst="rect">
            <a:avLst/>
          </a:prstGeom>
          <a:solidFill>
            <a:srgbClr val="1B2A41"/>
          </a:solidFill>
          <a:ln w="12700">
            <a:solidFill>
              <a:srgbClr val="1B2A41"/>
            </a:solidFill>
            <a:prstDash val="solid"/>
          </a:ln>
        </p:spPr>
      </p:sp>
      <p:sp>
        <p:nvSpPr>
          <p:cNvPr id="9" name="Text 7"/>
          <p:cNvSpPr/>
          <p:nvPr/>
        </p:nvSpPr>
        <p:spPr>
          <a:xfrm>
            <a:off x="3526536" y="3337560"/>
            <a:ext cx="548640" cy="329184"/>
          </a:xfrm>
          <a:prstGeom prst="rect">
            <a:avLst/>
          </a:prstGeom>
          <a:noFill/>
          <a:ln/>
        </p:spPr>
        <p:txBody>
          <a:bodyPr wrap="square" lIns="0" tIns="0" rIns="0" bIns="0" rtlCol="0" anchor="ctr"/>
          <a:lstStyle/>
          <a:p>
            <a:pPr marL="0" indent="0">
              <a:buNone/>
            </a:pPr>
            <a:endParaRPr lang="en-US" sz="1400" dirty="0"/>
          </a:p>
        </p:txBody>
      </p:sp>
      <p:sp>
        <p:nvSpPr>
          <p:cNvPr id="10" name="Text 8"/>
          <p:cNvSpPr/>
          <p:nvPr/>
        </p:nvSpPr>
        <p:spPr>
          <a:xfrm>
            <a:off x="3581400" y="3630168"/>
            <a:ext cx="2072640" cy="978408"/>
          </a:xfrm>
          <a:prstGeom prst="rect">
            <a:avLst/>
          </a:prstGeom>
          <a:noFill/>
          <a:ln/>
        </p:spPr>
        <p:txBody>
          <a:bodyPr wrap="square" lIns="0" tIns="0" rIns="0" bIns="0" rtlCol="0" anchor="ctr"/>
          <a:lstStyle/>
          <a:p>
            <a:pPr marL="0" indent="0" algn="ctr">
              <a:lnSpc>
                <a:spcPts val="1900"/>
              </a:lnSpc>
              <a:buNone/>
            </a:pPr>
            <a:r>
              <a:rPr lang="en-US" sz="1450" b="1" dirty="0">
                <a:solidFill>
                  <a:srgbClr val="FFFFFF"/>
                </a:solidFill>
                <a:latin typeface="Calibri" pitchFamily="34" charset="0"/>
                <a:ea typeface="Calibri" pitchFamily="34" charset="-122"/>
                <a:cs typeface="Calibri" pitchFamily="34" charset="-120"/>
              </a:rPr>
              <a:t>Data Preprocessing</a:t>
            </a:r>
            <a:endParaRPr lang="en-US" sz="1450" dirty="0"/>
          </a:p>
        </p:txBody>
      </p:sp>
      <p:sp>
        <p:nvSpPr>
          <p:cNvPr id="11" name="Shape 9"/>
          <p:cNvSpPr/>
          <p:nvPr/>
        </p:nvSpPr>
        <p:spPr>
          <a:xfrm>
            <a:off x="6111240" y="3246120"/>
            <a:ext cx="2438400" cy="1481328"/>
          </a:xfrm>
          <a:prstGeom prst="rect">
            <a:avLst/>
          </a:prstGeom>
          <a:solidFill>
            <a:srgbClr val="27405E"/>
          </a:solidFill>
          <a:ln w="12700">
            <a:solidFill>
              <a:srgbClr val="27405E"/>
            </a:solidFill>
            <a:prstDash val="solid"/>
          </a:ln>
        </p:spPr>
      </p:sp>
      <p:sp>
        <p:nvSpPr>
          <p:cNvPr id="12" name="Text 10"/>
          <p:cNvSpPr/>
          <p:nvPr/>
        </p:nvSpPr>
        <p:spPr>
          <a:xfrm>
            <a:off x="6239256" y="3337560"/>
            <a:ext cx="548640" cy="329184"/>
          </a:xfrm>
          <a:prstGeom prst="rect">
            <a:avLst/>
          </a:prstGeom>
          <a:noFill/>
          <a:ln/>
        </p:spPr>
        <p:txBody>
          <a:bodyPr wrap="square" lIns="0" tIns="0" rIns="0" bIns="0" rtlCol="0" anchor="ctr"/>
          <a:lstStyle/>
          <a:p>
            <a:pPr marL="0" indent="0">
              <a:buNone/>
            </a:pPr>
            <a:endParaRPr lang="en-US" sz="1400" dirty="0"/>
          </a:p>
        </p:txBody>
      </p:sp>
      <p:sp>
        <p:nvSpPr>
          <p:cNvPr id="13" name="Text 11"/>
          <p:cNvSpPr/>
          <p:nvPr/>
        </p:nvSpPr>
        <p:spPr>
          <a:xfrm>
            <a:off x="6294120" y="3630168"/>
            <a:ext cx="2072640" cy="978408"/>
          </a:xfrm>
          <a:prstGeom prst="rect">
            <a:avLst/>
          </a:prstGeom>
          <a:noFill/>
          <a:ln/>
        </p:spPr>
        <p:txBody>
          <a:bodyPr wrap="square" lIns="0" tIns="0" rIns="0" bIns="0" rtlCol="0" anchor="ctr"/>
          <a:lstStyle/>
          <a:p>
            <a:pPr marL="0" indent="0" algn="ctr">
              <a:lnSpc>
                <a:spcPts val="1900"/>
              </a:lnSpc>
              <a:buNone/>
            </a:pPr>
            <a:r>
              <a:rPr lang="en-US" sz="1450" b="1" dirty="0">
                <a:solidFill>
                  <a:srgbClr val="FFFFFF"/>
                </a:solidFill>
                <a:latin typeface="Calibri" pitchFamily="34" charset="0"/>
                <a:ea typeface="Calibri" pitchFamily="34" charset="-122"/>
                <a:cs typeface="Calibri" pitchFamily="34" charset="-120"/>
              </a:rPr>
              <a:t>Feature Engineering</a:t>
            </a:r>
            <a:endParaRPr lang="en-US" sz="1450" dirty="0"/>
          </a:p>
        </p:txBody>
      </p:sp>
      <p:sp>
        <p:nvSpPr>
          <p:cNvPr id="14" name="Shape 12"/>
          <p:cNvSpPr/>
          <p:nvPr/>
        </p:nvSpPr>
        <p:spPr>
          <a:xfrm>
            <a:off x="685800" y="5001768"/>
            <a:ext cx="2438400" cy="1481328"/>
          </a:xfrm>
          <a:prstGeom prst="rect">
            <a:avLst/>
          </a:prstGeom>
          <a:solidFill>
            <a:srgbClr val="27405E"/>
          </a:solidFill>
          <a:ln w="12700">
            <a:solidFill>
              <a:srgbClr val="27405E"/>
            </a:solidFill>
            <a:prstDash val="solid"/>
          </a:ln>
        </p:spPr>
      </p:sp>
      <p:sp>
        <p:nvSpPr>
          <p:cNvPr id="15" name="Text 13"/>
          <p:cNvSpPr/>
          <p:nvPr/>
        </p:nvSpPr>
        <p:spPr>
          <a:xfrm>
            <a:off x="813816" y="5093208"/>
            <a:ext cx="548640" cy="329184"/>
          </a:xfrm>
          <a:prstGeom prst="rect">
            <a:avLst/>
          </a:prstGeom>
          <a:noFill/>
          <a:ln/>
        </p:spPr>
        <p:txBody>
          <a:bodyPr wrap="square" lIns="0" tIns="0" rIns="0" bIns="0" rtlCol="0" anchor="ctr"/>
          <a:lstStyle/>
          <a:p>
            <a:pPr marL="0" indent="0">
              <a:buNone/>
            </a:pPr>
            <a:endParaRPr lang="en-US" sz="1400" dirty="0"/>
          </a:p>
        </p:txBody>
      </p:sp>
      <p:sp>
        <p:nvSpPr>
          <p:cNvPr id="16" name="Text 14"/>
          <p:cNvSpPr/>
          <p:nvPr/>
        </p:nvSpPr>
        <p:spPr>
          <a:xfrm>
            <a:off x="868680" y="5385816"/>
            <a:ext cx="2072640" cy="978408"/>
          </a:xfrm>
          <a:prstGeom prst="rect">
            <a:avLst/>
          </a:prstGeom>
          <a:noFill/>
          <a:ln/>
        </p:spPr>
        <p:txBody>
          <a:bodyPr wrap="square" lIns="0" tIns="0" rIns="0" bIns="0" rtlCol="0" anchor="ctr"/>
          <a:lstStyle/>
          <a:p>
            <a:pPr marL="0" indent="0" algn="ctr">
              <a:lnSpc>
                <a:spcPts val="1900"/>
              </a:lnSpc>
              <a:buNone/>
            </a:pPr>
            <a:r>
              <a:rPr lang="en-US" sz="1450" b="1" dirty="0">
                <a:solidFill>
                  <a:srgbClr val="FFFFFF"/>
                </a:solidFill>
                <a:latin typeface="Calibri" pitchFamily="34" charset="0"/>
                <a:ea typeface="Calibri" pitchFamily="34" charset="-122"/>
                <a:cs typeface="Calibri" pitchFamily="34" charset="-120"/>
              </a:rPr>
              <a:t>Exploratory Data Analysis (EDA)</a:t>
            </a:r>
            <a:endParaRPr lang="en-US" sz="1450" dirty="0"/>
          </a:p>
        </p:txBody>
      </p:sp>
      <p:sp>
        <p:nvSpPr>
          <p:cNvPr id="17" name="Shape 15"/>
          <p:cNvSpPr/>
          <p:nvPr/>
        </p:nvSpPr>
        <p:spPr>
          <a:xfrm>
            <a:off x="3398520" y="5001768"/>
            <a:ext cx="2438400" cy="1481328"/>
          </a:xfrm>
          <a:prstGeom prst="rect">
            <a:avLst/>
          </a:prstGeom>
          <a:solidFill>
            <a:srgbClr val="35597A"/>
          </a:solidFill>
          <a:ln w="12700">
            <a:solidFill>
              <a:srgbClr val="35597A"/>
            </a:solidFill>
            <a:prstDash val="solid"/>
          </a:ln>
        </p:spPr>
      </p:sp>
      <p:sp>
        <p:nvSpPr>
          <p:cNvPr id="18" name="Text 16"/>
          <p:cNvSpPr/>
          <p:nvPr/>
        </p:nvSpPr>
        <p:spPr>
          <a:xfrm>
            <a:off x="3526536" y="5093208"/>
            <a:ext cx="548640" cy="329184"/>
          </a:xfrm>
          <a:prstGeom prst="rect">
            <a:avLst/>
          </a:prstGeom>
          <a:noFill/>
          <a:ln/>
        </p:spPr>
        <p:txBody>
          <a:bodyPr wrap="square" lIns="0" tIns="0" rIns="0" bIns="0" rtlCol="0" anchor="ctr"/>
          <a:lstStyle/>
          <a:p>
            <a:pPr marL="0" indent="0">
              <a:buNone/>
            </a:pPr>
            <a:endParaRPr lang="en-US" sz="1400" dirty="0"/>
          </a:p>
        </p:txBody>
      </p:sp>
      <p:sp>
        <p:nvSpPr>
          <p:cNvPr id="19" name="Text 17"/>
          <p:cNvSpPr/>
          <p:nvPr/>
        </p:nvSpPr>
        <p:spPr>
          <a:xfrm>
            <a:off x="3581400" y="5385816"/>
            <a:ext cx="2072640" cy="978408"/>
          </a:xfrm>
          <a:prstGeom prst="rect">
            <a:avLst/>
          </a:prstGeom>
          <a:noFill/>
          <a:ln/>
        </p:spPr>
        <p:txBody>
          <a:bodyPr wrap="square" lIns="0" tIns="0" rIns="0" bIns="0" rtlCol="0" anchor="ctr"/>
          <a:lstStyle/>
          <a:p>
            <a:pPr marL="0" indent="0" algn="ctr">
              <a:lnSpc>
                <a:spcPts val="1900"/>
              </a:lnSpc>
              <a:buNone/>
            </a:pPr>
            <a:r>
              <a:rPr lang="en-US" sz="1450" b="1" dirty="0">
                <a:solidFill>
                  <a:srgbClr val="FFFFFF"/>
                </a:solidFill>
                <a:latin typeface="Calibri" pitchFamily="34" charset="0"/>
                <a:ea typeface="Calibri" pitchFamily="34" charset="-122"/>
                <a:cs typeface="Calibri" pitchFamily="34" charset="-120"/>
              </a:rPr>
              <a:t>Training / Testing Dataset Split</a:t>
            </a:r>
            <a:endParaRPr lang="en-US" sz="1450" dirty="0"/>
          </a:p>
        </p:txBody>
      </p:sp>
      <p:sp>
        <p:nvSpPr>
          <p:cNvPr id="20" name="Shape 18"/>
          <p:cNvSpPr/>
          <p:nvPr/>
        </p:nvSpPr>
        <p:spPr>
          <a:xfrm>
            <a:off x="6111240" y="5001768"/>
            <a:ext cx="2438400" cy="1481328"/>
          </a:xfrm>
          <a:prstGeom prst="rect">
            <a:avLst/>
          </a:prstGeom>
          <a:solidFill>
            <a:srgbClr val="35597A"/>
          </a:solidFill>
          <a:ln w="12700">
            <a:solidFill>
              <a:srgbClr val="35597A"/>
            </a:solidFill>
            <a:prstDash val="solid"/>
          </a:ln>
        </p:spPr>
      </p:sp>
      <p:sp>
        <p:nvSpPr>
          <p:cNvPr id="21" name="Text 19"/>
          <p:cNvSpPr/>
          <p:nvPr/>
        </p:nvSpPr>
        <p:spPr>
          <a:xfrm>
            <a:off x="6239256" y="5093208"/>
            <a:ext cx="548640" cy="329184"/>
          </a:xfrm>
          <a:prstGeom prst="rect">
            <a:avLst/>
          </a:prstGeom>
          <a:noFill/>
          <a:ln/>
        </p:spPr>
        <p:txBody>
          <a:bodyPr wrap="square" lIns="0" tIns="0" rIns="0" bIns="0" rtlCol="0" anchor="ctr"/>
          <a:lstStyle/>
          <a:p>
            <a:pPr marL="0" indent="0">
              <a:buNone/>
            </a:pPr>
            <a:endParaRPr lang="en-US" sz="1400" dirty="0"/>
          </a:p>
        </p:txBody>
      </p:sp>
      <p:sp>
        <p:nvSpPr>
          <p:cNvPr id="22" name="Text 20"/>
          <p:cNvSpPr/>
          <p:nvPr/>
        </p:nvSpPr>
        <p:spPr>
          <a:xfrm>
            <a:off x="6294120" y="5385816"/>
            <a:ext cx="2072640" cy="978408"/>
          </a:xfrm>
          <a:prstGeom prst="rect">
            <a:avLst/>
          </a:prstGeom>
          <a:noFill/>
          <a:ln/>
        </p:spPr>
        <p:txBody>
          <a:bodyPr wrap="square" lIns="0" tIns="0" rIns="0" bIns="0" rtlCol="0" anchor="ctr"/>
          <a:lstStyle/>
          <a:p>
            <a:pPr marL="0" indent="0" algn="ctr">
              <a:lnSpc>
                <a:spcPts val="1900"/>
              </a:lnSpc>
              <a:buNone/>
            </a:pPr>
            <a:r>
              <a:rPr lang="en-US" sz="1450" b="1" dirty="0">
                <a:solidFill>
                  <a:srgbClr val="FFFFFF"/>
                </a:solidFill>
                <a:latin typeface="Calibri" pitchFamily="34" charset="0"/>
                <a:ea typeface="Calibri" pitchFamily="34" charset="-122"/>
                <a:cs typeface="Calibri" pitchFamily="34" charset="-120"/>
              </a:rPr>
              <a:t>Machine Learning Model Training</a:t>
            </a:r>
            <a:endParaRPr lang="en-US" sz="1450" dirty="0"/>
          </a:p>
        </p:txBody>
      </p:sp>
      <p:sp>
        <p:nvSpPr>
          <p:cNvPr id="23" name="Shape 21"/>
          <p:cNvSpPr/>
          <p:nvPr/>
        </p:nvSpPr>
        <p:spPr>
          <a:xfrm>
            <a:off x="685800" y="6757416"/>
            <a:ext cx="2438400" cy="1481328"/>
          </a:xfrm>
          <a:prstGeom prst="rect">
            <a:avLst/>
          </a:prstGeom>
          <a:solidFill>
            <a:srgbClr val="3B7488"/>
          </a:solidFill>
          <a:ln w="12700">
            <a:solidFill>
              <a:srgbClr val="3B7488"/>
            </a:solidFill>
            <a:prstDash val="solid"/>
          </a:ln>
        </p:spPr>
      </p:sp>
      <p:sp>
        <p:nvSpPr>
          <p:cNvPr id="24" name="Text 22"/>
          <p:cNvSpPr/>
          <p:nvPr/>
        </p:nvSpPr>
        <p:spPr>
          <a:xfrm>
            <a:off x="813816" y="6848856"/>
            <a:ext cx="548640" cy="329184"/>
          </a:xfrm>
          <a:prstGeom prst="rect">
            <a:avLst/>
          </a:prstGeom>
          <a:noFill/>
          <a:ln/>
        </p:spPr>
        <p:txBody>
          <a:bodyPr wrap="square" lIns="0" tIns="0" rIns="0" bIns="0" rtlCol="0" anchor="ctr"/>
          <a:lstStyle/>
          <a:p>
            <a:pPr marL="0" indent="0">
              <a:buNone/>
            </a:pPr>
            <a:endParaRPr lang="en-US" sz="1400" dirty="0"/>
          </a:p>
        </p:txBody>
      </p:sp>
      <p:sp>
        <p:nvSpPr>
          <p:cNvPr id="25" name="Text 23"/>
          <p:cNvSpPr/>
          <p:nvPr/>
        </p:nvSpPr>
        <p:spPr>
          <a:xfrm>
            <a:off x="868680" y="7141464"/>
            <a:ext cx="2072640" cy="978408"/>
          </a:xfrm>
          <a:prstGeom prst="rect">
            <a:avLst/>
          </a:prstGeom>
          <a:noFill/>
          <a:ln/>
        </p:spPr>
        <p:txBody>
          <a:bodyPr wrap="square" lIns="0" tIns="0" rIns="0" bIns="0" rtlCol="0" anchor="ctr"/>
          <a:lstStyle/>
          <a:p>
            <a:pPr marL="0" indent="0" algn="ctr">
              <a:lnSpc>
                <a:spcPts val="1900"/>
              </a:lnSpc>
              <a:buNone/>
            </a:pPr>
            <a:r>
              <a:rPr lang="en-US" sz="1450" b="1" dirty="0">
                <a:solidFill>
                  <a:srgbClr val="FFFFFF"/>
                </a:solidFill>
                <a:latin typeface="Calibri" pitchFamily="34" charset="0"/>
                <a:ea typeface="Calibri" pitchFamily="34" charset="-122"/>
                <a:cs typeface="Calibri" pitchFamily="34" charset="-120"/>
              </a:rPr>
              <a:t>Model Evaluation</a:t>
            </a:r>
            <a:endParaRPr lang="en-US" sz="1450" dirty="0"/>
          </a:p>
        </p:txBody>
      </p:sp>
      <p:sp>
        <p:nvSpPr>
          <p:cNvPr id="26" name="Shape 24"/>
          <p:cNvSpPr/>
          <p:nvPr/>
        </p:nvSpPr>
        <p:spPr>
          <a:xfrm>
            <a:off x="3398520" y="6757416"/>
            <a:ext cx="2438400" cy="1481328"/>
          </a:xfrm>
          <a:prstGeom prst="rect">
            <a:avLst/>
          </a:prstGeom>
          <a:solidFill>
            <a:srgbClr val="3B7488"/>
          </a:solidFill>
          <a:ln w="12700">
            <a:solidFill>
              <a:srgbClr val="3B7488"/>
            </a:solidFill>
            <a:prstDash val="solid"/>
          </a:ln>
        </p:spPr>
      </p:sp>
      <p:sp>
        <p:nvSpPr>
          <p:cNvPr id="27" name="Text 25"/>
          <p:cNvSpPr/>
          <p:nvPr/>
        </p:nvSpPr>
        <p:spPr>
          <a:xfrm>
            <a:off x="3526536" y="6848856"/>
            <a:ext cx="548640" cy="329184"/>
          </a:xfrm>
          <a:prstGeom prst="rect">
            <a:avLst/>
          </a:prstGeom>
          <a:noFill/>
          <a:ln/>
        </p:spPr>
        <p:txBody>
          <a:bodyPr wrap="square" lIns="0" tIns="0" rIns="0" bIns="0" rtlCol="0" anchor="ctr"/>
          <a:lstStyle/>
          <a:p>
            <a:pPr marL="0" indent="0">
              <a:buNone/>
            </a:pPr>
            <a:endParaRPr lang="en-US" sz="1400" dirty="0"/>
          </a:p>
        </p:txBody>
      </p:sp>
      <p:sp>
        <p:nvSpPr>
          <p:cNvPr id="28" name="Text 26"/>
          <p:cNvSpPr/>
          <p:nvPr/>
        </p:nvSpPr>
        <p:spPr>
          <a:xfrm>
            <a:off x="3581400" y="7141464"/>
            <a:ext cx="2072640" cy="978408"/>
          </a:xfrm>
          <a:prstGeom prst="rect">
            <a:avLst/>
          </a:prstGeom>
          <a:noFill/>
          <a:ln/>
        </p:spPr>
        <p:txBody>
          <a:bodyPr wrap="square" lIns="0" tIns="0" rIns="0" bIns="0" rtlCol="0" anchor="ctr"/>
          <a:lstStyle/>
          <a:p>
            <a:pPr marL="0" indent="0" algn="ctr">
              <a:lnSpc>
                <a:spcPts val="1900"/>
              </a:lnSpc>
              <a:buNone/>
            </a:pPr>
            <a:r>
              <a:rPr lang="en-US" sz="1450" b="1" dirty="0">
                <a:solidFill>
                  <a:srgbClr val="FFFFFF"/>
                </a:solidFill>
                <a:latin typeface="Calibri" pitchFamily="34" charset="0"/>
                <a:ea typeface="Calibri" pitchFamily="34" charset="-122"/>
                <a:cs typeface="Calibri" pitchFamily="34" charset="-120"/>
              </a:rPr>
              <a:t>Model Selection</a:t>
            </a:r>
            <a:endParaRPr lang="en-US" sz="1450" dirty="0"/>
          </a:p>
        </p:txBody>
      </p:sp>
      <p:sp>
        <p:nvSpPr>
          <p:cNvPr id="29" name="Shape 27"/>
          <p:cNvSpPr/>
          <p:nvPr/>
        </p:nvSpPr>
        <p:spPr>
          <a:xfrm>
            <a:off x="6111240" y="6757416"/>
            <a:ext cx="2438400" cy="1481328"/>
          </a:xfrm>
          <a:prstGeom prst="rect">
            <a:avLst/>
          </a:prstGeom>
          <a:solidFill>
            <a:srgbClr val="4192A6"/>
          </a:solidFill>
          <a:ln w="12700">
            <a:solidFill>
              <a:srgbClr val="4192A6"/>
            </a:solidFill>
            <a:prstDash val="solid"/>
          </a:ln>
        </p:spPr>
      </p:sp>
      <p:sp>
        <p:nvSpPr>
          <p:cNvPr id="30" name="Text 28"/>
          <p:cNvSpPr/>
          <p:nvPr/>
        </p:nvSpPr>
        <p:spPr>
          <a:xfrm>
            <a:off x="6239256" y="6848856"/>
            <a:ext cx="548640" cy="329184"/>
          </a:xfrm>
          <a:prstGeom prst="rect">
            <a:avLst/>
          </a:prstGeom>
          <a:noFill/>
          <a:ln/>
        </p:spPr>
        <p:txBody>
          <a:bodyPr wrap="square" lIns="0" tIns="0" rIns="0" bIns="0" rtlCol="0" anchor="ctr"/>
          <a:lstStyle/>
          <a:p>
            <a:pPr marL="0" indent="0">
              <a:buNone/>
            </a:pPr>
            <a:endParaRPr lang="en-US" sz="1400" dirty="0"/>
          </a:p>
        </p:txBody>
      </p:sp>
      <p:sp>
        <p:nvSpPr>
          <p:cNvPr id="31" name="Text 29"/>
          <p:cNvSpPr/>
          <p:nvPr/>
        </p:nvSpPr>
        <p:spPr>
          <a:xfrm>
            <a:off x="6294120" y="7141464"/>
            <a:ext cx="2072640" cy="978408"/>
          </a:xfrm>
          <a:prstGeom prst="rect">
            <a:avLst/>
          </a:prstGeom>
          <a:noFill/>
          <a:ln/>
        </p:spPr>
        <p:txBody>
          <a:bodyPr wrap="square" lIns="0" tIns="0" rIns="0" bIns="0" rtlCol="0" anchor="ctr"/>
          <a:lstStyle/>
          <a:p>
            <a:pPr marL="0" indent="0" algn="ctr">
              <a:lnSpc>
                <a:spcPts val="1900"/>
              </a:lnSpc>
              <a:buNone/>
            </a:pPr>
            <a:r>
              <a:rPr lang="en-US" sz="1450" b="1" dirty="0">
                <a:solidFill>
                  <a:srgbClr val="FFFFFF"/>
                </a:solidFill>
                <a:latin typeface="Calibri" pitchFamily="34" charset="0"/>
                <a:ea typeface="Calibri" pitchFamily="34" charset="-122"/>
                <a:cs typeface="Calibri" pitchFamily="34" charset="-120"/>
              </a:rPr>
              <a:t>Employability Prediction</a:t>
            </a:r>
            <a:endParaRPr lang="en-US" sz="1450" dirty="0"/>
          </a:p>
          <a:p>
            <a:pPr marL="0" indent="0" algn="ctr">
              <a:lnSpc>
                <a:spcPts val="1900"/>
              </a:lnSpc>
              <a:buNone/>
            </a:pPr>
            <a:r>
              <a:rPr lang="en-US" sz="1450" b="1" dirty="0">
                <a:solidFill>
                  <a:srgbClr val="FFFFFF"/>
                </a:solidFill>
                <a:latin typeface="Calibri" pitchFamily="34" charset="0"/>
                <a:ea typeface="Calibri" pitchFamily="34" charset="-122"/>
                <a:cs typeface="Calibri" pitchFamily="34" charset="-120"/>
              </a:rPr>
              <a:t>(returned via API / Postman)</a:t>
            </a:r>
            <a:endParaRPr lang="en-US" sz="1450" dirty="0"/>
          </a:p>
        </p:txBody>
      </p:sp>
      <p:sp>
        <p:nvSpPr>
          <p:cNvPr id="32" name="Text 30"/>
          <p:cNvSpPr/>
          <p:nvPr/>
        </p:nvSpPr>
        <p:spPr>
          <a:xfrm>
            <a:off x="685800" y="8522208"/>
            <a:ext cx="7863840" cy="310896"/>
          </a:xfrm>
          <a:prstGeom prst="rect">
            <a:avLst/>
          </a:prstGeom>
          <a:noFill/>
          <a:ln/>
        </p:spPr>
        <p:txBody>
          <a:bodyPr wrap="square" lIns="0" tIns="0" rIns="0" bIns="0" rtlCol="0" anchor="ctr"/>
          <a:lstStyle/>
          <a:p>
            <a:pPr marL="0" indent="0" algn="ctr">
              <a:buNone/>
            </a:pPr>
            <a:r>
              <a:rPr lang="en-US" sz="1600" i="1" dirty="0">
                <a:solidFill>
                  <a:srgbClr val="5B6B7C"/>
                </a:solidFill>
                <a:latin typeface="Calibri" pitchFamily="34" charset="0"/>
                <a:ea typeface="Calibri" pitchFamily="34" charset="-122"/>
                <a:cs typeface="Calibri" pitchFamily="34" charset="-120"/>
              </a:rPr>
              <a:t>Based on Figure 4.1 — machine learning model workflow (Section 4.2)</a:t>
            </a:r>
            <a:endParaRPr lang="en-US" sz="1600" dirty="0"/>
          </a:p>
        </p:txBody>
      </p:sp>
      <p:sp>
        <p:nvSpPr>
          <p:cNvPr id="33" name="Shape 31"/>
          <p:cNvSpPr/>
          <p:nvPr/>
        </p:nvSpPr>
        <p:spPr>
          <a:xfrm>
            <a:off x="685800" y="8942832"/>
            <a:ext cx="7863840" cy="777240"/>
          </a:xfrm>
          <a:prstGeom prst="roundRect">
            <a:avLst>
              <a:gd name="adj" fmla="val 10588"/>
            </a:avLst>
          </a:prstGeom>
          <a:solidFill>
            <a:srgbClr val="E7EBEF"/>
          </a:solidFill>
          <a:ln w="12700">
            <a:solidFill>
              <a:srgbClr val="D7DCE1"/>
            </a:solidFill>
            <a:prstDash val="solid"/>
          </a:ln>
        </p:spPr>
      </p:sp>
      <p:sp>
        <p:nvSpPr>
          <p:cNvPr id="34" name="Text 32"/>
          <p:cNvSpPr/>
          <p:nvPr/>
        </p:nvSpPr>
        <p:spPr>
          <a:xfrm>
            <a:off x="1051560" y="9034272"/>
            <a:ext cx="7132320" cy="594360"/>
          </a:xfrm>
          <a:prstGeom prst="rect">
            <a:avLst/>
          </a:prstGeom>
          <a:noFill/>
          <a:ln/>
        </p:spPr>
        <p:txBody>
          <a:bodyPr wrap="square" lIns="0" tIns="0" rIns="0" bIns="0" rtlCol="0" anchor="ctr"/>
          <a:lstStyle/>
          <a:p>
            <a:pPr marL="0" indent="0">
              <a:lnSpc>
                <a:spcPts val="1900"/>
              </a:lnSpc>
              <a:buNone/>
            </a:pPr>
            <a:r>
              <a:rPr lang="en-US" sz="1450" i="1" dirty="0">
                <a:solidFill>
                  <a:srgbClr val="5B6B7C"/>
                </a:solidFill>
                <a:latin typeface="Calibri" pitchFamily="34" charset="0"/>
                <a:ea typeface="Calibri" pitchFamily="34" charset="-122"/>
                <a:cs typeface="Calibri" pitchFamily="34" charset="-120"/>
              </a:rPr>
              <a:t>At prediction time a new graduate's profile passes through the same fitted preprocessing and feature transformation used in training before being scored.</a:t>
            </a:r>
            <a:endParaRPr lang="en-US" sz="1450" dirty="0"/>
          </a:p>
        </p:txBody>
      </p:sp>
      <p:sp>
        <p:nvSpPr>
          <p:cNvPr id="35" name="Shape 33"/>
          <p:cNvSpPr/>
          <p:nvPr/>
        </p:nvSpPr>
        <p:spPr>
          <a:xfrm>
            <a:off x="9098280" y="1874520"/>
            <a:ext cx="8503920" cy="4892040"/>
          </a:xfrm>
          <a:prstGeom prst="roundRect">
            <a:avLst>
              <a:gd name="adj" fmla="val 1682"/>
            </a:avLst>
          </a:prstGeom>
          <a:solidFill>
            <a:srgbClr val="F4F6F8"/>
          </a:solidFill>
          <a:ln w="12700">
            <a:solidFill>
              <a:srgbClr val="D7DCE1"/>
            </a:solidFill>
            <a:prstDash val="solid"/>
          </a:ln>
        </p:spPr>
      </p:sp>
      <p:pic>
        <p:nvPicPr>
          <p:cNvPr id="36" name="Image 0" descr="figs/Figure_4_3.png"/>
          <p:cNvPicPr>
            <a:picLocks noChangeAspect="1"/>
          </p:cNvPicPr>
          <p:nvPr/>
        </p:nvPicPr>
        <p:blipFill>
          <a:blip r:embed="rId3"/>
          <a:stretch>
            <a:fillRect/>
          </a:stretch>
        </p:blipFill>
        <p:spPr>
          <a:xfrm>
            <a:off x="9418320" y="2084832"/>
            <a:ext cx="7863840" cy="4114800"/>
          </a:xfrm>
          <a:prstGeom prst="rect">
            <a:avLst/>
          </a:prstGeom>
        </p:spPr>
      </p:pic>
      <p:sp>
        <p:nvSpPr>
          <p:cNvPr id="37" name="Text 34"/>
          <p:cNvSpPr/>
          <p:nvPr/>
        </p:nvSpPr>
        <p:spPr>
          <a:xfrm>
            <a:off x="9098280" y="6309360"/>
            <a:ext cx="8503920" cy="310896"/>
          </a:xfrm>
          <a:prstGeom prst="rect">
            <a:avLst/>
          </a:prstGeom>
          <a:noFill/>
          <a:ln/>
        </p:spPr>
        <p:txBody>
          <a:bodyPr wrap="square" lIns="0" tIns="0" rIns="0" bIns="0" rtlCol="0" anchor="ctr"/>
          <a:lstStyle/>
          <a:p>
            <a:pPr marL="0" indent="0" algn="ctr">
              <a:buNone/>
            </a:pPr>
            <a:r>
              <a:rPr lang="en-US" sz="1600" i="1" dirty="0">
                <a:solidFill>
                  <a:srgbClr val="5B6B7C"/>
                </a:solidFill>
                <a:latin typeface="Calibri" pitchFamily="34" charset="0"/>
                <a:ea typeface="Calibri" pitchFamily="34" charset="-122"/>
                <a:cs typeface="Calibri" pitchFamily="34" charset="-120"/>
              </a:rPr>
              <a:t>Figure 4.3 — Data Flow Diagram (DFD Level 1)</a:t>
            </a:r>
            <a:endParaRPr lang="en-US" sz="1600" dirty="0"/>
          </a:p>
        </p:txBody>
      </p:sp>
      <p:sp>
        <p:nvSpPr>
          <p:cNvPr id="38" name="Text 35"/>
          <p:cNvSpPr/>
          <p:nvPr/>
        </p:nvSpPr>
        <p:spPr>
          <a:xfrm>
            <a:off x="9098280" y="6949440"/>
            <a:ext cx="850392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SYSTEM REQUIREMENTS  (TABLES 4.1 &amp; 4.2)</a:t>
            </a:r>
            <a:endParaRPr lang="en-US" sz="1500" dirty="0"/>
          </a:p>
        </p:txBody>
      </p:sp>
      <p:sp>
        <p:nvSpPr>
          <p:cNvPr id="39" name="Shape 36"/>
          <p:cNvSpPr/>
          <p:nvPr/>
        </p:nvSpPr>
        <p:spPr>
          <a:xfrm>
            <a:off x="9098280" y="7424928"/>
            <a:ext cx="8503920" cy="530352"/>
          </a:xfrm>
          <a:prstGeom prst="roundRect">
            <a:avLst>
              <a:gd name="adj" fmla="val 15517"/>
            </a:avLst>
          </a:prstGeom>
          <a:solidFill>
            <a:srgbClr val="E7EBEF"/>
          </a:solidFill>
          <a:ln w="12700">
            <a:solidFill>
              <a:srgbClr val="D7DCE1"/>
            </a:solidFill>
            <a:prstDash val="solid"/>
          </a:ln>
        </p:spPr>
      </p:sp>
      <p:sp>
        <p:nvSpPr>
          <p:cNvPr id="40" name="Text 37"/>
          <p:cNvSpPr/>
          <p:nvPr/>
        </p:nvSpPr>
        <p:spPr>
          <a:xfrm>
            <a:off x="9372600" y="7424928"/>
            <a:ext cx="1417320" cy="530352"/>
          </a:xfrm>
          <a:prstGeom prst="rect">
            <a:avLst/>
          </a:prstGeom>
          <a:noFill/>
          <a:ln/>
        </p:spPr>
        <p:txBody>
          <a:bodyPr wrap="square" lIns="0" tIns="0" rIns="0" bIns="0"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FR1–FR2</a:t>
            </a:r>
            <a:endParaRPr lang="en-US" sz="1500" dirty="0"/>
          </a:p>
        </p:txBody>
      </p:sp>
      <p:sp>
        <p:nvSpPr>
          <p:cNvPr id="41" name="Text 38"/>
          <p:cNvSpPr/>
          <p:nvPr/>
        </p:nvSpPr>
        <p:spPr>
          <a:xfrm>
            <a:off x="10835640" y="7424928"/>
            <a:ext cx="4846320" cy="530352"/>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Submit and validate a graduate profile across all six attribute dimensions.</a:t>
            </a:r>
            <a:endParaRPr lang="en-US" sz="1400" dirty="0"/>
          </a:p>
        </p:txBody>
      </p:sp>
      <p:sp>
        <p:nvSpPr>
          <p:cNvPr id="42" name="Text 39"/>
          <p:cNvSpPr/>
          <p:nvPr/>
        </p:nvSpPr>
        <p:spPr>
          <a:xfrm>
            <a:off x="15773400" y="7424928"/>
            <a:ext cx="1554480" cy="530352"/>
          </a:xfrm>
          <a:prstGeom prst="rect">
            <a:avLst/>
          </a:prstGeom>
          <a:noFill/>
          <a:ln/>
        </p:spPr>
        <p:txBody>
          <a:bodyPr wrap="square" lIns="0" tIns="0" rIns="0" bIns="0" rtlCol="0" anchor="ctr"/>
          <a:lstStyle/>
          <a:p>
            <a:pPr marL="0" indent="0" algn="r">
              <a:buNone/>
            </a:pPr>
            <a:r>
              <a:rPr lang="en-US" sz="1350" i="1" dirty="0">
                <a:solidFill>
                  <a:srgbClr val="5B6B7C"/>
                </a:solidFill>
                <a:latin typeface="Calibri" pitchFamily="34" charset="0"/>
                <a:ea typeface="Calibri" pitchFamily="34" charset="-122"/>
                <a:cs typeface="Calibri" pitchFamily="34" charset="-120"/>
              </a:rPr>
              <a:t>delivered</a:t>
            </a:r>
            <a:endParaRPr lang="en-US" sz="1350" dirty="0"/>
          </a:p>
        </p:txBody>
      </p:sp>
      <p:sp>
        <p:nvSpPr>
          <p:cNvPr id="43" name="Shape 40"/>
          <p:cNvSpPr/>
          <p:nvPr/>
        </p:nvSpPr>
        <p:spPr>
          <a:xfrm>
            <a:off x="9098280" y="8028432"/>
            <a:ext cx="8503920" cy="530352"/>
          </a:xfrm>
          <a:prstGeom prst="roundRect">
            <a:avLst>
              <a:gd name="adj" fmla="val 15517"/>
            </a:avLst>
          </a:prstGeom>
          <a:solidFill>
            <a:srgbClr val="F4F6F8"/>
          </a:solidFill>
          <a:ln w="12700">
            <a:solidFill>
              <a:srgbClr val="D7DCE1"/>
            </a:solidFill>
            <a:prstDash val="solid"/>
          </a:ln>
        </p:spPr>
      </p:sp>
      <p:sp>
        <p:nvSpPr>
          <p:cNvPr id="44" name="Text 41"/>
          <p:cNvSpPr/>
          <p:nvPr/>
        </p:nvSpPr>
        <p:spPr>
          <a:xfrm>
            <a:off x="9372600" y="8028432"/>
            <a:ext cx="1417320" cy="530352"/>
          </a:xfrm>
          <a:prstGeom prst="rect">
            <a:avLst/>
          </a:prstGeom>
          <a:noFill/>
          <a:ln/>
        </p:spPr>
        <p:txBody>
          <a:bodyPr wrap="square" lIns="0" tIns="0" rIns="0" bIns="0"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FR3–FR4</a:t>
            </a:r>
            <a:endParaRPr lang="en-US" sz="1500" dirty="0"/>
          </a:p>
        </p:txBody>
      </p:sp>
      <p:sp>
        <p:nvSpPr>
          <p:cNvPr id="45" name="Text 42"/>
          <p:cNvSpPr/>
          <p:nvPr/>
        </p:nvSpPr>
        <p:spPr>
          <a:xfrm>
            <a:off x="10835640" y="8028432"/>
            <a:ext cx="4846320" cy="530352"/>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Return a binary prediction with probability; SHAP explanation specified.</a:t>
            </a:r>
            <a:endParaRPr lang="en-US" sz="1400" dirty="0"/>
          </a:p>
        </p:txBody>
      </p:sp>
      <p:sp>
        <p:nvSpPr>
          <p:cNvPr id="46" name="Text 43"/>
          <p:cNvSpPr/>
          <p:nvPr/>
        </p:nvSpPr>
        <p:spPr>
          <a:xfrm>
            <a:off x="15773400" y="8028432"/>
            <a:ext cx="1554480" cy="530352"/>
          </a:xfrm>
          <a:prstGeom prst="rect">
            <a:avLst/>
          </a:prstGeom>
          <a:noFill/>
          <a:ln/>
        </p:spPr>
        <p:txBody>
          <a:bodyPr wrap="square" lIns="0" tIns="0" rIns="0" bIns="0" rtlCol="0" anchor="ctr"/>
          <a:lstStyle/>
          <a:p>
            <a:pPr marL="0" indent="0" algn="r">
              <a:buNone/>
            </a:pPr>
            <a:r>
              <a:rPr lang="en-US" sz="1350" i="1" dirty="0">
                <a:solidFill>
                  <a:srgbClr val="5B6B7C"/>
                </a:solidFill>
                <a:latin typeface="Calibri" pitchFamily="34" charset="0"/>
                <a:ea typeface="Calibri" pitchFamily="34" charset="-122"/>
                <a:cs typeface="Calibri" pitchFamily="34" charset="-120"/>
              </a:rPr>
              <a:t>partial</a:t>
            </a:r>
            <a:endParaRPr lang="en-US" sz="1350" dirty="0"/>
          </a:p>
        </p:txBody>
      </p:sp>
      <p:sp>
        <p:nvSpPr>
          <p:cNvPr id="47" name="Shape 44"/>
          <p:cNvSpPr/>
          <p:nvPr/>
        </p:nvSpPr>
        <p:spPr>
          <a:xfrm>
            <a:off x="9098280" y="8631936"/>
            <a:ext cx="8503920" cy="530352"/>
          </a:xfrm>
          <a:prstGeom prst="roundRect">
            <a:avLst>
              <a:gd name="adj" fmla="val 15517"/>
            </a:avLst>
          </a:prstGeom>
          <a:solidFill>
            <a:srgbClr val="E7EBEF"/>
          </a:solidFill>
          <a:ln w="12700">
            <a:solidFill>
              <a:srgbClr val="D7DCE1"/>
            </a:solidFill>
            <a:prstDash val="solid"/>
          </a:ln>
        </p:spPr>
      </p:sp>
      <p:sp>
        <p:nvSpPr>
          <p:cNvPr id="48" name="Text 45"/>
          <p:cNvSpPr/>
          <p:nvPr/>
        </p:nvSpPr>
        <p:spPr>
          <a:xfrm>
            <a:off x="9372600" y="8631936"/>
            <a:ext cx="1417320" cy="530352"/>
          </a:xfrm>
          <a:prstGeom prst="rect">
            <a:avLst/>
          </a:prstGeom>
          <a:noFill/>
          <a:ln/>
        </p:spPr>
        <p:txBody>
          <a:bodyPr wrap="square" lIns="0" tIns="0" rIns="0" bIns="0"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FR5</a:t>
            </a:r>
            <a:endParaRPr lang="en-US" sz="1500" dirty="0"/>
          </a:p>
        </p:txBody>
      </p:sp>
      <p:sp>
        <p:nvSpPr>
          <p:cNvPr id="49" name="Text 46"/>
          <p:cNvSpPr/>
          <p:nvPr/>
        </p:nvSpPr>
        <p:spPr>
          <a:xfrm>
            <a:off x="10835640" y="8631936"/>
            <a:ext cx="4846320" cy="530352"/>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Present prediction and explanation through an interactive dashboard.</a:t>
            </a:r>
            <a:endParaRPr lang="en-US" sz="1400" dirty="0"/>
          </a:p>
        </p:txBody>
      </p:sp>
      <p:sp>
        <p:nvSpPr>
          <p:cNvPr id="50" name="Text 47"/>
          <p:cNvSpPr/>
          <p:nvPr/>
        </p:nvSpPr>
        <p:spPr>
          <a:xfrm>
            <a:off x="15773400" y="8631936"/>
            <a:ext cx="1554480" cy="530352"/>
          </a:xfrm>
          <a:prstGeom prst="rect">
            <a:avLst/>
          </a:prstGeom>
          <a:noFill/>
          <a:ln/>
        </p:spPr>
        <p:txBody>
          <a:bodyPr wrap="square" lIns="0" tIns="0" rIns="0" bIns="0" rtlCol="0" anchor="ctr"/>
          <a:lstStyle/>
          <a:p>
            <a:pPr marL="0" indent="0" algn="r">
              <a:buNone/>
            </a:pPr>
            <a:r>
              <a:rPr lang="en-US" sz="1350" i="1" dirty="0">
                <a:solidFill>
                  <a:srgbClr val="5B6B7C"/>
                </a:solidFill>
                <a:latin typeface="Calibri" pitchFamily="34" charset="0"/>
                <a:ea typeface="Calibri" pitchFamily="34" charset="-122"/>
                <a:cs typeface="Calibri" pitchFamily="34" charset="-120"/>
              </a:rPr>
              <a:t>planned</a:t>
            </a:r>
            <a:endParaRPr lang="en-US" sz="1350" dirty="0"/>
          </a:p>
        </p:txBody>
      </p:sp>
      <p:sp>
        <p:nvSpPr>
          <p:cNvPr id="51" name="Shape 48"/>
          <p:cNvSpPr/>
          <p:nvPr/>
        </p:nvSpPr>
        <p:spPr>
          <a:xfrm>
            <a:off x="9098280" y="9235440"/>
            <a:ext cx="8503920" cy="530352"/>
          </a:xfrm>
          <a:prstGeom prst="roundRect">
            <a:avLst>
              <a:gd name="adj" fmla="val 15517"/>
            </a:avLst>
          </a:prstGeom>
          <a:solidFill>
            <a:srgbClr val="F4F6F8"/>
          </a:solidFill>
          <a:ln w="12700">
            <a:solidFill>
              <a:srgbClr val="D7DCE1"/>
            </a:solidFill>
            <a:prstDash val="solid"/>
          </a:ln>
        </p:spPr>
      </p:sp>
      <p:sp>
        <p:nvSpPr>
          <p:cNvPr id="52" name="Text 49"/>
          <p:cNvSpPr/>
          <p:nvPr/>
        </p:nvSpPr>
        <p:spPr>
          <a:xfrm>
            <a:off x="9372600" y="9235440"/>
            <a:ext cx="1417320" cy="530352"/>
          </a:xfrm>
          <a:prstGeom prst="rect">
            <a:avLst/>
          </a:prstGeom>
          <a:noFill/>
          <a:ln/>
        </p:spPr>
        <p:txBody>
          <a:bodyPr wrap="square" lIns="0" tIns="0" rIns="0" bIns="0" rtlCol="0" anchor="ctr"/>
          <a:lstStyle/>
          <a:p>
            <a:pPr marL="0" indent="0">
              <a:buNone/>
            </a:pPr>
            <a:r>
              <a:rPr lang="en-US" sz="1500" b="1" dirty="0">
                <a:solidFill>
                  <a:srgbClr val="000000"/>
                </a:solidFill>
                <a:latin typeface="Calibri" pitchFamily="34" charset="0"/>
                <a:ea typeface="Calibri" pitchFamily="34" charset="-122"/>
                <a:cs typeface="Calibri" pitchFamily="34" charset="-120"/>
              </a:rPr>
              <a:t>FR6–FR7</a:t>
            </a:r>
            <a:endParaRPr lang="en-US" sz="1500" dirty="0"/>
          </a:p>
        </p:txBody>
      </p:sp>
      <p:sp>
        <p:nvSpPr>
          <p:cNvPr id="53" name="Text 50"/>
          <p:cNvSpPr/>
          <p:nvPr/>
        </p:nvSpPr>
        <p:spPr>
          <a:xfrm>
            <a:off x="10835640" y="9235440"/>
            <a:ext cx="4846320" cy="530352"/>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Compare model performance; manage the dataset and trigger retraining.</a:t>
            </a:r>
            <a:endParaRPr lang="en-US" sz="1400" dirty="0"/>
          </a:p>
        </p:txBody>
      </p:sp>
      <p:sp>
        <p:nvSpPr>
          <p:cNvPr id="54" name="Text 51"/>
          <p:cNvSpPr/>
          <p:nvPr/>
        </p:nvSpPr>
        <p:spPr>
          <a:xfrm>
            <a:off x="15773400" y="9235440"/>
            <a:ext cx="1554480" cy="530352"/>
          </a:xfrm>
          <a:prstGeom prst="rect">
            <a:avLst/>
          </a:prstGeom>
          <a:noFill/>
          <a:ln/>
        </p:spPr>
        <p:txBody>
          <a:bodyPr wrap="square" lIns="0" tIns="0" rIns="0" bIns="0" rtlCol="0" anchor="ctr"/>
          <a:lstStyle/>
          <a:p>
            <a:pPr marL="0" indent="0" algn="r">
              <a:buNone/>
            </a:pPr>
            <a:r>
              <a:rPr lang="en-US" sz="1350" i="1" dirty="0">
                <a:solidFill>
                  <a:srgbClr val="5B6B7C"/>
                </a:solidFill>
                <a:latin typeface="Calibri" pitchFamily="34" charset="0"/>
                <a:ea typeface="Calibri" pitchFamily="34" charset="-122"/>
                <a:cs typeface="Calibri" pitchFamily="34" charset="-120"/>
              </a:rPr>
              <a:t>at script level</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5  —  DATA FOUNDATION</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The Dataset and Its Class Imbalance</a:t>
            </a:r>
            <a:endParaRPr lang="en-US" sz="3900" dirty="0"/>
          </a:p>
        </p:txBody>
      </p:sp>
      <p:sp>
        <p:nvSpPr>
          <p:cNvPr id="4" name="Shape 2"/>
          <p:cNvSpPr/>
          <p:nvPr/>
        </p:nvSpPr>
        <p:spPr>
          <a:xfrm>
            <a:off x="685800" y="1874520"/>
            <a:ext cx="8503920" cy="4892040"/>
          </a:xfrm>
          <a:prstGeom prst="roundRect">
            <a:avLst>
              <a:gd name="adj" fmla="val 1682"/>
            </a:avLst>
          </a:prstGeom>
          <a:solidFill>
            <a:srgbClr val="F4F6F8"/>
          </a:solidFill>
          <a:ln w="12700">
            <a:solidFill>
              <a:srgbClr val="D7DCE1"/>
            </a:solidFill>
            <a:prstDash val="solid"/>
          </a:ln>
        </p:spPr>
      </p:sp>
      <p:sp>
        <p:nvSpPr>
          <p:cNvPr id="5" name="Text 3"/>
          <p:cNvSpPr/>
          <p:nvPr/>
        </p:nvSpPr>
        <p:spPr>
          <a:xfrm>
            <a:off x="1143000" y="2121408"/>
            <a:ext cx="7589520" cy="310896"/>
          </a:xfrm>
          <a:prstGeom prst="rect">
            <a:avLst/>
          </a:prstGeom>
          <a:noFill/>
          <a:ln/>
        </p:spPr>
        <p:txBody>
          <a:bodyPr wrap="square" lIns="0" tIns="0" rIns="0" bIns="0" rtlCol="0" anchor="ctr"/>
          <a:lstStyle/>
          <a:p>
            <a:pPr marL="0" indent="0">
              <a:buNone/>
            </a:pPr>
            <a:r>
              <a:rPr lang="en-US" sz="1400" b="1" kern="0" spc="240" dirty="0">
                <a:solidFill>
                  <a:srgbClr val="8C97A3"/>
                </a:solidFill>
                <a:latin typeface="Calibri" pitchFamily="34" charset="0"/>
                <a:ea typeface="Calibri" pitchFamily="34" charset="-122"/>
                <a:cs typeface="Calibri" pitchFamily="34" charset="-120"/>
              </a:rPr>
              <a:t>DATASET</a:t>
            </a:r>
            <a:endParaRPr lang="en-US" sz="1400" dirty="0"/>
          </a:p>
        </p:txBody>
      </p:sp>
      <p:sp>
        <p:nvSpPr>
          <p:cNvPr id="6" name="Text 4"/>
          <p:cNvSpPr/>
          <p:nvPr/>
        </p:nvSpPr>
        <p:spPr>
          <a:xfrm>
            <a:off x="1143000" y="2468880"/>
            <a:ext cx="7589520" cy="457200"/>
          </a:xfrm>
          <a:prstGeom prst="rect">
            <a:avLst/>
          </a:prstGeom>
          <a:noFill/>
          <a:ln/>
        </p:spPr>
        <p:txBody>
          <a:bodyPr wrap="square" lIns="0" tIns="0" rIns="0" bIns="0" rtlCol="0" anchor="ctr"/>
          <a:lstStyle/>
          <a:p>
            <a:pPr marL="0" indent="0">
              <a:buNone/>
            </a:pPr>
            <a:r>
              <a:rPr lang="en-US" sz="2300" b="1" dirty="0">
                <a:solidFill>
                  <a:srgbClr val="000000"/>
                </a:solidFill>
                <a:latin typeface="Calibri" pitchFamily="34" charset="0"/>
                <a:ea typeface="Calibri" pitchFamily="34" charset="-122"/>
                <a:cs typeface="Calibri" pitchFamily="34" charset="-120"/>
              </a:rPr>
              <a:t>Student Career Success Prediction Dataset</a:t>
            </a:r>
            <a:endParaRPr lang="en-US" sz="2300" dirty="0"/>
          </a:p>
        </p:txBody>
      </p:sp>
      <p:sp>
        <p:nvSpPr>
          <p:cNvPr id="7" name="Text 5"/>
          <p:cNvSpPr/>
          <p:nvPr/>
        </p:nvSpPr>
        <p:spPr>
          <a:xfrm>
            <a:off x="1143000" y="3063240"/>
            <a:ext cx="2194560" cy="603504"/>
          </a:xfrm>
          <a:prstGeom prst="rect">
            <a:avLst/>
          </a:prstGeom>
          <a:noFill/>
          <a:ln/>
        </p:spPr>
        <p:txBody>
          <a:bodyPr wrap="square" lIns="0" tIns="0" rIns="0" bIns="0" rtlCol="0" anchor="t"/>
          <a:lstStyle/>
          <a:p>
            <a:pPr marL="0" indent="0">
              <a:buNone/>
            </a:pPr>
            <a:r>
              <a:rPr lang="en-US" sz="1550" b="1" dirty="0">
                <a:solidFill>
                  <a:srgbClr val="000000"/>
                </a:solidFill>
                <a:latin typeface="Calibri" pitchFamily="34" charset="0"/>
                <a:ea typeface="Calibri" pitchFamily="34" charset="-122"/>
                <a:cs typeface="Calibri" pitchFamily="34" charset="-120"/>
              </a:rPr>
              <a:t>SOURCE</a:t>
            </a:r>
            <a:endParaRPr lang="en-US" sz="1550" dirty="0"/>
          </a:p>
        </p:txBody>
      </p:sp>
      <p:sp>
        <p:nvSpPr>
          <p:cNvPr id="8" name="Text 6"/>
          <p:cNvSpPr/>
          <p:nvPr/>
        </p:nvSpPr>
        <p:spPr>
          <a:xfrm>
            <a:off x="3337560" y="3063240"/>
            <a:ext cx="5486400" cy="603504"/>
          </a:xfrm>
          <a:prstGeom prst="rect">
            <a:avLst/>
          </a:prstGeom>
          <a:noFill/>
          <a:ln/>
        </p:spPr>
        <p:txBody>
          <a:bodyPr wrap="square" lIns="0" tIns="0" rIns="0" bIns="0" rtlCol="0" anchor="t"/>
          <a:lstStyle/>
          <a:p>
            <a:pPr marL="0" indent="0">
              <a:lnSpc>
                <a:spcPts val="1938"/>
              </a:lnSpc>
              <a:buNone/>
            </a:pPr>
            <a:r>
              <a:rPr lang="en-US" sz="1550" dirty="0">
                <a:solidFill>
                  <a:srgbClr val="000000"/>
                </a:solidFill>
                <a:latin typeface="Calibri" pitchFamily="34" charset="0"/>
                <a:ea typeface="Calibri" pitchFamily="34" charset="-122"/>
                <a:cs typeface="Calibri" pitchFamily="34" charset="-120"/>
              </a:rPr>
              <a:t>Kaggle — Fatimah, M. (2026);  file student_career_success_dataset_cleaned.csv</a:t>
            </a:r>
            <a:endParaRPr lang="en-US" sz="1550" dirty="0"/>
          </a:p>
        </p:txBody>
      </p:sp>
      <p:sp>
        <p:nvSpPr>
          <p:cNvPr id="9" name="Text 7"/>
          <p:cNvSpPr/>
          <p:nvPr/>
        </p:nvSpPr>
        <p:spPr>
          <a:xfrm>
            <a:off x="1143000" y="3666744"/>
            <a:ext cx="2194560" cy="603504"/>
          </a:xfrm>
          <a:prstGeom prst="rect">
            <a:avLst/>
          </a:prstGeom>
          <a:noFill/>
          <a:ln/>
        </p:spPr>
        <p:txBody>
          <a:bodyPr wrap="square" lIns="0" tIns="0" rIns="0" bIns="0" rtlCol="0" anchor="t"/>
          <a:lstStyle/>
          <a:p>
            <a:pPr marL="0" indent="0">
              <a:buNone/>
            </a:pPr>
            <a:r>
              <a:rPr lang="en-US" sz="1550" b="1" dirty="0">
                <a:solidFill>
                  <a:srgbClr val="000000"/>
                </a:solidFill>
                <a:latin typeface="Calibri" pitchFamily="34" charset="0"/>
                <a:ea typeface="Calibri" pitchFamily="34" charset="-122"/>
                <a:cs typeface="Calibri" pitchFamily="34" charset="-120"/>
              </a:rPr>
              <a:t>RECORDS</a:t>
            </a:r>
            <a:endParaRPr lang="en-US" sz="1550" dirty="0"/>
          </a:p>
        </p:txBody>
      </p:sp>
      <p:sp>
        <p:nvSpPr>
          <p:cNvPr id="10" name="Text 8"/>
          <p:cNvSpPr/>
          <p:nvPr/>
        </p:nvSpPr>
        <p:spPr>
          <a:xfrm>
            <a:off x="3337560" y="3666744"/>
            <a:ext cx="5486400" cy="603504"/>
          </a:xfrm>
          <a:prstGeom prst="rect">
            <a:avLst/>
          </a:prstGeom>
          <a:noFill/>
          <a:ln/>
        </p:spPr>
        <p:txBody>
          <a:bodyPr wrap="square" lIns="0" tIns="0" rIns="0" bIns="0" rtlCol="0" anchor="t"/>
          <a:lstStyle/>
          <a:p>
            <a:pPr marL="0" indent="0">
              <a:lnSpc>
                <a:spcPts val="1938"/>
              </a:lnSpc>
              <a:buNone/>
            </a:pPr>
            <a:r>
              <a:rPr lang="en-US" sz="1550" dirty="0">
                <a:solidFill>
                  <a:srgbClr val="000000"/>
                </a:solidFill>
                <a:latin typeface="Calibri" pitchFamily="34" charset="0"/>
                <a:ea typeface="Calibri" pitchFamily="34" charset="-122"/>
                <a:cs typeface="Calibri" pitchFamily="34" charset="-120"/>
              </a:rPr>
              <a:t>50,000 instances × 23 columns (22 predictors + 1 target)</a:t>
            </a:r>
            <a:endParaRPr lang="en-US" sz="1550" dirty="0"/>
          </a:p>
        </p:txBody>
      </p:sp>
      <p:sp>
        <p:nvSpPr>
          <p:cNvPr id="11" name="Text 9"/>
          <p:cNvSpPr/>
          <p:nvPr/>
        </p:nvSpPr>
        <p:spPr>
          <a:xfrm>
            <a:off x="1143000" y="4270248"/>
            <a:ext cx="2194560" cy="603504"/>
          </a:xfrm>
          <a:prstGeom prst="rect">
            <a:avLst/>
          </a:prstGeom>
          <a:noFill/>
          <a:ln/>
        </p:spPr>
        <p:txBody>
          <a:bodyPr wrap="square" lIns="0" tIns="0" rIns="0" bIns="0" rtlCol="0" anchor="t"/>
          <a:lstStyle/>
          <a:p>
            <a:pPr marL="0" indent="0">
              <a:buNone/>
            </a:pPr>
            <a:r>
              <a:rPr lang="en-US" sz="1550" b="1" dirty="0">
                <a:solidFill>
                  <a:srgbClr val="000000"/>
                </a:solidFill>
                <a:latin typeface="Calibri" pitchFamily="34" charset="0"/>
                <a:ea typeface="Calibri" pitchFamily="34" charset="-122"/>
                <a:cs typeface="Calibri" pitchFamily="34" charset="-120"/>
              </a:rPr>
              <a:t>TARGET</a:t>
            </a:r>
            <a:endParaRPr lang="en-US" sz="1550" dirty="0"/>
          </a:p>
        </p:txBody>
      </p:sp>
      <p:sp>
        <p:nvSpPr>
          <p:cNvPr id="12" name="Text 10"/>
          <p:cNvSpPr/>
          <p:nvPr/>
        </p:nvSpPr>
        <p:spPr>
          <a:xfrm>
            <a:off x="3337560" y="4270248"/>
            <a:ext cx="5486400" cy="603504"/>
          </a:xfrm>
          <a:prstGeom prst="rect">
            <a:avLst/>
          </a:prstGeom>
          <a:noFill/>
          <a:ln/>
        </p:spPr>
        <p:txBody>
          <a:bodyPr wrap="square" lIns="0" tIns="0" rIns="0" bIns="0" rtlCol="0" anchor="t"/>
          <a:lstStyle/>
          <a:p>
            <a:pPr marL="0" indent="0">
              <a:lnSpc>
                <a:spcPts val="1938"/>
              </a:lnSpc>
              <a:buNone/>
            </a:pPr>
            <a:r>
              <a:rPr lang="en-US" sz="1550" dirty="0">
                <a:solidFill>
                  <a:srgbClr val="000000"/>
                </a:solidFill>
                <a:latin typeface="Calibri" pitchFamily="34" charset="0"/>
                <a:ea typeface="Calibri" pitchFamily="34" charset="-122"/>
                <a:cs typeface="Calibri" pitchFamily="34" charset="-120"/>
              </a:rPr>
              <a:t>Placement_Status — Employable / Not Employable</a:t>
            </a:r>
            <a:endParaRPr lang="en-US" sz="1550" dirty="0"/>
          </a:p>
        </p:txBody>
      </p:sp>
      <p:sp>
        <p:nvSpPr>
          <p:cNvPr id="13" name="Text 11"/>
          <p:cNvSpPr/>
          <p:nvPr/>
        </p:nvSpPr>
        <p:spPr>
          <a:xfrm>
            <a:off x="1143000" y="4873752"/>
            <a:ext cx="2194560" cy="603504"/>
          </a:xfrm>
          <a:prstGeom prst="rect">
            <a:avLst/>
          </a:prstGeom>
          <a:noFill/>
          <a:ln/>
        </p:spPr>
        <p:txBody>
          <a:bodyPr wrap="square" lIns="0" tIns="0" rIns="0" bIns="0" rtlCol="0" anchor="t"/>
          <a:lstStyle/>
          <a:p>
            <a:pPr marL="0" indent="0">
              <a:buNone/>
            </a:pPr>
            <a:r>
              <a:rPr lang="en-US" sz="1550" b="1" dirty="0">
                <a:solidFill>
                  <a:srgbClr val="000000"/>
                </a:solidFill>
                <a:latin typeface="Calibri" pitchFamily="34" charset="0"/>
                <a:ea typeface="Calibri" pitchFamily="34" charset="-122"/>
                <a:cs typeface="Calibri" pitchFamily="34" charset="-120"/>
              </a:rPr>
              <a:t>PARTITIONS</a:t>
            </a:r>
            <a:endParaRPr lang="en-US" sz="1550" dirty="0"/>
          </a:p>
        </p:txBody>
      </p:sp>
      <p:sp>
        <p:nvSpPr>
          <p:cNvPr id="14" name="Text 12"/>
          <p:cNvSpPr/>
          <p:nvPr/>
        </p:nvSpPr>
        <p:spPr>
          <a:xfrm>
            <a:off x="3337560" y="4873752"/>
            <a:ext cx="5486400" cy="603504"/>
          </a:xfrm>
          <a:prstGeom prst="rect">
            <a:avLst/>
          </a:prstGeom>
          <a:noFill/>
          <a:ln/>
        </p:spPr>
        <p:txBody>
          <a:bodyPr wrap="square" lIns="0" tIns="0" rIns="0" bIns="0" rtlCol="0" anchor="t"/>
          <a:lstStyle/>
          <a:p>
            <a:pPr marL="0" indent="0">
              <a:lnSpc>
                <a:spcPts val="1938"/>
              </a:lnSpc>
              <a:buNone/>
            </a:pPr>
            <a:r>
              <a:rPr lang="en-US" sz="1550" dirty="0">
                <a:solidFill>
                  <a:srgbClr val="000000"/>
                </a:solidFill>
                <a:latin typeface="Calibri" pitchFamily="34" charset="0"/>
                <a:ea typeface="Calibri" pitchFamily="34" charset="-122"/>
                <a:cs typeface="Calibri" pitchFamily="34" charset="-120"/>
              </a:rPr>
              <a:t>40,000 training (80%)  |  10,000 testing (20%), stratified</a:t>
            </a:r>
            <a:endParaRPr lang="en-US" sz="1550" dirty="0"/>
          </a:p>
        </p:txBody>
      </p:sp>
      <p:sp>
        <p:nvSpPr>
          <p:cNvPr id="15" name="Text 13"/>
          <p:cNvSpPr/>
          <p:nvPr/>
        </p:nvSpPr>
        <p:spPr>
          <a:xfrm>
            <a:off x="1143000" y="5477256"/>
            <a:ext cx="2194560" cy="603504"/>
          </a:xfrm>
          <a:prstGeom prst="rect">
            <a:avLst/>
          </a:prstGeom>
          <a:noFill/>
          <a:ln/>
        </p:spPr>
        <p:txBody>
          <a:bodyPr wrap="square" lIns="0" tIns="0" rIns="0" bIns="0" rtlCol="0" anchor="t"/>
          <a:lstStyle/>
          <a:p>
            <a:pPr marL="0" indent="0">
              <a:buNone/>
            </a:pPr>
            <a:r>
              <a:rPr lang="en-US" sz="1550" b="1" dirty="0">
                <a:solidFill>
                  <a:srgbClr val="000000"/>
                </a:solidFill>
                <a:latin typeface="Calibri" pitchFamily="34" charset="0"/>
                <a:ea typeface="Calibri" pitchFamily="34" charset="-122"/>
                <a:cs typeface="Calibri" pitchFamily="34" charset="-120"/>
              </a:rPr>
              <a:t>CLEANING</a:t>
            </a:r>
            <a:endParaRPr lang="en-US" sz="1550" dirty="0"/>
          </a:p>
        </p:txBody>
      </p:sp>
      <p:sp>
        <p:nvSpPr>
          <p:cNvPr id="16" name="Text 14"/>
          <p:cNvSpPr/>
          <p:nvPr/>
        </p:nvSpPr>
        <p:spPr>
          <a:xfrm>
            <a:off x="3337560" y="5477256"/>
            <a:ext cx="5486400" cy="603504"/>
          </a:xfrm>
          <a:prstGeom prst="rect">
            <a:avLst/>
          </a:prstGeom>
          <a:noFill/>
          <a:ln/>
        </p:spPr>
        <p:txBody>
          <a:bodyPr wrap="square" lIns="0" tIns="0" rIns="0" bIns="0" rtlCol="0" anchor="t"/>
          <a:lstStyle/>
          <a:p>
            <a:pPr marL="0" indent="0">
              <a:lnSpc>
                <a:spcPts val="1938"/>
              </a:lnSpc>
              <a:buNone/>
            </a:pPr>
            <a:r>
              <a:rPr lang="en-US" sz="1550" dirty="0">
                <a:solidFill>
                  <a:srgbClr val="000000"/>
                </a:solidFill>
                <a:latin typeface="Calibri" pitchFamily="34" charset="0"/>
                <a:ea typeface="Calibri" pitchFamily="34" charset="-122"/>
                <a:cs typeface="Calibri" pitchFamily="34" charset="-120"/>
              </a:rPr>
              <a:t>drop_duplicates(); median imputation (numeric), modal imputation (categorical)</a:t>
            </a:r>
            <a:endParaRPr lang="en-US" sz="1550" dirty="0"/>
          </a:p>
        </p:txBody>
      </p:sp>
      <p:sp>
        <p:nvSpPr>
          <p:cNvPr id="17" name="Text 15"/>
          <p:cNvSpPr/>
          <p:nvPr/>
        </p:nvSpPr>
        <p:spPr>
          <a:xfrm>
            <a:off x="1143000" y="6080760"/>
            <a:ext cx="2194560" cy="603504"/>
          </a:xfrm>
          <a:prstGeom prst="rect">
            <a:avLst/>
          </a:prstGeom>
          <a:noFill/>
          <a:ln/>
        </p:spPr>
        <p:txBody>
          <a:bodyPr wrap="square" lIns="0" tIns="0" rIns="0" bIns="0" rtlCol="0" anchor="t"/>
          <a:lstStyle/>
          <a:p>
            <a:pPr marL="0" indent="0">
              <a:buNone/>
            </a:pPr>
            <a:r>
              <a:rPr lang="en-US" sz="1550" b="1" dirty="0">
                <a:solidFill>
                  <a:srgbClr val="000000"/>
                </a:solidFill>
                <a:latin typeface="Calibri" pitchFamily="34" charset="0"/>
                <a:ea typeface="Calibri" pitchFamily="34" charset="-122"/>
                <a:cs typeface="Calibri" pitchFamily="34" charset="-120"/>
              </a:rPr>
              <a:t>TYPE</a:t>
            </a:r>
            <a:endParaRPr lang="en-US" sz="1550" dirty="0"/>
          </a:p>
        </p:txBody>
      </p:sp>
      <p:sp>
        <p:nvSpPr>
          <p:cNvPr id="18" name="Text 16"/>
          <p:cNvSpPr/>
          <p:nvPr/>
        </p:nvSpPr>
        <p:spPr>
          <a:xfrm>
            <a:off x="3337560" y="6080760"/>
            <a:ext cx="5486400" cy="603504"/>
          </a:xfrm>
          <a:prstGeom prst="rect">
            <a:avLst/>
          </a:prstGeom>
          <a:noFill/>
          <a:ln/>
        </p:spPr>
        <p:txBody>
          <a:bodyPr wrap="square" lIns="0" tIns="0" rIns="0" bIns="0" rtlCol="0" anchor="t"/>
          <a:lstStyle/>
          <a:p>
            <a:pPr marL="0" indent="0">
              <a:lnSpc>
                <a:spcPts val="1938"/>
              </a:lnSpc>
              <a:buNone/>
            </a:pPr>
            <a:r>
              <a:rPr lang="en-US" sz="1550" dirty="0">
                <a:solidFill>
                  <a:srgbClr val="000000"/>
                </a:solidFill>
                <a:latin typeface="Calibri" pitchFamily="34" charset="0"/>
                <a:ea typeface="Calibri" pitchFamily="34" charset="-122"/>
                <a:cs typeface="Calibri" pitchFamily="34" charset="-120"/>
              </a:rPr>
              <a:t>Secondary, cross-sectional, publicly available</a:t>
            </a:r>
            <a:endParaRPr lang="en-US" sz="1550" dirty="0"/>
          </a:p>
        </p:txBody>
      </p:sp>
      <p:sp>
        <p:nvSpPr>
          <p:cNvPr id="19" name="Shape 17"/>
          <p:cNvSpPr/>
          <p:nvPr/>
        </p:nvSpPr>
        <p:spPr>
          <a:xfrm>
            <a:off x="685800" y="6967728"/>
            <a:ext cx="8503920" cy="1371600"/>
          </a:xfrm>
          <a:prstGeom prst="roundRect">
            <a:avLst>
              <a:gd name="adj" fmla="val 6000"/>
            </a:avLst>
          </a:prstGeom>
          <a:solidFill>
            <a:srgbClr val="E7EBEF"/>
          </a:solidFill>
          <a:ln w="12700">
            <a:solidFill>
              <a:srgbClr val="D7DCE1"/>
            </a:solidFill>
            <a:prstDash val="solid"/>
          </a:ln>
        </p:spPr>
      </p:sp>
      <p:sp>
        <p:nvSpPr>
          <p:cNvPr id="20" name="Text 18"/>
          <p:cNvSpPr/>
          <p:nvPr/>
        </p:nvSpPr>
        <p:spPr>
          <a:xfrm>
            <a:off x="1097280" y="7178040"/>
            <a:ext cx="7680960" cy="1005840"/>
          </a:xfrm>
          <a:prstGeom prst="rect">
            <a:avLst/>
          </a:prstGeom>
          <a:noFill/>
          <a:ln/>
        </p:spPr>
        <p:txBody>
          <a:bodyPr wrap="square" lIns="0" tIns="0" rIns="0" bIns="0" rtlCol="0" anchor="t"/>
          <a:lstStyle/>
          <a:p>
            <a:pPr marL="0" indent="0">
              <a:lnSpc>
                <a:spcPts val="2112"/>
              </a:lnSpc>
              <a:buNone/>
            </a:pPr>
            <a:r>
              <a:rPr lang="en-US" sz="1600" dirty="0">
                <a:solidFill>
                  <a:srgbClr val="000000"/>
                </a:solidFill>
                <a:latin typeface="Calibri" pitchFamily="34" charset="0"/>
                <a:ea typeface="Calibri" pitchFamily="34" charset="-122"/>
                <a:cs typeface="Calibri" pitchFamily="34" charset="-120"/>
              </a:rPr>
              <a:t>The dataset is an order of magnitude larger than the single-institution samples typical of the reviewed literature. A test partition of 10,000 records makes reported metrics stable to within a fraction of a percentage point.</a:t>
            </a:r>
            <a:endParaRPr lang="en-US" sz="1600" dirty="0"/>
          </a:p>
        </p:txBody>
      </p:sp>
      <p:sp>
        <p:nvSpPr>
          <p:cNvPr id="21" name="Text 19"/>
          <p:cNvSpPr/>
          <p:nvPr/>
        </p:nvSpPr>
        <p:spPr>
          <a:xfrm>
            <a:off x="685800" y="8549640"/>
            <a:ext cx="8503920" cy="1097280"/>
          </a:xfrm>
          <a:prstGeom prst="rect">
            <a:avLst/>
          </a:prstGeom>
          <a:noFill/>
          <a:ln/>
        </p:spPr>
        <p:txBody>
          <a:bodyPr wrap="square" lIns="0" tIns="0" rIns="0" bIns="0" rtlCol="0" anchor="t"/>
          <a:lstStyle/>
          <a:p>
            <a:pPr marL="0" indent="0">
              <a:lnSpc>
                <a:spcPts val="2100"/>
              </a:lnSpc>
              <a:buNone/>
            </a:pPr>
            <a:r>
              <a:rPr lang="en-US" sz="1550" i="1" dirty="0">
                <a:solidFill>
                  <a:srgbClr val="5B6B7C"/>
                </a:solidFill>
                <a:latin typeface="Calibri" pitchFamily="34" charset="0"/>
                <a:ea typeface="Calibri" pitchFamily="34" charset="-122"/>
                <a:cs typeface="Calibri" pitchFamily="34" charset="-120"/>
              </a:rPr>
              <a:t>This is a secondary dataset, not primary data collected from Bangladeshi CSE graduates — findings are illustrative of the Bangladeshi context and should be validated on a Bangladesh-specific sample before generalisation (Sections 1.6 &amp; 6.2).</a:t>
            </a:r>
            <a:endParaRPr lang="en-US" sz="1550" dirty="0"/>
          </a:p>
        </p:txBody>
      </p:sp>
      <p:sp>
        <p:nvSpPr>
          <p:cNvPr id="22" name="Shape 20"/>
          <p:cNvSpPr/>
          <p:nvPr/>
        </p:nvSpPr>
        <p:spPr>
          <a:xfrm>
            <a:off x="9738360" y="1874520"/>
            <a:ext cx="7863840" cy="4892040"/>
          </a:xfrm>
          <a:prstGeom prst="roundRect">
            <a:avLst>
              <a:gd name="adj" fmla="val 1682"/>
            </a:avLst>
          </a:prstGeom>
          <a:solidFill>
            <a:srgbClr val="F4F6F8"/>
          </a:solidFill>
          <a:ln w="12700">
            <a:solidFill>
              <a:srgbClr val="D7DCE1"/>
            </a:solidFill>
            <a:prstDash val="solid"/>
          </a:ln>
        </p:spPr>
      </p:sp>
      <p:pic>
        <p:nvPicPr>
          <p:cNvPr id="23" name="Image 0" descr="figs/Figure_5_3.png"/>
          <p:cNvPicPr>
            <a:picLocks noChangeAspect="1"/>
          </p:cNvPicPr>
          <p:nvPr/>
        </p:nvPicPr>
        <p:blipFill>
          <a:blip r:embed="rId3"/>
          <a:stretch>
            <a:fillRect/>
          </a:stretch>
        </p:blipFill>
        <p:spPr>
          <a:xfrm>
            <a:off x="11155680" y="2103120"/>
            <a:ext cx="4937760" cy="3456432"/>
          </a:xfrm>
          <a:prstGeom prst="rect">
            <a:avLst/>
          </a:prstGeom>
        </p:spPr>
      </p:pic>
      <p:sp>
        <p:nvSpPr>
          <p:cNvPr id="24" name="Text 21"/>
          <p:cNvSpPr/>
          <p:nvPr/>
        </p:nvSpPr>
        <p:spPr>
          <a:xfrm>
            <a:off x="9738360" y="5715000"/>
            <a:ext cx="7863840" cy="310896"/>
          </a:xfrm>
          <a:prstGeom prst="rect">
            <a:avLst/>
          </a:prstGeom>
          <a:noFill/>
          <a:ln/>
        </p:spPr>
        <p:txBody>
          <a:bodyPr wrap="square" lIns="0" tIns="0" rIns="0" bIns="0" rtlCol="0" anchor="ctr"/>
          <a:lstStyle/>
          <a:p>
            <a:pPr marL="0" indent="0" algn="ctr">
              <a:buNone/>
            </a:pPr>
            <a:r>
              <a:rPr lang="en-US" sz="1600" i="1" dirty="0">
                <a:solidFill>
                  <a:srgbClr val="5B6B7C"/>
                </a:solidFill>
                <a:latin typeface="Calibri" pitchFamily="34" charset="0"/>
                <a:ea typeface="Calibri" pitchFamily="34" charset="-122"/>
                <a:cs typeface="Calibri" pitchFamily="34" charset="-120"/>
              </a:rPr>
              <a:t>Figure 5.3 — Absolute class distribution of the target variable</a:t>
            </a:r>
            <a:endParaRPr lang="en-US" sz="1600" dirty="0"/>
          </a:p>
        </p:txBody>
      </p:sp>
      <p:sp>
        <p:nvSpPr>
          <p:cNvPr id="25" name="Text 22"/>
          <p:cNvSpPr/>
          <p:nvPr/>
        </p:nvSpPr>
        <p:spPr>
          <a:xfrm>
            <a:off x="10104120" y="6108192"/>
            <a:ext cx="7132320" cy="457200"/>
          </a:xfrm>
          <a:prstGeom prst="rect">
            <a:avLst/>
          </a:prstGeom>
          <a:noFill/>
          <a:ln/>
        </p:spPr>
        <p:txBody>
          <a:bodyPr wrap="square" lIns="0" tIns="0" rIns="0" bIns="0" rtlCol="0" anchor="ctr"/>
          <a:lstStyle/>
          <a:p>
            <a:pPr marL="0" indent="0" algn="ctr">
              <a:buNone/>
            </a:pPr>
            <a:r>
              <a:rPr lang="en-US" sz="1650" b="1" dirty="0">
                <a:solidFill>
                  <a:srgbClr val="000000"/>
                </a:solidFill>
                <a:latin typeface="Calibri" pitchFamily="34" charset="0"/>
                <a:ea typeface="Calibri" pitchFamily="34" charset="-122"/>
                <a:cs typeface="Calibri" pitchFamily="34" charset="-120"/>
              </a:rPr>
              <a:t>39,040 Employable (78.08%)   ·   10,960 Not Employable (21.92%)   ·   ratio 3.56 : 1</a:t>
            </a:r>
            <a:endParaRPr lang="en-US" sz="1650" dirty="0"/>
          </a:p>
        </p:txBody>
      </p:sp>
      <p:sp>
        <p:nvSpPr>
          <p:cNvPr id="26" name="Shape 23"/>
          <p:cNvSpPr/>
          <p:nvPr/>
        </p:nvSpPr>
        <p:spPr>
          <a:xfrm>
            <a:off x="9738360" y="6967728"/>
            <a:ext cx="7863840" cy="2743200"/>
          </a:xfrm>
          <a:prstGeom prst="roundRect">
            <a:avLst>
              <a:gd name="adj" fmla="val 3000"/>
            </a:avLst>
          </a:prstGeom>
          <a:solidFill>
            <a:srgbClr val="E7EBEF"/>
          </a:solidFill>
          <a:ln w="12700">
            <a:solidFill>
              <a:srgbClr val="D7DCE1"/>
            </a:solidFill>
            <a:prstDash val="solid"/>
          </a:ln>
        </p:spPr>
      </p:sp>
      <p:sp>
        <p:nvSpPr>
          <p:cNvPr id="27" name="Text 24"/>
          <p:cNvSpPr/>
          <p:nvPr/>
        </p:nvSpPr>
        <p:spPr>
          <a:xfrm>
            <a:off x="10149840" y="7223760"/>
            <a:ext cx="704088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WHY THE IMBALANCE MATTERS</a:t>
            </a:r>
            <a:endParaRPr lang="en-US" sz="1500" dirty="0"/>
          </a:p>
        </p:txBody>
      </p:sp>
      <p:sp>
        <p:nvSpPr>
          <p:cNvPr id="28" name="Text 25"/>
          <p:cNvSpPr/>
          <p:nvPr/>
        </p:nvSpPr>
        <p:spPr>
          <a:xfrm>
            <a:off x="10149840" y="7680960"/>
            <a:ext cx="7040880" cy="1920240"/>
          </a:xfrm>
          <a:prstGeom prst="rect">
            <a:avLst/>
          </a:prstGeom>
          <a:noFill/>
          <a:ln/>
        </p:spPr>
        <p:txBody>
          <a:bodyPr wrap="square" lIns="0" tIns="0" rIns="0" bIns="0" rtlCol="0" anchor="t"/>
          <a:lstStyle/>
          <a:p>
            <a:pPr marL="0" indent="0">
              <a:lnSpc>
                <a:spcPts val="2046"/>
              </a:lnSpc>
              <a:buNone/>
            </a:pPr>
            <a:r>
              <a:rPr lang="en-US" sz="1550" dirty="0">
                <a:solidFill>
                  <a:srgbClr val="000000"/>
                </a:solidFill>
                <a:latin typeface="Calibri" pitchFamily="34" charset="0"/>
                <a:ea typeface="Calibri" pitchFamily="34" charset="-122"/>
                <a:cs typeface="Calibri" pitchFamily="34" charset="-120"/>
              </a:rPr>
              <a:t>A degenerate classifier predicting Employable for every student would score 78.08% accuracy while learning nothing. Any reported accuracy must be judged against that floor, not against 50%. The minority class is precisely the population the system exists to identify.</a:t>
            </a:r>
            <a:endParaRPr lang="en-US" sz="1550" dirty="0"/>
          </a:p>
          <a:p>
            <a:pPr marL="0" indent="0">
              <a:lnSpc>
                <a:spcPts val="2046"/>
              </a:lnSpc>
              <a:buNone/>
            </a:pPr>
            <a:endParaRPr lang="en-US" sz="1550" dirty="0"/>
          </a:p>
          <a:p>
            <a:pPr marL="0" indent="0">
              <a:lnSpc>
                <a:spcPts val="2046"/>
              </a:lnSpc>
              <a:buNone/>
            </a:pPr>
            <a:r>
              <a:rPr lang="en-US" sz="1550" dirty="0">
                <a:solidFill>
                  <a:srgbClr val="000000"/>
                </a:solidFill>
                <a:latin typeface="Calibri" pitchFamily="34" charset="0"/>
                <a:ea typeface="Calibri" pitchFamily="34" charset="-122"/>
                <a:cs typeface="Calibri" pitchFamily="34" charset="-120"/>
              </a:rPr>
              <a:t>Three corrections were applied: SMOTE within the training folds, scale_pos_weight ≈ 3.56, and a decision threshold lowered from 0.50 to 0.35.</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5  —  FEATURE ANALYSIS</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The 18 Modelling Features Across Six Dimensions</a:t>
            </a:r>
            <a:endParaRPr lang="en-US" sz="3900" dirty="0"/>
          </a:p>
        </p:txBody>
      </p:sp>
      <p:sp>
        <p:nvSpPr>
          <p:cNvPr id="4" name="Text 2"/>
          <p:cNvSpPr/>
          <p:nvPr/>
        </p:nvSpPr>
        <p:spPr>
          <a:xfrm>
            <a:off x="685800" y="1847088"/>
            <a:ext cx="16916400" cy="822960"/>
          </a:xfrm>
          <a:prstGeom prst="rect">
            <a:avLst/>
          </a:prstGeom>
          <a:noFill/>
          <a:ln/>
        </p:spPr>
        <p:txBody>
          <a:bodyPr wrap="square" lIns="0" tIns="0" rIns="0" bIns="0" rtlCol="0" anchor="t"/>
          <a:lstStyle/>
          <a:p>
            <a:pPr marL="0" indent="0">
              <a:lnSpc>
                <a:spcPts val="2700"/>
              </a:lnSpc>
              <a:buNone/>
            </a:pPr>
            <a:r>
              <a:rPr lang="en-US" sz="2000" dirty="0">
                <a:solidFill>
                  <a:srgbClr val="000000"/>
                </a:solidFill>
                <a:latin typeface="Calibri" pitchFamily="34" charset="0"/>
                <a:ea typeface="Calibri" pitchFamily="34" charset="-122"/>
                <a:cs typeface="Calibri" pitchFamily="34" charset="-120"/>
              </a:rPr>
              <a:t>The 22 candidate predictors were reduced to a modelling set of 18 features: six demographic and contextual attributes were deliberately excluded, and two composite features were engineered from attributes already present — giving 14 numeric and 4 categorical features (Table 5.2).</a:t>
            </a:r>
            <a:endParaRPr lang="en-US" sz="2000" dirty="0"/>
          </a:p>
        </p:txBody>
      </p:sp>
      <p:sp>
        <p:nvSpPr>
          <p:cNvPr id="5" name="Shape 3"/>
          <p:cNvSpPr/>
          <p:nvPr/>
        </p:nvSpPr>
        <p:spPr>
          <a:xfrm>
            <a:off x="685800" y="3063240"/>
            <a:ext cx="8229600" cy="1280160"/>
          </a:xfrm>
          <a:prstGeom prst="roundRect">
            <a:avLst>
              <a:gd name="adj" fmla="val 6429"/>
            </a:avLst>
          </a:prstGeom>
          <a:solidFill>
            <a:srgbClr val="F4F6F8"/>
          </a:solidFill>
          <a:ln w="12700">
            <a:solidFill>
              <a:srgbClr val="D7DCE1"/>
            </a:solidFill>
            <a:prstDash val="solid"/>
          </a:ln>
        </p:spPr>
      </p:sp>
      <p:sp>
        <p:nvSpPr>
          <p:cNvPr id="6" name="Text 4"/>
          <p:cNvSpPr/>
          <p:nvPr/>
        </p:nvSpPr>
        <p:spPr>
          <a:xfrm>
            <a:off x="1069848" y="3264408"/>
            <a:ext cx="7461504" cy="365760"/>
          </a:xfrm>
          <a:prstGeom prst="rect">
            <a:avLst/>
          </a:prstGeom>
          <a:noFill/>
          <a:ln/>
        </p:spPr>
        <p:txBody>
          <a:bodyPr wrap="square" lIns="0" tIns="0" rIns="0" bIns="0" rtlCol="0" anchor="ctr"/>
          <a:lstStyle/>
          <a:p>
            <a:pPr marL="0" indent="0">
              <a:buNone/>
            </a:pPr>
            <a:r>
              <a:rPr lang="en-US" sz="1550" b="1" kern="0" spc="140" dirty="0">
                <a:solidFill>
                  <a:srgbClr val="000000"/>
                </a:solidFill>
                <a:latin typeface="Calibri" pitchFamily="34" charset="0"/>
                <a:ea typeface="Calibri" pitchFamily="34" charset="-122"/>
                <a:cs typeface="Calibri" pitchFamily="34" charset="-120"/>
              </a:rPr>
              <a:t>1  ACADEMIC ATTAINMENT &amp; EFFORT</a:t>
            </a:r>
            <a:endParaRPr lang="en-US" sz="1550" dirty="0"/>
          </a:p>
        </p:txBody>
      </p:sp>
      <p:sp>
        <p:nvSpPr>
          <p:cNvPr id="7" name="Text 5"/>
          <p:cNvSpPr/>
          <p:nvPr/>
        </p:nvSpPr>
        <p:spPr>
          <a:xfrm>
            <a:off x="1069848" y="3685032"/>
            <a:ext cx="7461504" cy="457200"/>
          </a:xfrm>
          <a:prstGeom prst="rect">
            <a:avLst/>
          </a:prstGeom>
          <a:noFill/>
          <a:ln/>
        </p:spPr>
        <p:txBody>
          <a:bodyPr wrap="square" lIns="0" tIns="0" rIns="0" bIns="0" rtlCol="0" anchor="ctr"/>
          <a:lstStyle/>
          <a:p>
            <a:pPr marL="0" indent="0">
              <a:buNone/>
            </a:pPr>
            <a:r>
              <a:rPr lang="en-US" sz="1550" dirty="0">
                <a:solidFill>
                  <a:srgbClr val="5B6B7C"/>
                </a:solidFill>
                <a:latin typeface="Calibri" pitchFamily="34" charset="0"/>
                <a:ea typeface="Calibri" pitchFamily="34" charset="-122"/>
                <a:cs typeface="Calibri" pitchFamily="34" charset="-120"/>
              </a:rPr>
              <a:t>CGPA  ·  Academic_Performance  ·  Study_Hours_Per_Week</a:t>
            </a:r>
            <a:endParaRPr lang="en-US" sz="1550" dirty="0"/>
          </a:p>
        </p:txBody>
      </p:sp>
      <p:sp>
        <p:nvSpPr>
          <p:cNvPr id="8" name="Shape 6"/>
          <p:cNvSpPr/>
          <p:nvPr/>
        </p:nvSpPr>
        <p:spPr>
          <a:xfrm>
            <a:off x="9372600" y="3063240"/>
            <a:ext cx="8229600" cy="1280160"/>
          </a:xfrm>
          <a:prstGeom prst="roundRect">
            <a:avLst>
              <a:gd name="adj" fmla="val 6429"/>
            </a:avLst>
          </a:prstGeom>
          <a:solidFill>
            <a:srgbClr val="E7EBEF"/>
          </a:solidFill>
          <a:ln w="12700">
            <a:solidFill>
              <a:srgbClr val="D7DCE1"/>
            </a:solidFill>
            <a:prstDash val="solid"/>
          </a:ln>
        </p:spPr>
      </p:sp>
      <p:sp>
        <p:nvSpPr>
          <p:cNvPr id="9" name="Text 7"/>
          <p:cNvSpPr/>
          <p:nvPr/>
        </p:nvSpPr>
        <p:spPr>
          <a:xfrm>
            <a:off x="9756648" y="3264408"/>
            <a:ext cx="7461504" cy="365760"/>
          </a:xfrm>
          <a:prstGeom prst="rect">
            <a:avLst/>
          </a:prstGeom>
          <a:noFill/>
          <a:ln/>
        </p:spPr>
        <p:txBody>
          <a:bodyPr wrap="square" lIns="0" tIns="0" rIns="0" bIns="0" rtlCol="0" anchor="ctr"/>
          <a:lstStyle/>
          <a:p>
            <a:pPr marL="0" indent="0">
              <a:buNone/>
            </a:pPr>
            <a:r>
              <a:rPr lang="en-US" sz="1550" b="1" kern="0" spc="140" dirty="0">
                <a:solidFill>
                  <a:srgbClr val="000000"/>
                </a:solidFill>
                <a:latin typeface="Calibri" pitchFamily="34" charset="0"/>
                <a:ea typeface="Calibri" pitchFamily="34" charset="-122"/>
                <a:cs typeface="Calibri" pitchFamily="34" charset="-120"/>
              </a:rPr>
              <a:t>2  TECHNICAL PROFICIENCY</a:t>
            </a:r>
            <a:endParaRPr lang="en-US" sz="1550" dirty="0"/>
          </a:p>
        </p:txBody>
      </p:sp>
      <p:sp>
        <p:nvSpPr>
          <p:cNvPr id="10" name="Text 8"/>
          <p:cNvSpPr/>
          <p:nvPr/>
        </p:nvSpPr>
        <p:spPr>
          <a:xfrm>
            <a:off x="9756648" y="3685032"/>
            <a:ext cx="7461504" cy="457200"/>
          </a:xfrm>
          <a:prstGeom prst="rect">
            <a:avLst/>
          </a:prstGeom>
          <a:noFill/>
          <a:ln/>
        </p:spPr>
        <p:txBody>
          <a:bodyPr wrap="square" lIns="0" tIns="0" rIns="0" bIns="0" rtlCol="0" anchor="ctr"/>
          <a:lstStyle/>
          <a:p>
            <a:pPr marL="0" indent="0">
              <a:buNone/>
            </a:pPr>
            <a:r>
              <a:rPr lang="en-US" sz="1550" dirty="0">
                <a:solidFill>
                  <a:srgbClr val="5B6B7C"/>
                </a:solidFill>
                <a:latin typeface="Calibri" pitchFamily="34" charset="0"/>
                <a:ea typeface="Calibri" pitchFamily="34" charset="-122"/>
                <a:cs typeface="Calibri" pitchFamily="34" charset="-120"/>
              </a:rPr>
              <a:t>Programming_Skill</a:t>
            </a:r>
            <a:endParaRPr lang="en-US" sz="1550" dirty="0"/>
          </a:p>
        </p:txBody>
      </p:sp>
      <p:sp>
        <p:nvSpPr>
          <p:cNvPr id="11" name="Shape 9"/>
          <p:cNvSpPr/>
          <p:nvPr/>
        </p:nvSpPr>
        <p:spPr>
          <a:xfrm>
            <a:off x="685800" y="4480560"/>
            <a:ext cx="8229600" cy="1280160"/>
          </a:xfrm>
          <a:prstGeom prst="roundRect">
            <a:avLst>
              <a:gd name="adj" fmla="val 6429"/>
            </a:avLst>
          </a:prstGeom>
          <a:solidFill>
            <a:srgbClr val="F4F6F8"/>
          </a:solidFill>
          <a:ln w="12700">
            <a:solidFill>
              <a:srgbClr val="D7DCE1"/>
            </a:solidFill>
            <a:prstDash val="solid"/>
          </a:ln>
        </p:spPr>
      </p:sp>
      <p:sp>
        <p:nvSpPr>
          <p:cNvPr id="12" name="Text 10"/>
          <p:cNvSpPr/>
          <p:nvPr/>
        </p:nvSpPr>
        <p:spPr>
          <a:xfrm>
            <a:off x="1069848" y="4681728"/>
            <a:ext cx="7461504" cy="365760"/>
          </a:xfrm>
          <a:prstGeom prst="rect">
            <a:avLst/>
          </a:prstGeom>
          <a:noFill/>
          <a:ln/>
        </p:spPr>
        <p:txBody>
          <a:bodyPr wrap="square" lIns="0" tIns="0" rIns="0" bIns="0" rtlCol="0" anchor="ctr"/>
          <a:lstStyle/>
          <a:p>
            <a:pPr marL="0" indent="0">
              <a:buNone/>
            </a:pPr>
            <a:r>
              <a:rPr lang="en-US" sz="1550" b="1" kern="0" spc="140" dirty="0">
                <a:solidFill>
                  <a:srgbClr val="000000"/>
                </a:solidFill>
                <a:latin typeface="Calibri" pitchFamily="34" charset="0"/>
                <a:ea typeface="Calibri" pitchFamily="34" charset="-122"/>
                <a:cs typeface="Calibri" pitchFamily="34" charset="-120"/>
              </a:rPr>
              <a:t>3  PRACTICAL EXPERIENCE</a:t>
            </a:r>
            <a:endParaRPr lang="en-US" sz="1550" dirty="0"/>
          </a:p>
        </p:txBody>
      </p:sp>
      <p:sp>
        <p:nvSpPr>
          <p:cNvPr id="13" name="Text 11"/>
          <p:cNvSpPr/>
          <p:nvPr/>
        </p:nvSpPr>
        <p:spPr>
          <a:xfrm>
            <a:off x="1069848" y="5102352"/>
            <a:ext cx="7461504" cy="457200"/>
          </a:xfrm>
          <a:prstGeom prst="rect">
            <a:avLst/>
          </a:prstGeom>
          <a:noFill/>
          <a:ln/>
        </p:spPr>
        <p:txBody>
          <a:bodyPr wrap="square" lIns="0" tIns="0" rIns="0" bIns="0" rtlCol="0" anchor="ctr"/>
          <a:lstStyle/>
          <a:p>
            <a:pPr marL="0" indent="0">
              <a:buNone/>
            </a:pPr>
            <a:r>
              <a:rPr lang="en-US" sz="1550" dirty="0">
                <a:solidFill>
                  <a:srgbClr val="5B6B7C"/>
                </a:solidFill>
                <a:latin typeface="Calibri" pitchFamily="34" charset="0"/>
                <a:ea typeface="Calibri" pitchFamily="34" charset="-122"/>
                <a:cs typeface="Calibri" pitchFamily="34" charset="-120"/>
              </a:rPr>
              <a:t>Internships  ·  Projects_Completed  ·  Hackathons</a:t>
            </a:r>
            <a:endParaRPr lang="en-US" sz="1550" dirty="0"/>
          </a:p>
        </p:txBody>
      </p:sp>
      <p:sp>
        <p:nvSpPr>
          <p:cNvPr id="14" name="Shape 12"/>
          <p:cNvSpPr/>
          <p:nvPr/>
        </p:nvSpPr>
        <p:spPr>
          <a:xfrm>
            <a:off x="9372600" y="4480560"/>
            <a:ext cx="8229600" cy="1280160"/>
          </a:xfrm>
          <a:prstGeom prst="roundRect">
            <a:avLst>
              <a:gd name="adj" fmla="val 6429"/>
            </a:avLst>
          </a:prstGeom>
          <a:solidFill>
            <a:srgbClr val="E7EBEF"/>
          </a:solidFill>
          <a:ln w="12700">
            <a:solidFill>
              <a:srgbClr val="D7DCE1"/>
            </a:solidFill>
            <a:prstDash val="solid"/>
          </a:ln>
        </p:spPr>
      </p:sp>
      <p:sp>
        <p:nvSpPr>
          <p:cNvPr id="15" name="Text 13"/>
          <p:cNvSpPr/>
          <p:nvPr/>
        </p:nvSpPr>
        <p:spPr>
          <a:xfrm>
            <a:off x="9756648" y="4681728"/>
            <a:ext cx="7461504" cy="365760"/>
          </a:xfrm>
          <a:prstGeom prst="rect">
            <a:avLst/>
          </a:prstGeom>
          <a:noFill/>
          <a:ln/>
        </p:spPr>
        <p:txBody>
          <a:bodyPr wrap="square" lIns="0" tIns="0" rIns="0" bIns="0" rtlCol="0" anchor="ctr"/>
          <a:lstStyle/>
          <a:p>
            <a:pPr marL="0" indent="0">
              <a:buNone/>
            </a:pPr>
            <a:r>
              <a:rPr lang="en-US" sz="1550" b="1" kern="0" spc="140" dirty="0">
                <a:solidFill>
                  <a:srgbClr val="000000"/>
                </a:solidFill>
                <a:latin typeface="Calibri" pitchFamily="34" charset="0"/>
                <a:ea typeface="Calibri" pitchFamily="34" charset="-122"/>
                <a:cs typeface="Calibri" pitchFamily="34" charset="-120"/>
              </a:rPr>
              <a:t>4  CERTIFICATION &amp; PORTFOLIO</a:t>
            </a:r>
            <a:endParaRPr lang="en-US" sz="1550" dirty="0"/>
          </a:p>
        </p:txBody>
      </p:sp>
      <p:sp>
        <p:nvSpPr>
          <p:cNvPr id="16" name="Text 14"/>
          <p:cNvSpPr/>
          <p:nvPr/>
        </p:nvSpPr>
        <p:spPr>
          <a:xfrm>
            <a:off x="9756648" y="5102352"/>
            <a:ext cx="7461504" cy="457200"/>
          </a:xfrm>
          <a:prstGeom prst="rect">
            <a:avLst/>
          </a:prstGeom>
          <a:noFill/>
          <a:ln/>
        </p:spPr>
        <p:txBody>
          <a:bodyPr wrap="square" lIns="0" tIns="0" rIns="0" bIns="0" rtlCol="0" anchor="ctr"/>
          <a:lstStyle/>
          <a:p>
            <a:pPr marL="0" indent="0">
              <a:buNone/>
            </a:pPr>
            <a:r>
              <a:rPr lang="en-US" sz="1550" dirty="0">
                <a:solidFill>
                  <a:srgbClr val="5B6B7C"/>
                </a:solidFill>
                <a:latin typeface="Calibri" pitchFamily="34" charset="0"/>
                <a:ea typeface="Calibri" pitchFamily="34" charset="-122"/>
                <a:cs typeface="Calibri" pitchFamily="34" charset="-120"/>
              </a:rPr>
              <a:t>Certifications  ·  GitHub_Profile</a:t>
            </a:r>
            <a:endParaRPr lang="en-US" sz="1550" dirty="0"/>
          </a:p>
        </p:txBody>
      </p:sp>
      <p:sp>
        <p:nvSpPr>
          <p:cNvPr id="17" name="Shape 15"/>
          <p:cNvSpPr/>
          <p:nvPr/>
        </p:nvSpPr>
        <p:spPr>
          <a:xfrm>
            <a:off x="685800" y="5897880"/>
            <a:ext cx="8229600" cy="1280160"/>
          </a:xfrm>
          <a:prstGeom prst="roundRect">
            <a:avLst>
              <a:gd name="adj" fmla="val 6429"/>
            </a:avLst>
          </a:prstGeom>
          <a:solidFill>
            <a:srgbClr val="F4F6F8"/>
          </a:solidFill>
          <a:ln w="12700">
            <a:solidFill>
              <a:srgbClr val="D7DCE1"/>
            </a:solidFill>
            <a:prstDash val="solid"/>
          </a:ln>
        </p:spPr>
      </p:sp>
      <p:sp>
        <p:nvSpPr>
          <p:cNvPr id="18" name="Text 16"/>
          <p:cNvSpPr/>
          <p:nvPr/>
        </p:nvSpPr>
        <p:spPr>
          <a:xfrm>
            <a:off x="1069848" y="6099048"/>
            <a:ext cx="7461504" cy="365760"/>
          </a:xfrm>
          <a:prstGeom prst="rect">
            <a:avLst/>
          </a:prstGeom>
          <a:noFill/>
          <a:ln/>
        </p:spPr>
        <p:txBody>
          <a:bodyPr wrap="square" lIns="0" tIns="0" rIns="0" bIns="0" rtlCol="0" anchor="ctr"/>
          <a:lstStyle/>
          <a:p>
            <a:pPr marL="0" indent="0">
              <a:buNone/>
            </a:pPr>
            <a:r>
              <a:rPr lang="en-US" sz="1550" b="1" kern="0" spc="140" dirty="0">
                <a:solidFill>
                  <a:srgbClr val="000000"/>
                </a:solidFill>
                <a:latin typeface="Calibri" pitchFamily="34" charset="0"/>
                <a:ea typeface="Calibri" pitchFamily="34" charset="-122"/>
                <a:cs typeface="Calibri" pitchFamily="34" charset="-120"/>
              </a:rPr>
              <a:t>5  SOFT SKILLS</a:t>
            </a:r>
            <a:endParaRPr lang="en-US" sz="1550" dirty="0"/>
          </a:p>
        </p:txBody>
      </p:sp>
      <p:sp>
        <p:nvSpPr>
          <p:cNvPr id="19" name="Text 17"/>
          <p:cNvSpPr/>
          <p:nvPr/>
        </p:nvSpPr>
        <p:spPr>
          <a:xfrm>
            <a:off x="1069848" y="6519672"/>
            <a:ext cx="7461504" cy="457200"/>
          </a:xfrm>
          <a:prstGeom prst="rect">
            <a:avLst/>
          </a:prstGeom>
          <a:noFill/>
          <a:ln/>
        </p:spPr>
        <p:txBody>
          <a:bodyPr wrap="square" lIns="0" tIns="0" rIns="0" bIns="0" rtlCol="0" anchor="ctr"/>
          <a:lstStyle/>
          <a:p>
            <a:pPr marL="0" indent="0">
              <a:buNone/>
            </a:pPr>
            <a:r>
              <a:rPr lang="en-US" sz="1550" dirty="0">
                <a:solidFill>
                  <a:srgbClr val="5B6B7C"/>
                </a:solidFill>
                <a:latin typeface="Calibri" pitchFamily="34" charset="0"/>
                <a:ea typeface="Calibri" pitchFamily="34" charset="-122"/>
                <a:cs typeface="Calibri" pitchFamily="34" charset="-120"/>
              </a:rPr>
              <a:t>Communication_Skills  ·  Problem_Solving  ·  Teamwork  ·  English_Proficiency</a:t>
            </a:r>
            <a:endParaRPr lang="en-US" sz="1550" dirty="0"/>
          </a:p>
        </p:txBody>
      </p:sp>
      <p:sp>
        <p:nvSpPr>
          <p:cNvPr id="20" name="Shape 18"/>
          <p:cNvSpPr/>
          <p:nvPr/>
        </p:nvSpPr>
        <p:spPr>
          <a:xfrm>
            <a:off x="9372600" y="5897880"/>
            <a:ext cx="8229600" cy="1280160"/>
          </a:xfrm>
          <a:prstGeom prst="roundRect">
            <a:avLst>
              <a:gd name="adj" fmla="val 6429"/>
            </a:avLst>
          </a:prstGeom>
          <a:solidFill>
            <a:srgbClr val="E7EBEF"/>
          </a:solidFill>
          <a:ln w="12700">
            <a:solidFill>
              <a:srgbClr val="D7DCE1"/>
            </a:solidFill>
            <a:prstDash val="solid"/>
          </a:ln>
        </p:spPr>
      </p:sp>
      <p:sp>
        <p:nvSpPr>
          <p:cNvPr id="21" name="Text 19"/>
          <p:cNvSpPr/>
          <p:nvPr/>
        </p:nvSpPr>
        <p:spPr>
          <a:xfrm>
            <a:off x="9756648" y="6099048"/>
            <a:ext cx="7461504" cy="365760"/>
          </a:xfrm>
          <a:prstGeom prst="rect">
            <a:avLst/>
          </a:prstGeom>
          <a:noFill/>
          <a:ln/>
        </p:spPr>
        <p:txBody>
          <a:bodyPr wrap="square" lIns="0" tIns="0" rIns="0" bIns="0" rtlCol="0" anchor="ctr"/>
          <a:lstStyle/>
          <a:p>
            <a:pPr marL="0" indent="0">
              <a:buNone/>
            </a:pPr>
            <a:r>
              <a:rPr lang="en-US" sz="1550" b="1" kern="0" spc="140" dirty="0">
                <a:solidFill>
                  <a:srgbClr val="000000"/>
                </a:solidFill>
                <a:latin typeface="Calibri" pitchFamily="34" charset="0"/>
                <a:ea typeface="Calibri" pitchFamily="34" charset="-122"/>
                <a:cs typeface="Calibri" pitchFamily="34" charset="-120"/>
              </a:rPr>
              <a:t>6  CAREER PREPARATION &amp; BEHAVIOUR</a:t>
            </a:r>
            <a:endParaRPr lang="en-US" sz="1550" dirty="0"/>
          </a:p>
        </p:txBody>
      </p:sp>
      <p:sp>
        <p:nvSpPr>
          <p:cNvPr id="22" name="Text 20"/>
          <p:cNvSpPr/>
          <p:nvPr/>
        </p:nvSpPr>
        <p:spPr>
          <a:xfrm>
            <a:off x="9756648" y="6519672"/>
            <a:ext cx="7461504" cy="457200"/>
          </a:xfrm>
          <a:prstGeom prst="rect">
            <a:avLst/>
          </a:prstGeom>
          <a:noFill/>
          <a:ln/>
        </p:spPr>
        <p:txBody>
          <a:bodyPr wrap="square" lIns="0" tIns="0" rIns="0" bIns="0" rtlCol="0" anchor="ctr"/>
          <a:lstStyle/>
          <a:p>
            <a:pPr marL="0" indent="0">
              <a:buNone/>
            </a:pPr>
            <a:r>
              <a:rPr lang="en-US" sz="1550" dirty="0">
                <a:solidFill>
                  <a:srgbClr val="5B6B7C"/>
                </a:solidFill>
                <a:latin typeface="Calibri" pitchFamily="34" charset="0"/>
                <a:ea typeface="Calibri" pitchFamily="34" charset="-122"/>
                <a:cs typeface="Calibri" pitchFamily="34" charset="-120"/>
              </a:rPr>
              <a:t>Resume_Score  ·  Interview_Score  ·  Leadership_Experience</a:t>
            </a:r>
            <a:endParaRPr lang="en-US" sz="1550" dirty="0"/>
          </a:p>
        </p:txBody>
      </p:sp>
      <p:sp>
        <p:nvSpPr>
          <p:cNvPr id="23" name="Shape 21"/>
          <p:cNvSpPr/>
          <p:nvPr/>
        </p:nvSpPr>
        <p:spPr>
          <a:xfrm>
            <a:off x="685800" y="7406640"/>
            <a:ext cx="8229600" cy="2286000"/>
          </a:xfrm>
          <a:prstGeom prst="roundRect">
            <a:avLst>
              <a:gd name="adj" fmla="val 3600"/>
            </a:avLst>
          </a:prstGeom>
          <a:solidFill>
            <a:srgbClr val="E7EBEF"/>
          </a:solidFill>
          <a:ln w="12700">
            <a:solidFill>
              <a:srgbClr val="D7DCE1"/>
            </a:solidFill>
            <a:prstDash val="solid"/>
          </a:ln>
        </p:spPr>
      </p:sp>
      <p:sp>
        <p:nvSpPr>
          <p:cNvPr id="24" name="Text 22"/>
          <p:cNvSpPr/>
          <p:nvPr/>
        </p:nvSpPr>
        <p:spPr>
          <a:xfrm>
            <a:off x="1069848" y="7644384"/>
            <a:ext cx="7461504"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EXCLUDED — 6 ATTRIBUTES</a:t>
            </a:r>
            <a:endParaRPr lang="en-US" sz="1500" dirty="0"/>
          </a:p>
        </p:txBody>
      </p:sp>
      <p:sp>
        <p:nvSpPr>
          <p:cNvPr id="25" name="Text 23"/>
          <p:cNvSpPr/>
          <p:nvPr/>
        </p:nvSpPr>
        <p:spPr>
          <a:xfrm>
            <a:off x="1069848" y="8092440"/>
            <a:ext cx="7461504" cy="146304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Age, Gender, University_Year and Major are demographic or contextual descriptors a student cannot change at the point of intervention; retaining them would let the model encode group membership rather than modifiable preparation behaviour, and would risk exactly the subgroup bias identified as gap G5. Attendance_Percentage and LinkedIn_Profile were excluded as optional attributes not consistently interpretable across institutions.</a:t>
            </a:r>
            <a:endParaRPr lang="en-US" sz="1450" dirty="0"/>
          </a:p>
        </p:txBody>
      </p:sp>
      <p:sp>
        <p:nvSpPr>
          <p:cNvPr id="26" name="Shape 24"/>
          <p:cNvSpPr/>
          <p:nvPr/>
        </p:nvSpPr>
        <p:spPr>
          <a:xfrm>
            <a:off x="9372600" y="7406640"/>
            <a:ext cx="8229600" cy="2286000"/>
          </a:xfrm>
          <a:prstGeom prst="roundRect">
            <a:avLst>
              <a:gd name="adj" fmla="val 3600"/>
            </a:avLst>
          </a:prstGeom>
          <a:solidFill>
            <a:srgbClr val="F4F6F8"/>
          </a:solidFill>
          <a:ln w="12700">
            <a:solidFill>
              <a:srgbClr val="D7DCE1"/>
            </a:solidFill>
            <a:prstDash val="solid"/>
          </a:ln>
        </p:spPr>
      </p:sp>
      <p:sp>
        <p:nvSpPr>
          <p:cNvPr id="27" name="Text 25"/>
          <p:cNvSpPr/>
          <p:nvPr/>
        </p:nvSpPr>
        <p:spPr>
          <a:xfrm>
            <a:off x="9756648" y="7644384"/>
            <a:ext cx="7461504"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ENGINEERED — 2 FEATURES</a:t>
            </a:r>
            <a:endParaRPr lang="en-US" sz="1500" dirty="0"/>
          </a:p>
        </p:txBody>
      </p:sp>
      <p:sp>
        <p:nvSpPr>
          <p:cNvPr id="28" name="Text 26"/>
          <p:cNvSpPr/>
          <p:nvPr/>
        </p:nvSpPr>
        <p:spPr>
          <a:xfrm>
            <a:off x="9756648" y="8092440"/>
            <a:ext cx="7461504" cy="146304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Overall_Preparedness_Index = (Interview_Score × 0.7) + (Internships × 0.3), a weighted readiness measure. Skills_per_Project = Programming_Skill ÷ (Projects_Completed + 1), distinguishing concentrated skill from high project volume. Both derive entirely from existing attributes and introduce no external information.</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5  —  IMPLEMENTATION</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Split, Preprocessing &amp; the Implemented Pipeline</a:t>
            </a:r>
            <a:endParaRPr lang="en-US" sz="3900" dirty="0"/>
          </a:p>
        </p:txBody>
      </p:sp>
      <p:sp>
        <p:nvSpPr>
          <p:cNvPr id="4" name="Shape 2"/>
          <p:cNvSpPr/>
          <p:nvPr/>
        </p:nvSpPr>
        <p:spPr>
          <a:xfrm>
            <a:off x="685800" y="1874520"/>
            <a:ext cx="8503920" cy="3017520"/>
          </a:xfrm>
          <a:prstGeom prst="roundRect">
            <a:avLst>
              <a:gd name="adj" fmla="val 2727"/>
            </a:avLst>
          </a:prstGeom>
          <a:solidFill>
            <a:srgbClr val="F4F6F8"/>
          </a:solidFill>
          <a:ln w="12700">
            <a:solidFill>
              <a:srgbClr val="D7DCE1"/>
            </a:solidFill>
            <a:prstDash val="solid"/>
          </a:ln>
        </p:spPr>
      </p:sp>
      <p:pic>
        <p:nvPicPr>
          <p:cNvPr id="5" name="Image 0" descr="figs/Figure_5_5.png"/>
          <p:cNvPicPr>
            <a:picLocks noChangeAspect="1"/>
          </p:cNvPicPr>
          <p:nvPr/>
        </p:nvPicPr>
        <p:blipFill>
          <a:blip r:embed="rId3"/>
          <a:stretch>
            <a:fillRect/>
          </a:stretch>
        </p:blipFill>
        <p:spPr>
          <a:xfrm>
            <a:off x="1005840" y="2084832"/>
            <a:ext cx="7863840" cy="2231136"/>
          </a:xfrm>
          <a:prstGeom prst="rect">
            <a:avLst/>
          </a:prstGeom>
        </p:spPr>
      </p:pic>
      <p:sp>
        <p:nvSpPr>
          <p:cNvPr id="6" name="Text 3"/>
          <p:cNvSpPr/>
          <p:nvPr/>
        </p:nvSpPr>
        <p:spPr>
          <a:xfrm>
            <a:off x="685800" y="4434840"/>
            <a:ext cx="8503920" cy="310896"/>
          </a:xfrm>
          <a:prstGeom prst="rect">
            <a:avLst/>
          </a:prstGeom>
          <a:noFill/>
          <a:ln/>
        </p:spPr>
        <p:txBody>
          <a:bodyPr wrap="square" lIns="0" tIns="0" rIns="0" bIns="0" rtlCol="0" anchor="ctr"/>
          <a:lstStyle/>
          <a:p>
            <a:pPr marL="0" indent="0" algn="ctr">
              <a:buNone/>
            </a:pPr>
            <a:r>
              <a:rPr lang="en-US" sz="1600" i="1" dirty="0">
                <a:solidFill>
                  <a:srgbClr val="5B6B7C"/>
                </a:solidFill>
                <a:latin typeface="Calibri" pitchFamily="34" charset="0"/>
                <a:ea typeface="Calibri" pitchFamily="34" charset="-122"/>
                <a:cs typeface="Calibri" pitchFamily="34" charset="-120"/>
              </a:rPr>
              <a:t>Figure 5.5 — Stratified 80:20 partition with class composition</a:t>
            </a:r>
            <a:endParaRPr lang="en-US" sz="1600" dirty="0"/>
          </a:p>
        </p:txBody>
      </p:sp>
      <p:sp>
        <p:nvSpPr>
          <p:cNvPr id="7" name="Shape 4"/>
          <p:cNvSpPr/>
          <p:nvPr/>
        </p:nvSpPr>
        <p:spPr>
          <a:xfrm>
            <a:off x="685800" y="5120640"/>
            <a:ext cx="8503920" cy="4572000"/>
          </a:xfrm>
          <a:prstGeom prst="roundRect">
            <a:avLst>
              <a:gd name="adj" fmla="val 1800"/>
            </a:avLst>
          </a:prstGeom>
          <a:solidFill>
            <a:srgbClr val="E7EBEF"/>
          </a:solidFill>
          <a:ln w="12700">
            <a:solidFill>
              <a:srgbClr val="D7DCE1"/>
            </a:solidFill>
            <a:prstDash val="solid"/>
          </a:ln>
        </p:spPr>
      </p:sp>
      <p:sp>
        <p:nvSpPr>
          <p:cNvPr id="8" name="Text 5"/>
          <p:cNvSpPr/>
          <p:nvPr/>
        </p:nvSpPr>
        <p:spPr>
          <a:xfrm>
            <a:off x="1097280" y="5394960"/>
            <a:ext cx="768096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PREPROCESSING — FITTED INSIDE THE PIPELINE</a:t>
            </a:r>
            <a:endParaRPr lang="en-US" sz="1500" dirty="0"/>
          </a:p>
        </p:txBody>
      </p:sp>
      <p:sp>
        <p:nvSpPr>
          <p:cNvPr id="9" name="Text 6"/>
          <p:cNvSpPr/>
          <p:nvPr/>
        </p:nvSpPr>
        <p:spPr>
          <a:xfrm>
            <a:off x="1097280" y="5852160"/>
            <a:ext cx="7680960" cy="3657600"/>
          </a:xfrm>
          <a:prstGeom prst="rect">
            <a:avLst/>
          </a:prstGeom>
          <a:noFill/>
          <a:ln/>
        </p:spPr>
        <p:txBody>
          <a:bodyPr wrap="square" lIns="0" tIns="0" rIns="0" bIns="0" rtlCol="0" anchor="t"/>
          <a:lstStyle/>
          <a:p>
            <a:pPr algn="just">
              <a:lnSpc>
                <a:spcPts val="2046"/>
              </a:lnSpc>
            </a:pPr>
            <a:r>
              <a:rPr lang="en-US" sz="1500" dirty="0">
                <a:solidFill>
                  <a:srgbClr val="000000"/>
                </a:solidFill>
                <a:latin typeface="Calibri" pitchFamily="34" charset="0"/>
                <a:ea typeface="Calibri" pitchFamily="34" charset="-122"/>
                <a:cs typeface="Calibri" pitchFamily="34" charset="-120"/>
              </a:rPr>
              <a:t>Preprocessing is implemented using a scikit-learn ColumnTransformer embedded directly within the modelling pipeline to prevent data leakage. The 14 numeric features are processed using training-set median imputation followed by StandardScaler, while the 4 categorical features use modal imputation and OneHotEncoder with handle_unknown='ignore'. The target variable is encoded using LabelEncoder, mapping Employable to 0 and Not Employable to 1 alphabetically. SMOTE is also included as a pipeline step, ensuring that synthetic minority samples are generated exclusively from the training data.</a:t>
            </a:r>
            <a:endParaRPr lang="en-US" sz="1500" dirty="0"/>
          </a:p>
        </p:txBody>
      </p:sp>
      <p:sp>
        <p:nvSpPr>
          <p:cNvPr id="10" name="Shape 7"/>
          <p:cNvSpPr/>
          <p:nvPr/>
        </p:nvSpPr>
        <p:spPr>
          <a:xfrm>
            <a:off x="9738360" y="1874520"/>
            <a:ext cx="7863840" cy="4434840"/>
          </a:xfrm>
          <a:prstGeom prst="roundRect">
            <a:avLst>
              <a:gd name="adj" fmla="val 1856"/>
            </a:avLst>
          </a:prstGeom>
          <a:solidFill>
            <a:srgbClr val="F4F6F8"/>
          </a:solidFill>
          <a:ln w="12700">
            <a:solidFill>
              <a:srgbClr val="D7DCE1"/>
            </a:solidFill>
            <a:prstDash val="solid"/>
          </a:ln>
        </p:spPr>
      </p:sp>
      <p:sp>
        <p:nvSpPr>
          <p:cNvPr id="11" name="Text 8"/>
          <p:cNvSpPr/>
          <p:nvPr/>
        </p:nvSpPr>
        <p:spPr>
          <a:xfrm>
            <a:off x="10149840" y="2148840"/>
            <a:ext cx="704088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THE EXECUTED PIPELINE, STAGE BY STAGE</a:t>
            </a:r>
            <a:endParaRPr lang="en-US" sz="1500" dirty="0"/>
          </a:p>
        </p:txBody>
      </p:sp>
      <p:sp>
        <p:nvSpPr>
          <p:cNvPr id="12" name="Shape 9"/>
          <p:cNvSpPr/>
          <p:nvPr/>
        </p:nvSpPr>
        <p:spPr>
          <a:xfrm>
            <a:off x="10177272" y="2734056"/>
            <a:ext cx="384048" cy="384048"/>
          </a:xfrm>
          <a:prstGeom prst="ellipse">
            <a:avLst/>
          </a:prstGeom>
          <a:solidFill>
            <a:srgbClr val="FFFFFF"/>
          </a:solidFill>
          <a:ln w="12700">
            <a:solidFill>
              <a:srgbClr val="D7DCE1"/>
            </a:solidFill>
            <a:prstDash val="solid"/>
          </a:ln>
        </p:spPr>
      </p:sp>
      <p:sp>
        <p:nvSpPr>
          <p:cNvPr id="13" name="Text 10"/>
          <p:cNvSpPr/>
          <p:nvPr/>
        </p:nvSpPr>
        <p:spPr>
          <a:xfrm>
            <a:off x="10177272" y="2734056"/>
            <a:ext cx="384048" cy="384048"/>
          </a:xfrm>
          <a:prstGeom prst="rect">
            <a:avLst/>
          </a:prstGeom>
          <a:noFill/>
          <a:ln/>
        </p:spPr>
        <p:txBody>
          <a:bodyPr wrap="square" lIns="0" tIns="0" rIns="0" bIns="0"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1</a:t>
            </a:r>
            <a:endParaRPr lang="en-US" sz="1300" dirty="0"/>
          </a:p>
        </p:txBody>
      </p:sp>
      <p:sp>
        <p:nvSpPr>
          <p:cNvPr id="14" name="Text 11"/>
          <p:cNvSpPr/>
          <p:nvPr/>
        </p:nvSpPr>
        <p:spPr>
          <a:xfrm>
            <a:off x="10744200" y="2651760"/>
            <a:ext cx="6400800" cy="548640"/>
          </a:xfrm>
          <a:prstGeom prst="rect">
            <a:avLst/>
          </a:prstGeom>
          <a:noFill/>
          <a:ln/>
        </p:spPr>
        <p:txBody>
          <a:bodyPr wrap="square" lIns="0" tIns="0" rIns="0" bIns="0" rtlCol="0" anchor="ctr"/>
          <a:lstStyle/>
          <a:p>
            <a:pPr marL="0" indent="0">
              <a:lnSpc>
                <a:spcPts val="1900"/>
              </a:lnSpc>
              <a:buNone/>
            </a:pPr>
            <a:r>
              <a:rPr lang="en-US" sz="1500" dirty="0">
                <a:solidFill>
                  <a:srgbClr val="000000"/>
                </a:solidFill>
                <a:latin typeface="Calibri" pitchFamily="34" charset="0"/>
                <a:ea typeface="Calibri" pitchFamily="34" charset="-122"/>
                <a:cs typeface="Calibri" pitchFamily="34" charset="-120"/>
              </a:rPr>
              <a:t>Load cleaned CSV, deduplicate, strip whitespace from string columns</a:t>
            </a:r>
            <a:endParaRPr lang="en-US" sz="1500" dirty="0"/>
          </a:p>
        </p:txBody>
      </p:sp>
      <p:sp>
        <p:nvSpPr>
          <p:cNvPr id="15" name="Shape 12"/>
          <p:cNvSpPr/>
          <p:nvPr/>
        </p:nvSpPr>
        <p:spPr>
          <a:xfrm>
            <a:off x="10177272" y="3300984"/>
            <a:ext cx="384048" cy="384048"/>
          </a:xfrm>
          <a:prstGeom prst="ellipse">
            <a:avLst/>
          </a:prstGeom>
          <a:solidFill>
            <a:srgbClr val="FFFFFF"/>
          </a:solidFill>
          <a:ln w="12700">
            <a:solidFill>
              <a:srgbClr val="D7DCE1"/>
            </a:solidFill>
            <a:prstDash val="solid"/>
          </a:ln>
        </p:spPr>
      </p:sp>
      <p:sp>
        <p:nvSpPr>
          <p:cNvPr id="16" name="Text 13"/>
          <p:cNvSpPr/>
          <p:nvPr/>
        </p:nvSpPr>
        <p:spPr>
          <a:xfrm>
            <a:off x="10177272" y="3300984"/>
            <a:ext cx="384048" cy="384048"/>
          </a:xfrm>
          <a:prstGeom prst="rect">
            <a:avLst/>
          </a:prstGeom>
          <a:noFill/>
          <a:ln/>
        </p:spPr>
        <p:txBody>
          <a:bodyPr wrap="square" lIns="0" tIns="0" rIns="0" bIns="0"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2</a:t>
            </a:r>
            <a:endParaRPr lang="en-US" sz="1300" dirty="0"/>
          </a:p>
        </p:txBody>
      </p:sp>
      <p:sp>
        <p:nvSpPr>
          <p:cNvPr id="17" name="Text 14"/>
          <p:cNvSpPr/>
          <p:nvPr/>
        </p:nvSpPr>
        <p:spPr>
          <a:xfrm>
            <a:off x="10744200" y="3218688"/>
            <a:ext cx="6400800" cy="548640"/>
          </a:xfrm>
          <a:prstGeom prst="rect">
            <a:avLst/>
          </a:prstGeom>
          <a:noFill/>
          <a:ln/>
        </p:spPr>
        <p:txBody>
          <a:bodyPr wrap="square" lIns="0" tIns="0" rIns="0" bIns="0" rtlCol="0" anchor="ctr"/>
          <a:lstStyle/>
          <a:p>
            <a:pPr marL="0" indent="0">
              <a:lnSpc>
                <a:spcPts val="1900"/>
              </a:lnSpc>
              <a:buNone/>
            </a:pPr>
            <a:r>
              <a:rPr lang="en-US" sz="1500" dirty="0">
                <a:solidFill>
                  <a:srgbClr val="000000"/>
                </a:solidFill>
                <a:latin typeface="Calibri" pitchFamily="34" charset="0"/>
                <a:ea typeface="Calibri" pitchFamily="34" charset="-122"/>
                <a:cs typeface="Calibri" pitchFamily="34" charset="-120"/>
              </a:rPr>
              <a:t>Construct the two composite features</a:t>
            </a:r>
            <a:endParaRPr lang="en-US" sz="1500" dirty="0"/>
          </a:p>
        </p:txBody>
      </p:sp>
      <p:sp>
        <p:nvSpPr>
          <p:cNvPr id="18" name="Shape 15"/>
          <p:cNvSpPr/>
          <p:nvPr/>
        </p:nvSpPr>
        <p:spPr>
          <a:xfrm>
            <a:off x="10177272" y="3867912"/>
            <a:ext cx="384048" cy="384048"/>
          </a:xfrm>
          <a:prstGeom prst="ellipse">
            <a:avLst/>
          </a:prstGeom>
          <a:solidFill>
            <a:srgbClr val="FFFFFF"/>
          </a:solidFill>
          <a:ln w="12700">
            <a:solidFill>
              <a:srgbClr val="D7DCE1"/>
            </a:solidFill>
            <a:prstDash val="solid"/>
          </a:ln>
        </p:spPr>
      </p:sp>
      <p:sp>
        <p:nvSpPr>
          <p:cNvPr id="19" name="Text 16"/>
          <p:cNvSpPr/>
          <p:nvPr/>
        </p:nvSpPr>
        <p:spPr>
          <a:xfrm>
            <a:off x="10177272" y="3867912"/>
            <a:ext cx="384048" cy="384048"/>
          </a:xfrm>
          <a:prstGeom prst="rect">
            <a:avLst/>
          </a:prstGeom>
          <a:noFill/>
          <a:ln/>
        </p:spPr>
        <p:txBody>
          <a:bodyPr wrap="square" lIns="0" tIns="0" rIns="0" bIns="0"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3</a:t>
            </a:r>
            <a:endParaRPr lang="en-US" sz="1300" dirty="0"/>
          </a:p>
        </p:txBody>
      </p:sp>
      <p:sp>
        <p:nvSpPr>
          <p:cNvPr id="20" name="Text 17"/>
          <p:cNvSpPr/>
          <p:nvPr/>
        </p:nvSpPr>
        <p:spPr>
          <a:xfrm>
            <a:off x="10744200" y="3785616"/>
            <a:ext cx="6400800" cy="548640"/>
          </a:xfrm>
          <a:prstGeom prst="rect">
            <a:avLst/>
          </a:prstGeom>
          <a:noFill/>
          <a:ln/>
        </p:spPr>
        <p:txBody>
          <a:bodyPr wrap="square" lIns="0" tIns="0" rIns="0" bIns="0" rtlCol="0" anchor="ctr"/>
          <a:lstStyle/>
          <a:p>
            <a:pPr marL="0" indent="0">
              <a:lnSpc>
                <a:spcPts val="1900"/>
              </a:lnSpc>
              <a:buNone/>
            </a:pPr>
            <a:r>
              <a:rPr lang="en-US" sz="1500" dirty="0">
                <a:solidFill>
                  <a:srgbClr val="000000"/>
                </a:solidFill>
                <a:latin typeface="Calibri" pitchFamily="34" charset="0"/>
                <a:ea typeface="Calibri" pitchFamily="34" charset="-122"/>
                <a:cs typeface="Calibri" pitchFamily="34" charset="-120"/>
              </a:rPr>
              <a:t>Drop target and the six optional attributes → 18-feature matrix; label-encode target</a:t>
            </a:r>
            <a:endParaRPr lang="en-US" sz="1500" dirty="0"/>
          </a:p>
        </p:txBody>
      </p:sp>
      <p:sp>
        <p:nvSpPr>
          <p:cNvPr id="21" name="Shape 18"/>
          <p:cNvSpPr/>
          <p:nvPr/>
        </p:nvSpPr>
        <p:spPr>
          <a:xfrm>
            <a:off x="10177272" y="4434840"/>
            <a:ext cx="384048" cy="384048"/>
          </a:xfrm>
          <a:prstGeom prst="ellipse">
            <a:avLst/>
          </a:prstGeom>
          <a:solidFill>
            <a:srgbClr val="FFFFFF"/>
          </a:solidFill>
          <a:ln w="12700">
            <a:solidFill>
              <a:srgbClr val="D7DCE1"/>
            </a:solidFill>
            <a:prstDash val="solid"/>
          </a:ln>
        </p:spPr>
      </p:sp>
      <p:sp>
        <p:nvSpPr>
          <p:cNvPr id="22" name="Text 19"/>
          <p:cNvSpPr/>
          <p:nvPr/>
        </p:nvSpPr>
        <p:spPr>
          <a:xfrm>
            <a:off x="10177272" y="4434840"/>
            <a:ext cx="384048" cy="384048"/>
          </a:xfrm>
          <a:prstGeom prst="rect">
            <a:avLst/>
          </a:prstGeom>
          <a:noFill/>
          <a:ln/>
        </p:spPr>
        <p:txBody>
          <a:bodyPr wrap="square" lIns="0" tIns="0" rIns="0" bIns="0"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4</a:t>
            </a:r>
            <a:endParaRPr lang="en-US" sz="1300" dirty="0"/>
          </a:p>
        </p:txBody>
      </p:sp>
      <p:sp>
        <p:nvSpPr>
          <p:cNvPr id="23" name="Text 20"/>
          <p:cNvSpPr/>
          <p:nvPr/>
        </p:nvSpPr>
        <p:spPr>
          <a:xfrm>
            <a:off x="10744200" y="4352544"/>
            <a:ext cx="6400800" cy="548640"/>
          </a:xfrm>
          <a:prstGeom prst="rect">
            <a:avLst/>
          </a:prstGeom>
          <a:noFill/>
          <a:ln/>
        </p:spPr>
        <p:txBody>
          <a:bodyPr wrap="square" lIns="0" tIns="0" rIns="0" bIns="0" rtlCol="0" anchor="ctr"/>
          <a:lstStyle/>
          <a:p>
            <a:pPr marL="0" indent="0">
              <a:lnSpc>
                <a:spcPts val="1900"/>
              </a:lnSpc>
              <a:buNone/>
            </a:pPr>
            <a:r>
              <a:rPr lang="en-US" sz="1500" dirty="0">
                <a:solidFill>
                  <a:srgbClr val="000000"/>
                </a:solidFill>
                <a:latin typeface="Calibri" pitchFamily="34" charset="0"/>
                <a:ea typeface="Calibri" pitchFamily="34" charset="-122"/>
                <a:cs typeface="Calibri" pitchFamily="34" charset="-120"/>
              </a:rPr>
              <a:t>Stratified 80:20 split (test_size = 0.2, stratify = y, random_state = 42)</a:t>
            </a:r>
            <a:endParaRPr lang="en-US" sz="1500" dirty="0"/>
          </a:p>
        </p:txBody>
      </p:sp>
      <p:sp>
        <p:nvSpPr>
          <p:cNvPr id="24" name="Shape 21"/>
          <p:cNvSpPr/>
          <p:nvPr/>
        </p:nvSpPr>
        <p:spPr>
          <a:xfrm>
            <a:off x="10177272" y="5001768"/>
            <a:ext cx="384048" cy="384048"/>
          </a:xfrm>
          <a:prstGeom prst="ellipse">
            <a:avLst/>
          </a:prstGeom>
          <a:solidFill>
            <a:srgbClr val="FFFFFF"/>
          </a:solidFill>
          <a:ln w="12700">
            <a:solidFill>
              <a:srgbClr val="D7DCE1"/>
            </a:solidFill>
            <a:prstDash val="solid"/>
          </a:ln>
        </p:spPr>
      </p:sp>
      <p:sp>
        <p:nvSpPr>
          <p:cNvPr id="25" name="Text 22"/>
          <p:cNvSpPr/>
          <p:nvPr/>
        </p:nvSpPr>
        <p:spPr>
          <a:xfrm>
            <a:off x="10177272" y="5001768"/>
            <a:ext cx="384048" cy="384048"/>
          </a:xfrm>
          <a:prstGeom prst="rect">
            <a:avLst/>
          </a:prstGeom>
          <a:noFill/>
          <a:ln/>
        </p:spPr>
        <p:txBody>
          <a:bodyPr wrap="square" lIns="0" tIns="0" rIns="0" bIns="0"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5</a:t>
            </a:r>
            <a:endParaRPr lang="en-US" sz="1300" dirty="0"/>
          </a:p>
        </p:txBody>
      </p:sp>
      <p:sp>
        <p:nvSpPr>
          <p:cNvPr id="26" name="Text 23"/>
          <p:cNvSpPr/>
          <p:nvPr/>
        </p:nvSpPr>
        <p:spPr>
          <a:xfrm>
            <a:off x="10744200" y="4919472"/>
            <a:ext cx="6400800" cy="548640"/>
          </a:xfrm>
          <a:prstGeom prst="rect">
            <a:avLst/>
          </a:prstGeom>
          <a:noFill/>
          <a:ln/>
        </p:spPr>
        <p:txBody>
          <a:bodyPr wrap="square" lIns="0" tIns="0" rIns="0" bIns="0" rtlCol="0" anchor="ctr"/>
          <a:lstStyle/>
          <a:p>
            <a:pPr marL="0" indent="0">
              <a:lnSpc>
                <a:spcPts val="1900"/>
              </a:lnSpc>
              <a:buNone/>
            </a:pPr>
            <a:r>
              <a:rPr lang="en-US" sz="1500" dirty="0">
                <a:solidFill>
                  <a:srgbClr val="000000"/>
                </a:solidFill>
                <a:latin typeface="Calibri" pitchFamily="34" charset="0"/>
                <a:ea typeface="Calibri" pitchFamily="34" charset="-122"/>
                <a:cs typeface="Calibri" pitchFamily="34" charset="-120"/>
              </a:rPr>
              <a:t>ColumnTransformer preprocessing → SMOTE → XGBoost classifier, as one pipeline object</a:t>
            </a:r>
            <a:endParaRPr lang="en-US" sz="1500" dirty="0"/>
          </a:p>
        </p:txBody>
      </p:sp>
      <p:sp>
        <p:nvSpPr>
          <p:cNvPr id="27" name="Shape 24"/>
          <p:cNvSpPr/>
          <p:nvPr/>
        </p:nvSpPr>
        <p:spPr>
          <a:xfrm>
            <a:off x="10177272" y="5568696"/>
            <a:ext cx="384048" cy="384048"/>
          </a:xfrm>
          <a:prstGeom prst="ellipse">
            <a:avLst/>
          </a:prstGeom>
          <a:solidFill>
            <a:srgbClr val="FFFFFF"/>
          </a:solidFill>
          <a:ln w="12700">
            <a:solidFill>
              <a:srgbClr val="D7DCE1"/>
            </a:solidFill>
            <a:prstDash val="solid"/>
          </a:ln>
        </p:spPr>
      </p:sp>
      <p:sp>
        <p:nvSpPr>
          <p:cNvPr id="28" name="Text 25"/>
          <p:cNvSpPr/>
          <p:nvPr/>
        </p:nvSpPr>
        <p:spPr>
          <a:xfrm>
            <a:off x="10177272" y="5568696"/>
            <a:ext cx="384048" cy="384048"/>
          </a:xfrm>
          <a:prstGeom prst="rect">
            <a:avLst/>
          </a:prstGeom>
          <a:noFill/>
          <a:ln/>
        </p:spPr>
        <p:txBody>
          <a:bodyPr wrap="square" lIns="0" tIns="0" rIns="0" bIns="0"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6</a:t>
            </a:r>
            <a:endParaRPr lang="en-US" sz="1300" dirty="0"/>
          </a:p>
        </p:txBody>
      </p:sp>
      <p:sp>
        <p:nvSpPr>
          <p:cNvPr id="29" name="Text 26"/>
          <p:cNvSpPr/>
          <p:nvPr/>
        </p:nvSpPr>
        <p:spPr>
          <a:xfrm>
            <a:off x="10744200" y="5486400"/>
            <a:ext cx="6400800" cy="548640"/>
          </a:xfrm>
          <a:prstGeom prst="rect">
            <a:avLst/>
          </a:prstGeom>
          <a:noFill/>
          <a:ln/>
        </p:spPr>
        <p:txBody>
          <a:bodyPr wrap="square" lIns="0" tIns="0" rIns="0" bIns="0" rtlCol="0" anchor="ctr"/>
          <a:lstStyle/>
          <a:p>
            <a:pPr marL="0" indent="0">
              <a:lnSpc>
                <a:spcPts val="1900"/>
              </a:lnSpc>
              <a:buNone/>
            </a:pPr>
            <a:r>
              <a:rPr lang="en-US" sz="1500" dirty="0">
                <a:solidFill>
                  <a:srgbClr val="000000"/>
                </a:solidFill>
                <a:latin typeface="Calibri" pitchFamily="34" charset="0"/>
                <a:ea typeface="Calibri" pitchFamily="34" charset="-122"/>
                <a:cs typeface="Calibri" pitchFamily="34" charset="-120"/>
              </a:rPr>
              <a:t>Predict via predict_proba, then apply the custom decision threshold of 0.35</a:t>
            </a:r>
            <a:endParaRPr lang="en-US" sz="1500" dirty="0"/>
          </a:p>
        </p:txBody>
      </p:sp>
      <p:sp>
        <p:nvSpPr>
          <p:cNvPr id="30" name="Shape 27"/>
          <p:cNvSpPr/>
          <p:nvPr/>
        </p:nvSpPr>
        <p:spPr>
          <a:xfrm>
            <a:off x="9738360" y="6492240"/>
            <a:ext cx="7863840" cy="2148840"/>
          </a:xfrm>
          <a:prstGeom prst="roundRect">
            <a:avLst>
              <a:gd name="adj" fmla="val 3830"/>
            </a:avLst>
          </a:prstGeom>
          <a:solidFill>
            <a:srgbClr val="E7EBEF"/>
          </a:solidFill>
          <a:ln w="12700">
            <a:solidFill>
              <a:srgbClr val="D7DCE1"/>
            </a:solidFill>
            <a:prstDash val="solid"/>
          </a:ln>
        </p:spPr>
      </p:sp>
      <p:sp>
        <p:nvSpPr>
          <p:cNvPr id="31" name="Text 28"/>
          <p:cNvSpPr/>
          <p:nvPr/>
        </p:nvSpPr>
        <p:spPr>
          <a:xfrm>
            <a:off x="10149840" y="6720840"/>
            <a:ext cx="704088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MODEL CONFIGURATION</a:t>
            </a:r>
            <a:endParaRPr lang="en-US" sz="1500" dirty="0"/>
          </a:p>
        </p:txBody>
      </p:sp>
      <p:sp>
        <p:nvSpPr>
          <p:cNvPr id="32" name="Text 29"/>
          <p:cNvSpPr/>
          <p:nvPr/>
        </p:nvSpPr>
        <p:spPr>
          <a:xfrm>
            <a:off x="10149840" y="7178040"/>
            <a:ext cx="2164080" cy="292608"/>
          </a:xfrm>
          <a:prstGeom prst="rect">
            <a:avLst/>
          </a:prstGeom>
          <a:noFill/>
          <a:ln/>
        </p:spPr>
        <p:txBody>
          <a:bodyPr wrap="square" lIns="0" tIns="0" rIns="0" bIns="0" rtlCol="0" anchor="ctr"/>
          <a:lstStyle/>
          <a:p>
            <a:pPr marL="0" indent="0">
              <a:buNone/>
            </a:pPr>
            <a:r>
              <a:rPr lang="en-US" sz="1300" dirty="0">
                <a:solidFill>
                  <a:srgbClr val="5B6B7C"/>
                </a:solidFill>
                <a:latin typeface="Calibri" pitchFamily="34" charset="0"/>
                <a:ea typeface="Calibri" pitchFamily="34" charset="-122"/>
                <a:cs typeface="Calibri" pitchFamily="34" charset="-120"/>
              </a:rPr>
              <a:t>n_estimators</a:t>
            </a:r>
            <a:endParaRPr lang="en-US" sz="1300" dirty="0"/>
          </a:p>
        </p:txBody>
      </p:sp>
      <p:sp>
        <p:nvSpPr>
          <p:cNvPr id="33" name="Text 30"/>
          <p:cNvSpPr/>
          <p:nvPr/>
        </p:nvSpPr>
        <p:spPr>
          <a:xfrm>
            <a:off x="10149840" y="7452360"/>
            <a:ext cx="2164080" cy="329184"/>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200</a:t>
            </a:r>
            <a:endParaRPr lang="en-US" sz="1800" dirty="0"/>
          </a:p>
        </p:txBody>
      </p:sp>
      <p:sp>
        <p:nvSpPr>
          <p:cNvPr id="34" name="Text 31"/>
          <p:cNvSpPr/>
          <p:nvPr/>
        </p:nvSpPr>
        <p:spPr>
          <a:xfrm>
            <a:off x="12496800" y="7178040"/>
            <a:ext cx="2164080" cy="292608"/>
          </a:xfrm>
          <a:prstGeom prst="rect">
            <a:avLst/>
          </a:prstGeom>
          <a:noFill/>
          <a:ln/>
        </p:spPr>
        <p:txBody>
          <a:bodyPr wrap="square" lIns="0" tIns="0" rIns="0" bIns="0" rtlCol="0" anchor="ctr"/>
          <a:lstStyle/>
          <a:p>
            <a:pPr marL="0" indent="0">
              <a:buNone/>
            </a:pPr>
            <a:r>
              <a:rPr lang="en-US" sz="1300" dirty="0">
                <a:solidFill>
                  <a:srgbClr val="5B6B7C"/>
                </a:solidFill>
                <a:latin typeface="Calibri" pitchFamily="34" charset="0"/>
                <a:ea typeface="Calibri" pitchFamily="34" charset="-122"/>
                <a:cs typeface="Calibri" pitchFamily="34" charset="-120"/>
              </a:rPr>
              <a:t>learning_rate</a:t>
            </a:r>
            <a:endParaRPr lang="en-US" sz="1300" dirty="0"/>
          </a:p>
        </p:txBody>
      </p:sp>
      <p:sp>
        <p:nvSpPr>
          <p:cNvPr id="35" name="Text 32"/>
          <p:cNvSpPr/>
          <p:nvPr/>
        </p:nvSpPr>
        <p:spPr>
          <a:xfrm>
            <a:off x="12496800" y="7452360"/>
            <a:ext cx="2164080" cy="329184"/>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0.05</a:t>
            </a:r>
            <a:endParaRPr lang="en-US" sz="1800" dirty="0"/>
          </a:p>
        </p:txBody>
      </p:sp>
      <p:sp>
        <p:nvSpPr>
          <p:cNvPr id="36" name="Text 33"/>
          <p:cNvSpPr/>
          <p:nvPr/>
        </p:nvSpPr>
        <p:spPr>
          <a:xfrm>
            <a:off x="14843760" y="7178040"/>
            <a:ext cx="2164080" cy="292608"/>
          </a:xfrm>
          <a:prstGeom prst="rect">
            <a:avLst/>
          </a:prstGeom>
          <a:noFill/>
          <a:ln/>
        </p:spPr>
        <p:txBody>
          <a:bodyPr wrap="square" lIns="0" tIns="0" rIns="0" bIns="0" rtlCol="0" anchor="ctr"/>
          <a:lstStyle/>
          <a:p>
            <a:pPr marL="0" indent="0">
              <a:buNone/>
            </a:pPr>
            <a:r>
              <a:rPr lang="en-US" sz="1300" dirty="0">
                <a:solidFill>
                  <a:srgbClr val="5B6B7C"/>
                </a:solidFill>
                <a:latin typeface="Calibri" pitchFamily="34" charset="0"/>
                <a:ea typeface="Calibri" pitchFamily="34" charset="-122"/>
                <a:cs typeface="Calibri" pitchFamily="34" charset="-120"/>
              </a:rPr>
              <a:t>max_depth</a:t>
            </a:r>
            <a:endParaRPr lang="en-US" sz="1300" dirty="0"/>
          </a:p>
        </p:txBody>
      </p:sp>
      <p:sp>
        <p:nvSpPr>
          <p:cNvPr id="37" name="Text 34"/>
          <p:cNvSpPr/>
          <p:nvPr/>
        </p:nvSpPr>
        <p:spPr>
          <a:xfrm>
            <a:off x="14843760" y="7452360"/>
            <a:ext cx="2164080" cy="329184"/>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6</a:t>
            </a:r>
            <a:endParaRPr lang="en-US" sz="1800" dirty="0"/>
          </a:p>
        </p:txBody>
      </p:sp>
      <p:sp>
        <p:nvSpPr>
          <p:cNvPr id="38" name="Text 35"/>
          <p:cNvSpPr/>
          <p:nvPr/>
        </p:nvSpPr>
        <p:spPr>
          <a:xfrm>
            <a:off x="10149840" y="7836408"/>
            <a:ext cx="2164080" cy="292608"/>
          </a:xfrm>
          <a:prstGeom prst="rect">
            <a:avLst/>
          </a:prstGeom>
          <a:noFill/>
          <a:ln/>
        </p:spPr>
        <p:txBody>
          <a:bodyPr wrap="square" lIns="0" tIns="0" rIns="0" bIns="0" rtlCol="0" anchor="ctr"/>
          <a:lstStyle/>
          <a:p>
            <a:pPr marL="0" indent="0">
              <a:buNone/>
            </a:pPr>
            <a:r>
              <a:rPr lang="en-US" sz="1300" dirty="0">
                <a:solidFill>
                  <a:srgbClr val="5B6B7C"/>
                </a:solidFill>
                <a:latin typeface="Calibri" pitchFamily="34" charset="0"/>
                <a:ea typeface="Calibri" pitchFamily="34" charset="-122"/>
                <a:cs typeface="Calibri" pitchFamily="34" charset="-120"/>
              </a:rPr>
              <a:t>scale_pos_weight</a:t>
            </a:r>
            <a:endParaRPr lang="en-US" sz="1300" dirty="0"/>
          </a:p>
        </p:txBody>
      </p:sp>
      <p:sp>
        <p:nvSpPr>
          <p:cNvPr id="39" name="Text 36"/>
          <p:cNvSpPr/>
          <p:nvPr/>
        </p:nvSpPr>
        <p:spPr>
          <a:xfrm>
            <a:off x="10149840" y="8110728"/>
            <a:ext cx="2164080" cy="329184"/>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 3.56</a:t>
            </a:r>
            <a:endParaRPr lang="en-US" sz="1800" dirty="0"/>
          </a:p>
        </p:txBody>
      </p:sp>
      <p:sp>
        <p:nvSpPr>
          <p:cNvPr id="40" name="Text 37"/>
          <p:cNvSpPr/>
          <p:nvPr/>
        </p:nvSpPr>
        <p:spPr>
          <a:xfrm>
            <a:off x="12496800" y="7836408"/>
            <a:ext cx="2164080" cy="292608"/>
          </a:xfrm>
          <a:prstGeom prst="rect">
            <a:avLst/>
          </a:prstGeom>
          <a:noFill/>
          <a:ln/>
        </p:spPr>
        <p:txBody>
          <a:bodyPr wrap="square" lIns="0" tIns="0" rIns="0" bIns="0" rtlCol="0" anchor="ctr"/>
          <a:lstStyle/>
          <a:p>
            <a:pPr marL="0" indent="0">
              <a:buNone/>
            </a:pPr>
            <a:r>
              <a:rPr lang="en-US" sz="1300" dirty="0">
                <a:solidFill>
                  <a:srgbClr val="5B6B7C"/>
                </a:solidFill>
                <a:latin typeface="Calibri" pitchFamily="34" charset="0"/>
                <a:ea typeface="Calibri" pitchFamily="34" charset="-122"/>
                <a:cs typeface="Calibri" pitchFamily="34" charset="-120"/>
              </a:rPr>
              <a:t>random_state</a:t>
            </a:r>
            <a:endParaRPr lang="en-US" sz="1300" dirty="0"/>
          </a:p>
        </p:txBody>
      </p:sp>
      <p:sp>
        <p:nvSpPr>
          <p:cNvPr id="41" name="Text 38"/>
          <p:cNvSpPr/>
          <p:nvPr/>
        </p:nvSpPr>
        <p:spPr>
          <a:xfrm>
            <a:off x="12496800" y="8110728"/>
            <a:ext cx="2164080" cy="329184"/>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42</a:t>
            </a:r>
            <a:endParaRPr lang="en-US" sz="1800" dirty="0"/>
          </a:p>
        </p:txBody>
      </p:sp>
      <p:sp>
        <p:nvSpPr>
          <p:cNvPr id="42" name="Text 39"/>
          <p:cNvSpPr/>
          <p:nvPr/>
        </p:nvSpPr>
        <p:spPr>
          <a:xfrm>
            <a:off x="14843760" y="7836408"/>
            <a:ext cx="2164080" cy="292608"/>
          </a:xfrm>
          <a:prstGeom prst="rect">
            <a:avLst/>
          </a:prstGeom>
          <a:noFill/>
          <a:ln/>
        </p:spPr>
        <p:txBody>
          <a:bodyPr wrap="square" lIns="0" tIns="0" rIns="0" bIns="0" rtlCol="0" anchor="ctr"/>
          <a:lstStyle/>
          <a:p>
            <a:pPr marL="0" indent="0">
              <a:buNone/>
            </a:pPr>
            <a:r>
              <a:rPr lang="en-US" sz="1300" dirty="0">
                <a:solidFill>
                  <a:srgbClr val="5B6B7C"/>
                </a:solidFill>
                <a:latin typeface="Calibri" pitchFamily="34" charset="0"/>
                <a:ea typeface="Calibri" pitchFamily="34" charset="-122"/>
                <a:cs typeface="Calibri" pitchFamily="34" charset="-120"/>
              </a:rPr>
              <a:t>training time</a:t>
            </a:r>
            <a:endParaRPr lang="en-US" sz="1300" dirty="0"/>
          </a:p>
        </p:txBody>
      </p:sp>
      <p:sp>
        <p:nvSpPr>
          <p:cNvPr id="43" name="Text 40"/>
          <p:cNvSpPr/>
          <p:nvPr/>
        </p:nvSpPr>
        <p:spPr>
          <a:xfrm>
            <a:off x="14843760" y="8110728"/>
            <a:ext cx="2164080" cy="329184"/>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4.41 s</a:t>
            </a:r>
            <a:endParaRPr lang="en-US" sz="1800" dirty="0"/>
          </a:p>
        </p:txBody>
      </p:sp>
      <p:sp>
        <p:nvSpPr>
          <p:cNvPr id="44" name="Text 41"/>
          <p:cNvSpPr/>
          <p:nvPr/>
        </p:nvSpPr>
        <p:spPr>
          <a:xfrm>
            <a:off x="9738360" y="8823960"/>
            <a:ext cx="7863840" cy="868680"/>
          </a:xfrm>
          <a:prstGeom prst="rect">
            <a:avLst/>
          </a:prstGeom>
          <a:noFill/>
          <a:ln/>
        </p:spPr>
        <p:txBody>
          <a:bodyPr wrap="square" lIns="0" tIns="0" rIns="0" bIns="0" rtlCol="0" anchor="t"/>
          <a:lstStyle/>
          <a:p>
            <a:pPr marL="0" indent="0">
              <a:lnSpc>
                <a:spcPts val="2100"/>
              </a:lnSpc>
              <a:buNone/>
            </a:pPr>
            <a:r>
              <a:rPr lang="en-US" sz="1550" i="1" dirty="0">
                <a:solidFill>
                  <a:srgbClr val="5B6B7C"/>
                </a:solidFill>
                <a:latin typeface="Calibri" pitchFamily="34" charset="0"/>
                <a:ea typeface="Calibri" pitchFamily="34" charset="-122"/>
                <a:cs typeface="Calibri" pitchFamily="34" charset="-120"/>
              </a:rPr>
              <a:t>The threshold is a deliberate asymmetry: failing to flag a graduate who needs support is a more serious error than flagging one who does not, because the first withholds help while the second merely offers unnecessary guidance.</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5  —  RESULTS</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Model Performance: Classification Results</a:t>
            </a:r>
            <a:endParaRPr lang="en-US" sz="3900" dirty="0"/>
          </a:p>
        </p:txBody>
      </p:sp>
      <p:sp>
        <p:nvSpPr>
          <p:cNvPr id="4" name="Text 2"/>
          <p:cNvSpPr/>
          <p:nvPr/>
        </p:nvSpPr>
        <p:spPr>
          <a:xfrm>
            <a:off x="685800" y="1847088"/>
            <a:ext cx="16916400" cy="822960"/>
          </a:xfrm>
          <a:prstGeom prst="rect">
            <a:avLst/>
          </a:prstGeom>
          <a:noFill/>
          <a:ln/>
        </p:spPr>
        <p:txBody>
          <a:bodyPr wrap="square" lIns="0" tIns="0" rIns="0" bIns="0" rtlCol="0" anchor="t"/>
          <a:lstStyle/>
          <a:p>
            <a:pPr marL="0" indent="0">
              <a:lnSpc>
                <a:spcPts val="2700"/>
              </a:lnSpc>
              <a:buNone/>
            </a:pPr>
            <a:r>
              <a:rPr lang="en-US" sz="2000" dirty="0">
                <a:solidFill>
                  <a:srgbClr val="000000"/>
                </a:solidFill>
                <a:latin typeface="Calibri" pitchFamily="34" charset="0"/>
                <a:ea typeface="Calibri" pitchFamily="34" charset="-122"/>
                <a:cs typeface="Calibri" pitchFamily="34" charset="-120"/>
              </a:rPr>
              <a:t>The trained pipeline was evaluated on the 10,000 held-out records using accuracy, per-class precision, recall and F1-score. Reporting all of them per class directly addresses the evaluation weakness identified across the reviewed literature, in which studies reported headline accuracy without minority-class recall.</a:t>
            </a:r>
            <a:endParaRPr lang="en-US" sz="2000" dirty="0"/>
          </a:p>
        </p:txBody>
      </p:sp>
      <p:sp>
        <p:nvSpPr>
          <p:cNvPr id="5" name="Shape 3"/>
          <p:cNvSpPr/>
          <p:nvPr/>
        </p:nvSpPr>
        <p:spPr>
          <a:xfrm>
            <a:off x="685800" y="3063240"/>
            <a:ext cx="4023360" cy="1234440"/>
          </a:xfrm>
          <a:prstGeom prst="roundRect">
            <a:avLst>
              <a:gd name="adj" fmla="val 6667"/>
            </a:avLst>
          </a:prstGeom>
          <a:solidFill>
            <a:srgbClr val="E7EBEF"/>
          </a:solidFill>
          <a:ln w="12700">
            <a:solidFill>
              <a:srgbClr val="D7DCE1"/>
            </a:solidFill>
            <a:prstDash val="solid"/>
          </a:ln>
        </p:spPr>
      </p:sp>
      <p:sp>
        <p:nvSpPr>
          <p:cNvPr id="6" name="Text 4"/>
          <p:cNvSpPr/>
          <p:nvPr/>
        </p:nvSpPr>
        <p:spPr>
          <a:xfrm>
            <a:off x="960120" y="3200400"/>
            <a:ext cx="3474720" cy="566928"/>
          </a:xfrm>
          <a:prstGeom prst="rect">
            <a:avLst/>
          </a:prstGeom>
          <a:noFill/>
          <a:ln/>
        </p:spPr>
        <p:txBody>
          <a:bodyPr wrap="square" lIns="0" tIns="0" rIns="0" bIns="0"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0.6384</a:t>
            </a:r>
            <a:endParaRPr lang="en-US" sz="3000" dirty="0"/>
          </a:p>
        </p:txBody>
      </p:sp>
      <p:sp>
        <p:nvSpPr>
          <p:cNvPr id="7" name="Text 5"/>
          <p:cNvSpPr/>
          <p:nvPr/>
        </p:nvSpPr>
        <p:spPr>
          <a:xfrm>
            <a:off x="960120" y="3767328"/>
            <a:ext cx="3474720" cy="365760"/>
          </a:xfrm>
          <a:prstGeom prst="rect">
            <a:avLst/>
          </a:prstGeom>
          <a:noFill/>
          <a:ln/>
        </p:spPr>
        <p:txBody>
          <a:bodyPr wrap="square" lIns="0" tIns="0" rIns="0" bIns="0" rtlCol="0" anchor="ctr"/>
          <a:lstStyle/>
          <a:p>
            <a:pPr marL="0" indent="0">
              <a:buNone/>
            </a:pPr>
            <a:r>
              <a:rPr lang="en-US" sz="1450" dirty="0">
                <a:solidFill>
                  <a:srgbClr val="5B6B7C"/>
                </a:solidFill>
                <a:latin typeface="Calibri" pitchFamily="34" charset="0"/>
                <a:ea typeface="Calibri" pitchFamily="34" charset="-122"/>
                <a:cs typeface="Calibri" pitchFamily="34" charset="-120"/>
              </a:rPr>
              <a:t>Accuracy</a:t>
            </a:r>
            <a:endParaRPr lang="en-US" sz="1450" dirty="0"/>
          </a:p>
        </p:txBody>
      </p:sp>
      <p:sp>
        <p:nvSpPr>
          <p:cNvPr id="8" name="Shape 6"/>
          <p:cNvSpPr/>
          <p:nvPr/>
        </p:nvSpPr>
        <p:spPr>
          <a:xfrm>
            <a:off x="4983480" y="3063240"/>
            <a:ext cx="4023360" cy="1234440"/>
          </a:xfrm>
          <a:prstGeom prst="roundRect">
            <a:avLst>
              <a:gd name="adj" fmla="val 6667"/>
            </a:avLst>
          </a:prstGeom>
          <a:solidFill>
            <a:srgbClr val="E7EBEF"/>
          </a:solidFill>
          <a:ln w="12700">
            <a:solidFill>
              <a:srgbClr val="D7DCE1"/>
            </a:solidFill>
            <a:prstDash val="solid"/>
          </a:ln>
        </p:spPr>
      </p:sp>
      <p:sp>
        <p:nvSpPr>
          <p:cNvPr id="9" name="Text 7"/>
          <p:cNvSpPr/>
          <p:nvPr/>
        </p:nvSpPr>
        <p:spPr>
          <a:xfrm>
            <a:off x="5257800" y="3200400"/>
            <a:ext cx="3474720" cy="566928"/>
          </a:xfrm>
          <a:prstGeom prst="rect">
            <a:avLst/>
          </a:prstGeom>
          <a:noFill/>
          <a:ln/>
        </p:spPr>
        <p:txBody>
          <a:bodyPr wrap="square" lIns="0" tIns="0" rIns="0" bIns="0"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0.8082</a:t>
            </a:r>
            <a:endParaRPr lang="en-US" sz="3000" dirty="0"/>
          </a:p>
        </p:txBody>
      </p:sp>
      <p:sp>
        <p:nvSpPr>
          <p:cNvPr id="10" name="Text 8"/>
          <p:cNvSpPr/>
          <p:nvPr/>
        </p:nvSpPr>
        <p:spPr>
          <a:xfrm>
            <a:off x="5257800" y="3767328"/>
            <a:ext cx="3474720" cy="365760"/>
          </a:xfrm>
          <a:prstGeom prst="rect">
            <a:avLst/>
          </a:prstGeom>
          <a:noFill/>
          <a:ln/>
        </p:spPr>
        <p:txBody>
          <a:bodyPr wrap="square" lIns="0" tIns="0" rIns="0" bIns="0" rtlCol="0" anchor="ctr"/>
          <a:lstStyle/>
          <a:p>
            <a:pPr marL="0" indent="0">
              <a:buNone/>
            </a:pPr>
            <a:r>
              <a:rPr lang="en-US" sz="1450" dirty="0">
                <a:solidFill>
                  <a:srgbClr val="5B6B7C"/>
                </a:solidFill>
                <a:latin typeface="Calibri" pitchFamily="34" charset="0"/>
                <a:ea typeface="Calibri" pitchFamily="34" charset="-122"/>
                <a:cs typeface="Calibri" pitchFamily="34" charset="-120"/>
              </a:rPr>
              <a:t>Weighted precision</a:t>
            </a:r>
            <a:endParaRPr lang="en-US" sz="1450" dirty="0"/>
          </a:p>
        </p:txBody>
      </p:sp>
      <p:sp>
        <p:nvSpPr>
          <p:cNvPr id="11" name="Shape 9"/>
          <p:cNvSpPr/>
          <p:nvPr/>
        </p:nvSpPr>
        <p:spPr>
          <a:xfrm>
            <a:off x="9281160" y="3063240"/>
            <a:ext cx="4023360" cy="1234440"/>
          </a:xfrm>
          <a:prstGeom prst="roundRect">
            <a:avLst>
              <a:gd name="adj" fmla="val 6667"/>
            </a:avLst>
          </a:prstGeom>
          <a:solidFill>
            <a:srgbClr val="E7EBEF"/>
          </a:solidFill>
          <a:ln w="12700">
            <a:solidFill>
              <a:srgbClr val="D7DCE1"/>
            </a:solidFill>
            <a:prstDash val="solid"/>
          </a:ln>
        </p:spPr>
      </p:sp>
      <p:sp>
        <p:nvSpPr>
          <p:cNvPr id="12" name="Text 10"/>
          <p:cNvSpPr/>
          <p:nvPr/>
        </p:nvSpPr>
        <p:spPr>
          <a:xfrm>
            <a:off x="9555480" y="3200400"/>
            <a:ext cx="3474720" cy="566928"/>
          </a:xfrm>
          <a:prstGeom prst="rect">
            <a:avLst/>
          </a:prstGeom>
          <a:noFill/>
          <a:ln/>
        </p:spPr>
        <p:txBody>
          <a:bodyPr wrap="square" lIns="0" tIns="0" rIns="0" bIns="0"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0.6384</a:t>
            </a:r>
            <a:endParaRPr lang="en-US" sz="3000" dirty="0"/>
          </a:p>
        </p:txBody>
      </p:sp>
      <p:sp>
        <p:nvSpPr>
          <p:cNvPr id="13" name="Text 11"/>
          <p:cNvSpPr/>
          <p:nvPr/>
        </p:nvSpPr>
        <p:spPr>
          <a:xfrm>
            <a:off x="9555480" y="3767328"/>
            <a:ext cx="3474720" cy="365760"/>
          </a:xfrm>
          <a:prstGeom prst="rect">
            <a:avLst/>
          </a:prstGeom>
          <a:noFill/>
          <a:ln/>
        </p:spPr>
        <p:txBody>
          <a:bodyPr wrap="square" lIns="0" tIns="0" rIns="0" bIns="0" rtlCol="0" anchor="ctr"/>
          <a:lstStyle/>
          <a:p>
            <a:pPr marL="0" indent="0">
              <a:buNone/>
            </a:pPr>
            <a:r>
              <a:rPr lang="en-US" sz="1450" dirty="0">
                <a:solidFill>
                  <a:srgbClr val="5B6B7C"/>
                </a:solidFill>
                <a:latin typeface="Calibri" pitchFamily="34" charset="0"/>
                <a:ea typeface="Calibri" pitchFamily="34" charset="-122"/>
                <a:cs typeface="Calibri" pitchFamily="34" charset="-120"/>
              </a:rPr>
              <a:t>Weighted recall</a:t>
            </a:r>
            <a:endParaRPr lang="en-US" sz="1450" dirty="0"/>
          </a:p>
        </p:txBody>
      </p:sp>
      <p:sp>
        <p:nvSpPr>
          <p:cNvPr id="14" name="Shape 12"/>
          <p:cNvSpPr/>
          <p:nvPr/>
        </p:nvSpPr>
        <p:spPr>
          <a:xfrm>
            <a:off x="13578840" y="3063240"/>
            <a:ext cx="4023360" cy="1234440"/>
          </a:xfrm>
          <a:prstGeom prst="roundRect">
            <a:avLst>
              <a:gd name="adj" fmla="val 6667"/>
            </a:avLst>
          </a:prstGeom>
          <a:solidFill>
            <a:srgbClr val="E7EBEF"/>
          </a:solidFill>
          <a:ln w="12700">
            <a:solidFill>
              <a:srgbClr val="D7DCE1"/>
            </a:solidFill>
            <a:prstDash val="solid"/>
          </a:ln>
        </p:spPr>
      </p:sp>
      <p:sp>
        <p:nvSpPr>
          <p:cNvPr id="15" name="Text 13"/>
          <p:cNvSpPr/>
          <p:nvPr/>
        </p:nvSpPr>
        <p:spPr>
          <a:xfrm>
            <a:off x="13853160" y="3200400"/>
            <a:ext cx="3474720" cy="566928"/>
          </a:xfrm>
          <a:prstGeom prst="rect">
            <a:avLst/>
          </a:prstGeom>
          <a:noFill/>
          <a:ln/>
        </p:spPr>
        <p:txBody>
          <a:bodyPr wrap="square" lIns="0" tIns="0" rIns="0" bIns="0"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0.6690</a:t>
            </a:r>
            <a:endParaRPr lang="en-US" sz="3000" dirty="0"/>
          </a:p>
        </p:txBody>
      </p:sp>
      <p:sp>
        <p:nvSpPr>
          <p:cNvPr id="16" name="Text 14"/>
          <p:cNvSpPr/>
          <p:nvPr/>
        </p:nvSpPr>
        <p:spPr>
          <a:xfrm>
            <a:off x="13853160" y="3767328"/>
            <a:ext cx="3474720" cy="365760"/>
          </a:xfrm>
          <a:prstGeom prst="rect">
            <a:avLst/>
          </a:prstGeom>
          <a:noFill/>
          <a:ln/>
        </p:spPr>
        <p:txBody>
          <a:bodyPr wrap="square" lIns="0" tIns="0" rIns="0" bIns="0" rtlCol="0" anchor="ctr"/>
          <a:lstStyle/>
          <a:p>
            <a:pPr marL="0" indent="0">
              <a:buNone/>
            </a:pPr>
            <a:r>
              <a:rPr lang="en-US" sz="1450" dirty="0">
                <a:solidFill>
                  <a:srgbClr val="5B6B7C"/>
                </a:solidFill>
                <a:latin typeface="Calibri" pitchFamily="34" charset="0"/>
                <a:ea typeface="Calibri" pitchFamily="34" charset="-122"/>
                <a:cs typeface="Calibri" pitchFamily="34" charset="-120"/>
              </a:rPr>
              <a:t>Weighted F1</a:t>
            </a:r>
            <a:endParaRPr lang="en-US" sz="1450" dirty="0"/>
          </a:p>
        </p:txBody>
      </p:sp>
      <p:sp>
        <p:nvSpPr>
          <p:cNvPr id="17" name="Text 15"/>
          <p:cNvSpPr/>
          <p:nvPr/>
        </p:nvSpPr>
        <p:spPr>
          <a:xfrm>
            <a:off x="685800" y="4572000"/>
            <a:ext cx="850392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TABLE 5.5  —  CLASSIFICATION REPORT  (THRESHOLD = 0.35)</a:t>
            </a:r>
            <a:endParaRPr lang="en-US" sz="1500" dirty="0"/>
          </a:p>
        </p:txBody>
      </p:sp>
      <p:sp>
        <p:nvSpPr>
          <p:cNvPr id="18" name="Shape 16"/>
          <p:cNvSpPr/>
          <p:nvPr/>
        </p:nvSpPr>
        <p:spPr>
          <a:xfrm>
            <a:off x="685800" y="5074920"/>
            <a:ext cx="8503920" cy="566928"/>
          </a:xfrm>
          <a:prstGeom prst="rect">
            <a:avLst/>
          </a:prstGeom>
          <a:solidFill>
            <a:srgbClr val="E7EBEF"/>
          </a:solidFill>
          <a:ln w="12700">
            <a:solidFill>
              <a:srgbClr val="D7DCE1"/>
            </a:solidFill>
            <a:prstDash val="solid"/>
          </a:ln>
        </p:spPr>
      </p:sp>
      <p:sp>
        <p:nvSpPr>
          <p:cNvPr id="19" name="Text 17"/>
          <p:cNvSpPr/>
          <p:nvPr/>
        </p:nvSpPr>
        <p:spPr>
          <a:xfrm>
            <a:off x="941832" y="5074920"/>
            <a:ext cx="2834640" cy="566928"/>
          </a:xfrm>
          <a:prstGeom prst="rect">
            <a:avLst/>
          </a:prstGeom>
          <a:noFill/>
          <a:ln/>
        </p:spPr>
        <p:txBody>
          <a:bodyPr wrap="square" lIns="0" tIns="0" rIns="0" bIns="0" rtlCol="0" anchor="ctr"/>
          <a:lstStyle/>
          <a:p>
            <a:pPr marL="0" indent="0" algn="l">
              <a:buNone/>
            </a:pPr>
            <a:r>
              <a:rPr lang="en-US" sz="1600" b="1" dirty="0">
                <a:solidFill>
                  <a:srgbClr val="000000"/>
                </a:solidFill>
                <a:latin typeface="Calibri" pitchFamily="34" charset="0"/>
                <a:ea typeface="Calibri" pitchFamily="34" charset="-122"/>
                <a:cs typeface="Calibri" pitchFamily="34" charset="-120"/>
              </a:rPr>
              <a:t>Class / Average</a:t>
            </a:r>
            <a:endParaRPr lang="en-US" sz="1600" dirty="0"/>
          </a:p>
        </p:txBody>
      </p:sp>
      <p:sp>
        <p:nvSpPr>
          <p:cNvPr id="20" name="Text 18"/>
          <p:cNvSpPr/>
          <p:nvPr/>
        </p:nvSpPr>
        <p:spPr>
          <a:xfrm>
            <a:off x="4142232" y="5074920"/>
            <a:ext cx="1005840" cy="566928"/>
          </a:xfrm>
          <a:prstGeom prst="rect">
            <a:avLst/>
          </a:prstGeom>
          <a:noFill/>
          <a:ln/>
        </p:spPr>
        <p:txBody>
          <a:bodyPr wrap="square" lIns="0" tIns="0" rIns="0" bIns="0" rtlCol="0" anchor="ctr"/>
          <a:lstStyle/>
          <a:p>
            <a:pPr marL="0" indent="0" algn="ctr">
              <a:buNone/>
            </a:pPr>
            <a:r>
              <a:rPr lang="en-US" sz="1600" b="1" dirty="0">
                <a:solidFill>
                  <a:srgbClr val="000000"/>
                </a:solidFill>
                <a:latin typeface="Calibri" pitchFamily="34" charset="0"/>
                <a:ea typeface="Calibri" pitchFamily="34" charset="-122"/>
                <a:cs typeface="Calibri" pitchFamily="34" charset="-120"/>
              </a:rPr>
              <a:t>Precision</a:t>
            </a:r>
            <a:endParaRPr lang="en-US" sz="1600" dirty="0"/>
          </a:p>
        </p:txBody>
      </p:sp>
      <p:sp>
        <p:nvSpPr>
          <p:cNvPr id="21" name="Text 19"/>
          <p:cNvSpPr/>
          <p:nvPr/>
        </p:nvSpPr>
        <p:spPr>
          <a:xfrm>
            <a:off x="5513832" y="5074920"/>
            <a:ext cx="868680" cy="566928"/>
          </a:xfrm>
          <a:prstGeom prst="rect">
            <a:avLst/>
          </a:prstGeom>
          <a:noFill/>
          <a:ln/>
        </p:spPr>
        <p:txBody>
          <a:bodyPr wrap="square" lIns="0" tIns="0" rIns="0" bIns="0" rtlCol="0" anchor="ctr"/>
          <a:lstStyle/>
          <a:p>
            <a:pPr marL="0" indent="0" algn="ctr">
              <a:buNone/>
            </a:pPr>
            <a:r>
              <a:rPr lang="en-US" sz="1600" b="1" dirty="0">
                <a:solidFill>
                  <a:srgbClr val="000000"/>
                </a:solidFill>
                <a:latin typeface="Calibri" pitchFamily="34" charset="0"/>
                <a:ea typeface="Calibri" pitchFamily="34" charset="-122"/>
                <a:cs typeface="Calibri" pitchFamily="34" charset="-120"/>
              </a:rPr>
              <a:t>Recall</a:t>
            </a:r>
            <a:endParaRPr lang="en-US" sz="1600" dirty="0"/>
          </a:p>
        </p:txBody>
      </p:sp>
      <p:sp>
        <p:nvSpPr>
          <p:cNvPr id="22" name="Text 20"/>
          <p:cNvSpPr/>
          <p:nvPr/>
        </p:nvSpPr>
        <p:spPr>
          <a:xfrm>
            <a:off x="6748272" y="5074920"/>
            <a:ext cx="777240" cy="566928"/>
          </a:xfrm>
          <a:prstGeom prst="rect">
            <a:avLst/>
          </a:prstGeom>
          <a:noFill/>
          <a:ln/>
        </p:spPr>
        <p:txBody>
          <a:bodyPr wrap="square" lIns="0" tIns="0" rIns="0" bIns="0" rtlCol="0" anchor="ctr"/>
          <a:lstStyle/>
          <a:p>
            <a:pPr marL="0" indent="0" algn="ctr">
              <a:buNone/>
            </a:pPr>
            <a:r>
              <a:rPr lang="en-US" sz="1600" b="1" dirty="0">
                <a:solidFill>
                  <a:srgbClr val="000000"/>
                </a:solidFill>
                <a:latin typeface="Calibri" pitchFamily="34" charset="0"/>
                <a:ea typeface="Calibri" pitchFamily="34" charset="-122"/>
                <a:cs typeface="Calibri" pitchFamily="34" charset="-120"/>
              </a:rPr>
              <a:t>F1</a:t>
            </a:r>
            <a:endParaRPr lang="en-US" sz="1600" dirty="0"/>
          </a:p>
        </p:txBody>
      </p:sp>
      <p:sp>
        <p:nvSpPr>
          <p:cNvPr id="23" name="Text 21"/>
          <p:cNvSpPr/>
          <p:nvPr/>
        </p:nvSpPr>
        <p:spPr>
          <a:xfrm>
            <a:off x="7891272" y="5074920"/>
            <a:ext cx="1188720" cy="566928"/>
          </a:xfrm>
          <a:prstGeom prst="rect">
            <a:avLst/>
          </a:prstGeom>
          <a:noFill/>
          <a:ln/>
        </p:spPr>
        <p:txBody>
          <a:bodyPr wrap="square" lIns="0" tIns="0" rIns="0" bIns="0" rtlCol="0" anchor="ctr"/>
          <a:lstStyle/>
          <a:p>
            <a:pPr marL="0" indent="0" algn="ctr">
              <a:buNone/>
            </a:pPr>
            <a:r>
              <a:rPr lang="en-US" sz="1600" b="1" dirty="0">
                <a:solidFill>
                  <a:srgbClr val="000000"/>
                </a:solidFill>
                <a:latin typeface="Calibri" pitchFamily="34" charset="0"/>
                <a:ea typeface="Calibri" pitchFamily="34" charset="-122"/>
                <a:cs typeface="Calibri" pitchFamily="34" charset="-120"/>
              </a:rPr>
              <a:t>Support</a:t>
            </a:r>
            <a:endParaRPr lang="en-US" sz="1600" dirty="0"/>
          </a:p>
        </p:txBody>
      </p:sp>
      <p:sp>
        <p:nvSpPr>
          <p:cNvPr id="24" name="Shape 22"/>
          <p:cNvSpPr/>
          <p:nvPr/>
        </p:nvSpPr>
        <p:spPr>
          <a:xfrm>
            <a:off x="685800" y="5641848"/>
            <a:ext cx="8503920" cy="566928"/>
          </a:xfrm>
          <a:prstGeom prst="rect">
            <a:avLst/>
          </a:prstGeom>
          <a:solidFill>
            <a:srgbClr val="FFFFFF"/>
          </a:solidFill>
          <a:ln w="12700">
            <a:solidFill>
              <a:srgbClr val="D7DCE1"/>
            </a:solidFill>
            <a:prstDash val="solid"/>
          </a:ln>
        </p:spPr>
      </p:sp>
      <p:sp>
        <p:nvSpPr>
          <p:cNvPr id="25" name="Text 23"/>
          <p:cNvSpPr/>
          <p:nvPr/>
        </p:nvSpPr>
        <p:spPr>
          <a:xfrm>
            <a:off x="941832" y="5641848"/>
            <a:ext cx="2834640" cy="566928"/>
          </a:xfrm>
          <a:prstGeom prst="rect">
            <a:avLst/>
          </a:prstGeom>
          <a:noFill/>
          <a:ln/>
        </p:spPr>
        <p:txBody>
          <a:bodyPr wrap="square" lIns="0" tIns="0" rIns="0" bIns="0" rtlCol="0" anchor="ctr"/>
          <a:lstStyle/>
          <a:p>
            <a:pPr marL="0" indent="0" algn="l">
              <a:buNone/>
            </a:pPr>
            <a:r>
              <a:rPr lang="en-US" sz="1600" b="1" dirty="0">
                <a:solidFill>
                  <a:srgbClr val="000000"/>
                </a:solidFill>
                <a:latin typeface="Calibri" pitchFamily="34" charset="0"/>
                <a:ea typeface="Calibri" pitchFamily="34" charset="-122"/>
                <a:cs typeface="Calibri" pitchFamily="34" charset="-120"/>
              </a:rPr>
              <a:t>Employable</a:t>
            </a:r>
            <a:endParaRPr lang="en-US" sz="1600" dirty="0"/>
          </a:p>
        </p:txBody>
      </p:sp>
      <p:sp>
        <p:nvSpPr>
          <p:cNvPr id="26" name="Text 24"/>
          <p:cNvSpPr/>
          <p:nvPr/>
        </p:nvSpPr>
        <p:spPr>
          <a:xfrm>
            <a:off x="4142232" y="5641848"/>
            <a:ext cx="100584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0.93</a:t>
            </a:r>
            <a:endParaRPr lang="en-US" sz="1600" dirty="0"/>
          </a:p>
        </p:txBody>
      </p:sp>
      <p:sp>
        <p:nvSpPr>
          <p:cNvPr id="27" name="Text 25"/>
          <p:cNvSpPr/>
          <p:nvPr/>
        </p:nvSpPr>
        <p:spPr>
          <a:xfrm>
            <a:off x="5513832" y="5641848"/>
            <a:ext cx="86868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0.58</a:t>
            </a:r>
            <a:endParaRPr lang="en-US" sz="1600" dirty="0"/>
          </a:p>
        </p:txBody>
      </p:sp>
      <p:sp>
        <p:nvSpPr>
          <p:cNvPr id="28" name="Text 26"/>
          <p:cNvSpPr/>
          <p:nvPr/>
        </p:nvSpPr>
        <p:spPr>
          <a:xfrm>
            <a:off x="6748272" y="5641848"/>
            <a:ext cx="77724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0.71</a:t>
            </a:r>
            <a:endParaRPr lang="en-US" sz="1600" dirty="0"/>
          </a:p>
        </p:txBody>
      </p:sp>
      <p:sp>
        <p:nvSpPr>
          <p:cNvPr id="29" name="Text 27"/>
          <p:cNvSpPr/>
          <p:nvPr/>
        </p:nvSpPr>
        <p:spPr>
          <a:xfrm>
            <a:off x="7891272" y="5641848"/>
            <a:ext cx="118872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7,808</a:t>
            </a:r>
            <a:endParaRPr lang="en-US" sz="1600" dirty="0"/>
          </a:p>
        </p:txBody>
      </p:sp>
      <p:sp>
        <p:nvSpPr>
          <p:cNvPr id="30" name="Shape 28"/>
          <p:cNvSpPr/>
          <p:nvPr/>
        </p:nvSpPr>
        <p:spPr>
          <a:xfrm>
            <a:off x="685800" y="6208776"/>
            <a:ext cx="8503920" cy="566928"/>
          </a:xfrm>
          <a:prstGeom prst="rect">
            <a:avLst/>
          </a:prstGeom>
          <a:solidFill>
            <a:srgbClr val="F4F6F8"/>
          </a:solidFill>
          <a:ln w="12700">
            <a:solidFill>
              <a:srgbClr val="D7DCE1"/>
            </a:solidFill>
            <a:prstDash val="solid"/>
          </a:ln>
        </p:spPr>
      </p:sp>
      <p:sp>
        <p:nvSpPr>
          <p:cNvPr id="31" name="Text 29"/>
          <p:cNvSpPr/>
          <p:nvPr/>
        </p:nvSpPr>
        <p:spPr>
          <a:xfrm>
            <a:off x="941832" y="6208776"/>
            <a:ext cx="2834640" cy="566928"/>
          </a:xfrm>
          <a:prstGeom prst="rect">
            <a:avLst/>
          </a:prstGeom>
          <a:noFill/>
          <a:ln/>
        </p:spPr>
        <p:txBody>
          <a:bodyPr wrap="square" lIns="0" tIns="0" rIns="0" bIns="0" rtlCol="0" anchor="ctr"/>
          <a:lstStyle/>
          <a:p>
            <a:pPr marL="0" indent="0" algn="l">
              <a:buNone/>
            </a:pPr>
            <a:r>
              <a:rPr lang="en-US" sz="1600" b="1" dirty="0">
                <a:solidFill>
                  <a:srgbClr val="000000"/>
                </a:solidFill>
                <a:latin typeface="Calibri" pitchFamily="34" charset="0"/>
                <a:ea typeface="Calibri" pitchFamily="34" charset="-122"/>
                <a:cs typeface="Calibri" pitchFamily="34" charset="-120"/>
              </a:rPr>
              <a:t>Not Employable</a:t>
            </a:r>
            <a:endParaRPr lang="en-US" sz="1600" dirty="0"/>
          </a:p>
        </p:txBody>
      </p:sp>
      <p:sp>
        <p:nvSpPr>
          <p:cNvPr id="32" name="Text 30"/>
          <p:cNvSpPr/>
          <p:nvPr/>
        </p:nvSpPr>
        <p:spPr>
          <a:xfrm>
            <a:off x="4142232" y="6208776"/>
            <a:ext cx="100584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0.36</a:t>
            </a:r>
            <a:endParaRPr lang="en-US" sz="1600" dirty="0"/>
          </a:p>
        </p:txBody>
      </p:sp>
      <p:sp>
        <p:nvSpPr>
          <p:cNvPr id="33" name="Text 31"/>
          <p:cNvSpPr/>
          <p:nvPr/>
        </p:nvSpPr>
        <p:spPr>
          <a:xfrm>
            <a:off x="5513832" y="6208776"/>
            <a:ext cx="86868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0.85</a:t>
            </a:r>
            <a:endParaRPr lang="en-US" sz="1600" dirty="0"/>
          </a:p>
        </p:txBody>
      </p:sp>
      <p:sp>
        <p:nvSpPr>
          <p:cNvPr id="34" name="Text 32"/>
          <p:cNvSpPr/>
          <p:nvPr/>
        </p:nvSpPr>
        <p:spPr>
          <a:xfrm>
            <a:off x="6748272" y="6208776"/>
            <a:ext cx="77724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0.51</a:t>
            </a:r>
            <a:endParaRPr lang="en-US" sz="1600" dirty="0"/>
          </a:p>
        </p:txBody>
      </p:sp>
      <p:sp>
        <p:nvSpPr>
          <p:cNvPr id="35" name="Text 33"/>
          <p:cNvSpPr/>
          <p:nvPr/>
        </p:nvSpPr>
        <p:spPr>
          <a:xfrm>
            <a:off x="7891272" y="6208776"/>
            <a:ext cx="118872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2,192</a:t>
            </a:r>
            <a:endParaRPr lang="en-US" sz="1600" dirty="0"/>
          </a:p>
        </p:txBody>
      </p:sp>
      <p:sp>
        <p:nvSpPr>
          <p:cNvPr id="36" name="Shape 34"/>
          <p:cNvSpPr/>
          <p:nvPr/>
        </p:nvSpPr>
        <p:spPr>
          <a:xfrm>
            <a:off x="685800" y="6775704"/>
            <a:ext cx="8503920" cy="566928"/>
          </a:xfrm>
          <a:prstGeom prst="rect">
            <a:avLst/>
          </a:prstGeom>
          <a:solidFill>
            <a:srgbClr val="FFFFFF"/>
          </a:solidFill>
          <a:ln w="12700">
            <a:solidFill>
              <a:srgbClr val="D7DCE1"/>
            </a:solidFill>
            <a:prstDash val="solid"/>
          </a:ln>
        </p:spPr>
      </p:sp>
      <p:sp>
        <p:nvSpPr>
          <p:cNvPr id="37" name="Text 35"/>
          <p:cNvSpPr/>
          <p:nvPr/>
        </p:nvSpPr>
        <p:spPr>
          <a:xfrm>
            <a:off x="941832" y="6775704"/>
            <a:ext cx="2834640" cy="566928"/>
          </a:xfrm>
          <a:prstGeom prst="rect">
            <a:avLst/>
          </a:prstGeom>
          <a:noFill/>
          <a:ln/>
        </p:spPr>
        <p:txBody>
          <a:bodyPr wrap="square" lIns="0" tIns="0" rIns="0" bIns="0" rtlCol="0" anchor="ctr"/>
          <a:lstStyle/>
          <a:p>
            <a:pPr marL="0" indent="0" algn="l">
              <a:buNone/>
            </a:pPr>
            <a:r>
              <a:rPr lang="en-US" sz="1600" b="1" dirty="0">
                <a:solidFill>
                  <a:srgbClr val="000000"/>
                </a:solidFill>
                <a:latin typeface="Calibri" pitchFamily="34" charset="0"/>
                <a:ea typeface="Calibri" pitchFamily="34" charset="-122"/>
                <a:cs typeface="Calibri" pitchFamily="34" charset="-120"/>
              </a:rPr>
              <a:t>Accuracy</a:t>
            </a:r>
            <a:endParaRPr lang="en-US" sz="1600" dirty="0"/>
          </a:p>
        </p:txBody>
      </p:sp>
      <p:sp>
        <p:nvSpPr>
          <p:cNvPr id="38" name="Text 36"/>
          <p:cNvSpPr/>
          <p:nvPr/>
        </p:nvSpPr>
        <p:spPr>
          <a:xfrm>
            <a:off x="4142232" y="6775704"/>
            <a:ext cx="100584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39" name="Text 37"/>
          <p:cNvSpPr/>
          <p:nvPr/>
        </p:nvSpPr>
        <p:spPr>
          <a:xfrm>
            <a:off x="5513832" y="6775704"/>
            <a:ext cx="86868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40" name="Text 38"/>
          <p:cNvSpPr/>
          <p:nvPr/>
        </p:nvSpPr>
        <p:spPr>
          <a:xfrm>
            <a:off x="6748272" y="6775704"/>
            <a:ext cx="77724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0.64</a:t>
            </a:r>
            <a:endParaRPr lang="en-US" sz="1600" dirty="0"/>
          </a:p>
        </p:txBody>
      </p:sp>
      <p:sp>
        <p:nvSpPr>
          <p:cNvPr id="41" name="Text 39"/>
          <p:cNvSpPr/>
          <p:nvPr/>
        </p:nvSpPr>
        <p:spPr>
          <a:xfrm>
            <a:off x="7891272" y="6775704"/>
            <a:ext cx="118872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10,000</a:t>
            </a:r>
            <a:endParaRPr lang="en-US" sz="1600" dirty="0"/>
          </a:p>
        </p:txBody>
      </p:sp>
      <p:sp>
        <p:nvSpPr>
          <p:cNvPr id="42" name="Shape 40"/>
          <p:cNvSpPr/>
          <p:nvPr/>
        </p:nvSpPr>
        <p:spPr>
          <a:xfrm>
            <a:off x="685800" y="7342632"/>
            <a:ext cx="8503920" cy="566928"/>
          </a:xfrm>
          <a:prstGeom prst="rect">
            <a:avLst/>
          </a:prstGeom>
          <a:solidFill>
            <a:srgbClr val="F4F6F8"/>
          </a:solidFill>
          <a:ln w="12700">
            <a:solidFill>
              <a:srgbClr val="D7DCE1"/>
            </a:solidFill>
            <a:prstDash val="solid"/>
          </a:ln>
        </p:spPr>
      </p:sp>
      <p:sp>
        <p:nvSpPr>
          <p:cNvPr id="43" name="Text 41"/>
          <p:cNvSpPr/>
          <p:nvPr/>
        </p:nvSpPr>
        <p:spPr>
          <a:xfrm>
            <a:off x="941832" y="7342632"/>
            <a:ext cx="2834640" cy="566928"/>
          </a:xfrm>
          <a:prstGeom prst="rect">
            <a:avLst/>
          </a:prstGeom>
          <a:noFill/>
          <a:ln/>
        </p:spPr>
        <p:txBody>
          <a:bodyPr wrap="square" lIns="0" tIns="0" rIns="0" bIns="0" rtlCol="0" anchor="ctr"/>
          <a:lstStyle/>
          <a:p>
            <a:pPr marL="0" indent="0" algn="l">
              <a:buNone/>
            </a:pPr>
            <a:r>
              <a:rPr lang="en-US" sz="1600" b="1" dirty="0">
                <a:solidFill>
                  <a:srgbClr val="000000"/>
                </a:solidFill>
                <a:latin typeface="Calibri" pitchFamily="34" charset="0"/>
                <a:ea typeface="Calibri" pitchFamily="34" charset="-122"/>
                <a:cs typeface="Calibri" pitchFamily="34" charset="-120"/>
              </a:rPr>
              <a:t>Macro average</a:t>
            </a:r>
            <a:endParaRPr lang="en-US" sz="1600" dirty="0"/>
          </a:p>
        </p:txBody>
      </p:sp>
      <p:sp>
        <p:nvSpPr>
          <p:cNvPr id="44" name="Text 42"/>
          <p:cNvSpPr/>
          <p:nvPr/>
        </p:nvSpPr>
        <p:spPr>
          <a:xfrm>
            <a:off x="4142232" y="7342632"/>
            <a:ext cx="100584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0.65</a:t>
            </a:r>
            <a:endParaRPr lang="en-US" sz="1600" dirty="0"/>
          </a:p>
        </p:txBody>
      </p:sp>
      <p:sp>
        <p:nvSpPr>
          <p:cNvPr id="45" name="Text 43"/>
          <p:cNvSpPr/>
          <p:nvPr/>
        </p:nvSpPr>
        <p:spPr>
          <a:xfrm>
            <a:off x="5513832" y="7342632"/>
            <a:ext cx="86868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0.72</a:t>
            </a:r>
            <a:endParaRPr lang="en-US" sz="1600" dirty="0"/>
          </a:p>
        </p:txBody>
      </p:sp>
      <p:sp>
        <p:nvSpPr>
          <p:cNvPr id="46" name="Text 44"/>
          <p:cNvSpPr/>
          <p:nvPr/>
        </p:nvSpPr>
        <p:spPr>
          <a:xfrm>
            <a:off x="6748272" y="7342632"/>
            <a:ext cx="77724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0.61</a:t>
            </a:r>
            <a:endParaRPr lang="en-US" sz="1600" dirty="0"/>
          </a:p>
        </p:txBody>
      </p:sp>
      <p:sp>
        <p:nvSpPr>
          <p:cNvPr id="47" name="Text 45"/>
          <p:cNvSpPr/>
          <p:nvPr/>
        </p:nvSpPr>
        <p:spPr>
          <a:xfrm>
            <a:off x="7891272" y="7342632"/>
            <a:ext cx="118872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10,000</a:t>
            </a:r>
            <a:endParaRPr lang="en-US" sz="1600" dirty="0"/>
          </a:p>
        </p:txBody>
      </p:sp>
      <p:sp>
        <p:nvSpPr>
          <p:cNvPr id="48" name="Shape 46"/>
          <p:cNvSpPr/>
          <p:nvPr/>
        </p:nvSpPr>
        <p:spPr>
          <a:xfrm>
            <a:off x="685800" y="7909560"/>
            <a:ext cx="8503920" cy="566928"/>
          </a:xfrm>
          <a:prstGeom prst="rect">
            <a:avLst/>
          </a:prstGeom>
          <a:solidFill>
            <a:srgbClr val="FFFFFF"/>
          </a:solidFill>
          <a:ln w="12700">
            <a:solidFill>
              <a:srgbClr val="D7DCE1"/>
            </a:solidFill>
            <a:prstDash val="solid"/>
          </a:ln>
        </p:spPr>
      </p:sp>
      <p:sp>
        <p:nvSpPr>
          <p:cNvPr id="49" name="Text 47"/>
          <p:cNvSpPr/>
          <p:nvPr/>
        </p:nvSpPr>
        <p:spPr>
          <a:xfrm>
            <a:off x="941832" y="7909560"/>
            <a:ext cx="2834640" cy="566928"/>
          </a:xfrm>
          <a:prstGeom prst="rect">
            <a:avLst/>
          </a:prstGeom>
          <a:noFill/>
          <a:ln/>
        </p:spPr>
        <p:txBody>
          <a:bodyPr wrap="square" lIns="0" tIns="0" rIns="0" bIns="0" rtlCol="0" anchor="ctr"/>
          <a:lstStyle/>
          <a:p>
            <a:pPr marL="0" indent="0" algn="l">
              <a:buNone/>
            </a:pPr>
            <a:r>
              <a:rPr lang="en-US" sz="1600" b="1" dirty="0">
                <a:solidFill>
                  <a:srgbClr val="000000"/>
                </a:solidFill>
                <a:latin typeface="Calibri" pitchFamily="34" charset="0"/>
                <a:ea typeface="Calibri" pitchFamily="34" charset="-122"/>
                <a:cs typeface="Calibri" pitchFamily="34" charset="-120"/>
              </a:rPr>
              <a:t>Weighted average</a:t>
            </a:r>
            <a:endParaRPr lang="en-US" sz="1600" dirty="0"/>
          </a:p>
        </p:txBody>
      </p:sp>
      <p:sp>
        <p:nvSpPr>
          <p:cNvPr id="50" name="Text 48"/>
          <p:cNvSpPr/>
          <p:nvPr/>
        </p:nvSpPr>
        <p:spPr>
          <a:xfrm>
            <a:off x="4142232" y="7909560"/>
            <a:ext cx="100584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0.81</a:t>
            </a:r>
            <a:endParaRPr lang="en-US" sz="1600" dirty="0"/>
          </a:p>
        </p:txBody>
      </p:sp>
      <p:sp>
        <p:nvSpPr>
          <p:cNvPr id="51" name="Text 49"/>
          <p:cNvSpPr/>
          <p:nvPr/>
        </p:nvSpPr>
        <p:spPr>
          <a:xfrm>
            <a:off x="5513832" y="7909560"/>
            <a:ext cx="86868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0.64</a:t>
            </a:r>
            <a:endParaRPr lang="en-US" sz="1600" dirty="0"/>
          </a:p>
        </p:txBody>
      </p:sp>
      <p:sp>
        <p:nvSpPr>
          <p:cNvPr id="52" name="Text 50"/>
          <p:cNvSpPr/>
          <p:nvPr/>
        </p:nvSpPr>
        <p:spPr>
          <a:xfrm>
            <a:off x="6748272" y="7909560"/>
            <a:ext cx="77724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0.67</a:t>
            </a:r>
            <a:endParaRPr lang="en-US" sz="1600" dirty="0"/>
          </a:p>
        </p:txBody>
      </p:sp>
      <p:sp>
        <p:nvSpPr>
          <p:cNvPr id="53" name="Text 51"/>
          <p:cNvSpPr/>
          <p:nvPr/>
        </p:nvSpPr>
        <p:spPr>
          <a:xfrm>
            <a:off x="7891272" y="7909560"/>
            <a:ext cx="1188720" cy="566928"/>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10,000</a:t>
            </a:r>
            <a:endParaRPr lang="en-US" sz="1600" dirty="0"/>
          </a:p>
        </p:txBody>
      </p:sp>
      <p:sp>
        <p:nvSpPr>
          <p:cNvPr id="54" name="Shape 52"/>
          <p:cNvSpPr/>
          <p:nvPr/>
        </p:nvSpPr>
        <p:spPr>
          <a:xfrm>
            <a:off x="685800" y="8641080"/>
            <a:ext cx="8503920" cy="1051560"/>
          </a:xfrm>
          <a:prstGeom prst="roundRect">
            <a:avLst>
              <a:gd name="adj" fmla="val 7826"/>
            </a:avLst>
          </a:prstGeom>
          <a:solidFill>
            <a:srgbClr val="E7EBEF"/>
          </a:solidFill>
          <a:ln w="12700">
            <a:solidFill>
              <a:srgbClr val="D7DCE1"/>
            </a:solidFill>
            <a:prstDash val="solid"/>
          </a:ln>
        </p:spPr>
      </p:sp>
      <p:sp>
        <p:nvSpPr>
          <p:cNvPr id="55" name="Text 53"/>
          <p:cNvSpPr/>
          <p:nvPr/>
        </p:nvSpPr>
        <p:spPr>
          <a:xfrm>
            <a:off x="1097280" y="8778240"/>
            <a:ext cx="7680960" cy="822960"/>
          </a:xfrm>
          <a:prstGeom prst="rect">
            <a:avLst/>
          </a:prstGeom>
          <a:noFill/>
          <a:ln/>
        </p:spPr>
        <p:txBody>
          <a:bodyPr wrap="square" lIns="0" tIns="0" rIns="0" bIns="0" rtlCol="0" anchor="ctr"/>
          <a:lstStyle/>
          <a:p>
            <a:pPr marL="0" indent="0">
              <a:lnSpc>
                <a:spcPts val="2100"/>
              </a:lnSpc>
              <a:buNone/>
            </a:pPr>
            <a:r>
              <a:rPr lang="en-US" sz="1550" i="1" dirty="0">
                <a:solidFill>
                  <a:srgbClr val="5B6B7C"/>
                </a:solidFill>
                <a:latin typeface="Calibri" pitchFamily="34" charset="0"/>
                <a:ea typeface="Calibri" pitchFamily="34" charset="-122"/>
                <a:cs typeface="Calibri" pitchFamily="34" charset="-120"/>
              </a:rPr>
              <a:t>Training over 40,000 records completed in 4.41 seconds — a figure that makes the periodic retraining pathway designed in Chapter 4 entirely practical.</a:t>
            </a:r>
            <a:endParaRPr lang="en-US" sz="1550" dirty="0"/>
          </a:p>
        </p:txBody>
      </p:sp>
      <p:sp>
        <p:nvSpPr>
          <p:cNvPr id="56" name="Shape 54"/>
          <p:cNvSpPr/>
          <p:nvPr/>
        </p:nvSpPr>
        <p:spPr>
          <a:xfrm>
            <a:off x="9738360" y="4572000"/>
            <a:ext cx="7863840" cy="5120640"/>
          </a:xfrm>
          <a:prstGeom prst="roundRect">
            <a:avLst>
              <a:gd name="adj" fmla="val 1607"/>
            </a:avLst>
          </a:prstGeom>
          <a:solidFill>
            <a:srgbClr val="F4F6F8"/>
          </a:solidFill>
          <a:ln w="12700">
            <a:solidFill>
              <a:srgbClr val="D7DCE1"/>
            </a:solidFill>
            <a:prstDash val="solid"/>
          </a:ln>
        </p:spPr>
      </p:sp>
      <p:pic>
        <p:nvPicPr>
          <p:cNvPr id="57" name="Image 0" descr="figs/Figure_5_10.png"/>
          <p:cNvPicPr>
            <a:picLocks noChangeAspect="1"/>
          </p:cNvPicPr>
          <p:nvPr/>
        </p:nvPicPr>
        <p:blipFill>
          <a:blip r:embed="rId3"/>
          <a:stretch>
            <a:fillRect/>
          </a:stretch>
        </p:blipFill>
        <p:spPr>
          <a:xfrm>
            <a:off x="10195560" y="4800600"/>
            <a:ext cx="6949440" cy="4160520"/>
          </a:xfrm>
          <a:prstGeom prst="rect">
            <a:avLst/>
          </a:prstGeom>
        </p:spPr>
      </p:pic>
      <p:sp>
        <p:nvSpPr>
          <p:cNvPr id="58" name="Text 55"/>
          <p:cNvSpPr/>
          <p:nvPr/>
        </p:nvSpPr>
        <p:spPr>
          <a:xfrm>
            <a:off x="9738360" y="9098280"/>
            <a:ext cx="7863840" cy="310896"/>
          </a:xfrm>
          <a:prstGeom prst="rect">
            <a:avLst/>
          </a:prstGeom>
          <a:noFill/>
          <a:ln/>
        </p:spPr>
        <p:txBody>
          <a:bodyPr wrap="square" lIns="0" tIns="0" rIns="0" bIns="0" rtlCol="0" anchor="ctr"/>
          <a:lstStyle/>
          <a:p>
            <a:pPr marL="0" indent="0" algn="ctr">
              <a:buNone/>
            </a:pPr>
            <a:r>
              <a:rPr lang="en-US" sz="1600" i="1" dirty="0">
                <a:solidFill>
                  <a:srgbClr val="5B6B7C"/>
                </a:solidFill>
                <a:latin typeface="Calibri" pitchFamily="34" charset="0"/>
                <a:ea typeface="Calibri" pitchFamily="34" charset="-122"/>
                <a:cs typeface="Calibri" pitchFamily="34" charset="-120"/>
              </a:rPr>
              <a:t>Figure 5.10 — Per-class precision, recall and F1-score comparison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5  —  RESULTS</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Confusion Matrix &amp; the Recall–Precision Trade-off</a:t>
            </a:r>
            <a:endParaRPr lang="en-US" sz="3900" dirty="0"/>
          </a:p>
        </p:txBody>
      </p:sp>
      <p:sp>
        <p:nvSpPr>
          <p:cNvPr id="4" name="Shape 2"/>
          <p:cNvSpPr/>
          <p:nvPr/>
        </p:nvSpPr>
        <p:spPr>
          <a:xfrm>
            <a:off x="685800" y="1874520"/>
            <a:ext cx="7498080" cy="5852160"/>
          </a:xfrm>
          <a:prstGeom prst="roundRect">
            <a:avLst>
              <a:gd name="adj" fmla="val 1406"/>
            </a:avLst>
          </a:prstGeom>
          <a:solidFill>
            <a:srgbClr val="F4F6F8"/>
          </a:solidFill>
          <a:ln w="12700">
            <a:solidFill>
              <a:srgbClr val="D7DCE1"/>
            </a:solidFill>
            <a:prstDash val="solid"/>
          </a:ln>
        </p:spPr>
      </p:sp>
      <p:pic>
        <p:nvPicPr>
          <p:cNvPr id="5" name="Image 0" descr="figs/Figure_5_8.png"/>
          <p:cNvPicPr>
            <a:picLocks noChangeAspect="1"/>
          </p:cNvPicPr>
          <p:nvPr/>
        </p:nvPicPr>
        <p:blipFill>
          <a:blip r:embed="rId3"/>
          <a:stretch>
            <a:fillRect/>
          </a:stretch>
        </p:blipFill>
        <p:spPr>
          <a:xfrm>
            <a:off x="1920240" y="2084832"/>
            <a:ext cx="5029200" cy="5257800"/>
          </a:xfrm>
          <a:prstGeom prst="rect">
            <a:avLst/>
          </a:prstGeom>
        </p:spPr>
      </p:pic>
      <p:sp>
        <p:nvSpPr>
          <p:cNvPr id="6" name="Text 3"/>
          <p:cNvSpPr/>
          <p:nvPr/>
        </p:nvSpPr>
        <p:spPr>
          <a:xfrm>
            <a:off x="685800" y="7360920"/>
            <a:ext cx="7498080" cy="310896"/>
          </a:xfrm>
          <a:prstGeom prst="rect">
            <a:avLst/>
          </a:prstGeom>
          <a:noFill/>
          <a:ln/>
        </p:spPr>
        <p:txBody>
          <a:bodyPr wrap="square" lIns="0" tIns="0" rIns="0" bIns="0" rtlCol="0" anchor="ctr"/>
          <a:lstStyle/>
          <a:p>
            <a:pPr marL="0" indent="0" algn="ctr">
              <a:buNone/>
            </a:pPr>
            <a:r>
              <a:rPr lang="en-US" sz="1600" i="1" dirty="0">
                <a:solidFill>
                  <a:srgbClr val="5B6B7C"/>
                </a:solidFill>
                <a:latin typeface="Calibri" pitchFamily="34" charset="0"/>
                <a:ea typeface="Calibri" pitchFamily="34" charset="-122"/>
                <a:cs typeface="Calibri" pitchFamily="34" charset="-120"/>
              </a:rPr>
              <a:t>Figure 5.8 — Confusion matrix on the held-out test set</a:t>
            </a:r>
            <a:endParaRPr lang="en-US" sz="1600" dirty="0"/>
          </a:p>
        </p:txBody>
      </p:sp>
      <p:sp>
        <p:nvSpPr>
          <p:cNvPr id="7" name="Shape 4"/>
          <p:cNvSpPr/>
          <p:nvPr/>
        </p:nvSpPr>
        <p:spPr>
          <a:xfrm>
            <a:off x="685800" y="8001000"/>
            <a:ext cx="7498080" cy="1691640"/>
          </a:xfrm>
          <a:prstGeom prst="roundRect">
            <a:avLst>
              <a:gd name="adj" fmla="val 4865"/>
            </a:avLst>
          </a:prstGeom>
          <a:solidFill>
            <a:srgbClr val="E7EBEF"/>
          </a:solidFill>
          <a:ln w="12700">
            <a:solidFill>
              <a:srgbClr val="D7DCE1"/>
            </a:solidFill>
            <a:prstDash val="solid"/>
          </a:ln>
        </p:spPr>
      </p:sp>
      <p:sp>
        <p:nvSpPr>
          <p:cNvPr id="8" name="Text 5"/>
          <p:cNvSpPr/>
          <p:nvPr/>
        </p:nvSpPr>
        <p:spPr>
          <a:xfrm>
            <a:off x="1097280" y="8275320"/>
            <a:ext cx="6675120" cy="1188720"/>
          </a:xfrm>
          <a:prstGeom prst="rect">
            <a:avLst/>
          </a:prstGeom>
          <a:noFill/>
          <a:ln/>
        </p:spPr>
        <p:txBody>
          <a:bodyPr wrap="square" lIns="0" tIns="0" rIns="0" bIns="0" rtlCol="0" anchor="t"/>
          <a:lstStyle/>
          <a:p>
            <a:pPr marL="0" indent="0">
              <a:lnSpc>
                <a:spcPts val="2112"/>
              </a:lnSpc>
              <a:buNone/>
            </a:pPr>
            <a:r>
              <a:rPr lang="en-US" sz="1600" dirty="0">
                <a:solidFill>
                  <a:srgbClr val="000000"/>
                </a:solidFill>
                <a:latin typeface="Calibri" pitchFamily="34" charset="0"/>
                <a:ea typeface="Calibri" pitchFamily="34" charset="-122"/>
                <a:cs typeface="Calibri" pitchFamily="34" charset="-120"/>
              </a:rPr>
              <a:t>The matrix reconciles exactly: (4,514 + 1,870) / 10,000 = 0.6384;  minority recall 1,870 / 2,192 = 0.853;  minority precision 1,870 / 5,164 = 0.362.</a:t>
            </a:r>
            <a:endParaRPr lang="en-US" sz="1600" dirty="0"/>
          </a:p>
        </p:txBody>
      </p:sp>
      <p:sp>
        <p:nvSpPr>
          <p:cNvPr id="9" name="Shape 6"/>
          <p:cNvSpPr/>
          <p:nvPr/>
        </p:nvSpPr>
        <p:spPr>
          <a:xfrm>
            <a:off x="8732520" y="1874520"/>
            <a:ext cx="8869680" cy="1234440"/>
          </a:xfrm>
          <a:prstGeom prst="roundRect">
            <a:avLst>
              <a:gd name="adj" fmla="val 6667"/>
            </a:avLst>
          </a:prstGeom>
          <a:solidFill>
            <a:srgbClr val="E7EBEF"/>
          </a:solidFill>
          <a:ln w="12700">
            <a:solidFill>
              <a:srgbClr val="D7DCE1"/>
            </a:solidFill>
            <a:prstDash val="solid"/>
          </a:ln>
        </p:spPr>
      </p:sp>
      <p:sp>
        <p:nvSpPr>
          <p:cNvPr id="10" name="Text 7"/>
          <p:cNvSpPr/>
          <p:nvPr/>
        </p:nvSpPr>
        <p:spPr>
          <a:xfrm>
            <a:off x="9144000" y="1874520"/>
            <a:ext cx="2651760" cy="1234440"/>
          </a:xfrm>
          <a:prstGeom prst="rect">
            <a:avLst/>
          </a:prstGeom>
          <a:noFill/>
          <a:ln/>
        </p:spPr>
        <p:txBody>
          <a:bodyPr wrap="square" lIns="0" tIns="0" rIns="0" bIns="0"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1,870</a:t>
            </a:r>
            <a:endParaRPr lang="en-US" sz="3400" dirty="0"/>
          </a:p>
        </p:txBody>
      </p:sp>
      <p:sp>
        <p:nvSpPr>
          <p:cNvPr id="11" name="Text 8"/>
          <p:cNvSpPr/>
          <p:nvPr/>
        </p:nvSpPr>
        <p:spPr>
          <a:xfrm>
            <a:off x="11932920" y="1874520"/>
            <a:ext cx="5257800" cy="1234440"/>
          </a:xfrm>
          <a:prstGeom prst="rect">
            <a:avLst/>
          </a:prstGeom>
          <a:noFill/>
          <a:ln/>
        </p:spPr>
        <p:txBody>
          <a:bodyPr wrap="square" lIns="0" tIns="0" rIns="0" bIns="0" rtlCol="0" anchor="ctr"/>
          <a:lstStyle/>
          <a:p>
            <a:pPr marL="0" indent="0">
              <a:lnSpc>
                <a:spcPts val="2200"/>
              </a:lnSpc>
              <a:buNone/>
            </a:pPr>
            <a:r>
              <a:rPr lang="en-US" sz="1650" dirty="0">
                <a:solidFill>
                  <a:srgbClr val="000000"/>
                </a:solidFill>
                <a:latin typeface="Calibri" pitchFamily="34" charset="0"/>
                <a:ea typeface="Calibri" pitchFamily="34" charset="-122"/>
                <a:cs typeface="Calibri" pitchFamily="34" charset="-120"/>
              </a:rPr>
              <a:t>of 2,192 at-risk graduates correctly identified</a:t>
            </a:r>
            <a:endParaRPr lang="en-US" sz="1650" dirty="0"/>
          </a:p>
        </p:txBody>
      </p:sp>
      <p:sp>
        <p:nvSpPr>
          <p:cNvPr id="12" name="Shape 9"/>
          <p:cNvSpPr/>
          <p:nvPr/>
        </p:nvSpPr>
        <p:spPr>
          <a:xfrm>
            <a:off x="8732520" y="3246120"/>
            <a:ext cx="8869680" cy="1234440"/>
          </a:xfrm>
          <a:prstGeom prst="roundRect">
            <a:avLst>
              <a:gd name="adj" fmla="val 6667"/>
            </a:avLst>
          </a:prstGeom>
          <a:solidFill>
            <a:srgbClr val="F4F6F8"/>
          </a:solidFill>
          <a:ln w="12700">
            <a:solidFill>
              <a:srgbClr val="D7DCE1"/>
            </a:solidFill>
            <a:prstDash val="solid"/>
          </a:ln>
        </p:spPr>
      </p:sp>
      <p:sp>
        <p:nvSpPr>
          <p:cNvPr id="13" name="Text 10"/>
          <p:cNvSpPr/>
          <p:nvPr/>
        </p:nvSpPr>
        <p:spPr>
          <a:xfrm>
            <a:off x="9144000" y="3246120"/>
            <a:ext cx="2651760" cy="1234440"/>
          </a:xfrm>
          <a:prstGeom prst="rect">
            <a:avLst/>
          </a:prstGeom>
          <a:noFill/>
          <a:ln/>
        </p:spPr>
        <p:txBody>
          <a:bodyPr wrap="square" lIns="0" tIns="0" rIns="0" bIns="0"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85.3%</a:t>
            </a:r>
            <a:endParaRPr lang="en-US" sz="3400" dirty="0"/>
          </a:p>
        </p:txBody>
      </p:sp>
      <p:sp>
        <p:nvSpPr>
          <p:cNvPr id="14" name="Text 11"/>
          <p:cNvSpPr/>
          <p:nvPr/>
        </p:nvSpPr>
        <p:spPr>
          <a:xfrm>
            <a:off x="11932920" y="3246120"/>
            <a:ext cx="5257800" cy="1234440"/>
          </a:xfrm>
          <a:prstGeom prst="rect">
            <a:avLst/>
          </a:prstGeom>
          <a:noFill/>
          <a:ln/>
        </p:spPr>
        <p:txBody>
          <a:bodyPr wrap="square" lIns="0" tIns="0" rIns="0" bIns="0" rtlCol="0" anchor="ctr"/>
          <a:lstStyle/>
          <a:p>
            <a:pPr marL="0" indent="0">
              <a:lnSpc>
                <a:spcPts val="2200"/>
              </a:lnSpc>
              <a:buNone/>
            </a:pPr>
            <a:r>
              <a:rPr lang="en-US" sz="1650" dirty="0">
                <a:solidFill>
                  <a:srgbClr val="000000"/>
                </a:solidFill>
                <a:latin typeface="Calibri" pitchFamily="34" charset="0"/>
                <a:ea typeface="Calibri" pitchFamily="34" charset="-122"/>
                <a:cs typeface="Calibri" pitchFamily="34" charset="-120"/>
              </a:rPr>
              <a:t>minority-class recall — the operationally decisive figure</a:t>
            </a:r>
            <a:endParaRPr lang="en-US" sz="1650" dirty="0"/>
          </a:p>
        </p:txBody>
      </p:sp>
      <p:sp>
        <p:nvSpPr>
          <p:cNvPr id="15" name="Shape 12"/>
          <p:cNvSpPr/>
          <p:nvPr/>
        </p:nvSpPr>
        <p:spPr>
          <a:xfrm>
            <a:off x="8732520" y="4617720"/>
            <a:ext cx="8869680" cy="1234440"/>
          </a:xfrm>
          <a:prstGeom prst="roundRect">
            <a:avLst>
              <a:gd name="adj" fmla="val 6667"/>
            </a:avLst>
          </a:prstGeom>
          <a:solidFill>
            <a:srgbClr val="E7EBEF"/>
          </a:solidFill>
          <a:ln w="12700">
            <a:solidFill>
              <a:srgbClr val="D7DCE1"/>
            </a:solidFill>
            <a:prstDash val="solid"/>
          </a:ln>
        </p:spPr>
      </p:sp>
      <p:sp>
        <p:nvSpPr>
          <p:cNvPr id="16" name="Text 13"/>
          <p:cNvSpPr/>
          <p:nvPr/>
        </p:nvSpPr>
        <p:spPr>
          <a:xfrm>
            <a:off x="9144000" y="4617720"/>
            <a:ext cx="2651760" cy="1234440"/>
          </a:xfrm>
          <a:prstGeom prst="rect">
            <a:avLst/>
          </a:prstGeom>
          <a:noFill/>
          <a:ln/>
        </p:spPr>
        <p:txBody>
          <a:bodyPr wrap="square" lIns="0" tIns="0" rIns="0" bIns="0"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322</a:t>
            </a:r>
            <a:endParaRPr lang="en-US" sz="3400" dirty="0"/>
          </a:p>
        </p:txBody>
      </p:sp>
      <p:sp>
        <p:nvSpPr>
          <p:cNvPr id="17" name="Text 14"/>
          <p:cNvSpPr/>
          <p:nvPr/>
        </p:nvSpPr>
        <p:spPr>
          <a:xfrm>
            <a:off x="11932920" y="4617720"/>
            <a:ext cx="5257800" cy="1234440"/>
          </a:xfrm>
          <a:prstGeom prst="rect">
            <a:avLst/>
          </a:prstGeom>
          <a:noFill/>
          <a:ln/>
        </p:spPr>
        <p:txBody>
          <a:bodyPr wrap="square" lIns="0" tIns="0" rIns="0" bIns="0" rtlCol="0" anchor="ctr"/>
          <a:lstStyle/>
          <a:p>
            <a:pPr marL="0" indent="0">
              <a:lnSpc>
                <a:spcPts val="2200"/>
              </a:lnSpc>
              <a:buNone/>
            </a:pPr>
            <a:r>
              <a:rPr lang="en-US" sz="1650" dirty="0">
                <a:solidFill>
                  <a:srgbClr val="000000"/>
                </a:solidFill>
                <a:latin typeface="Calibri" pitchFamily="34" charset="0"/>
                <a:ea typeface="Calibri" pitchFamily="34" charset="-122"/>
                <a:cs typeface="Calibri" pitchFamily="34" charset="-120"/>
              </a:rPr>
              <a:t>at-risk graduates missed by the model</a:t>
            </a:r>
            <a:endParaRPr lang="en-US" sz="1650" dirty="0"/>
          </a:p>
        </p:txBody>
      </p:sp>
      <p:sp>
        <p:nvSpPr>
          <p:cNvPr id="18" name="Shape 15"/>
          <p:cNvSpPr/>
          <p:nvPr/>
        </p:nvSpPr>
        <p:spPr>
          <a:xfrm>
            <a:off x="8732520" y="5943600"/>
            <a:ext cx="8869680" cy="1783080"/>
          </a:xfrm>
          <a:prstGeom prst="roundRect">
            <a:avLst>
              <a:gd name="adj" fmla="val 4865"/>
            </a:avLst>
          </a:prstGeom>
          <a:solidFill>
            <a:srgbClr val="F4F6F8"/>
          </a:solidFill>
          <a:ln w="12700">
            <a:solidFill>
              <a:srgbClr val="D7DCE1"/>
            </a:solidFill>
            <a:prstDash val="solid"/>
          </a:ln>
        </p:spPr>
      </p:sp>
      <p:sp>
        <p:nvSpPr>
          <p:cNvPr id="19" name="Text 16"/>
          <p:cNvSpPr/>
          <p:nvPr/>
        </p:nvSpPr>
        <p:spPr>
          <a:xfrm>
            <a:off x="9144000" y="6108192"/>
            <a:ext cx="804672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WHAT THE MODEL ACHIEVES</a:t>
            </a:r>
            <a:endParaRPr lang="en-US" sz="1500" dirty="0"/>
          </a:p>
        </p:txBody>
      </p:sp>
      <p:sp>
        <p:nvSpPr>
          <p:cNvPr id="20" name="Text 17"/>
          <p:cNvSpPr/>
          <p:nvPr/>
        </p:nvSpPr>
        <p:spPr>
          <a:xfrm>
            <a:off x="9144000" y="6519672"/>
            <a:ext cx="8046720" cy="1024128"/>
          </a:xfrm>
          <a:prstGeom prst="rect">
            <a:avLst/>
          </a:prstGeom>
          <a:noFill/>
          <a:ln/>
        </p:spPr>
        <p:txBody>
          <a:bodyPr wrap="square" lIns="0" tIns="0" rIns="0" bIns="0" rtlCol="0" anchor="t"/>
          <a:lstStyle/>
          <a:p>
            <a:pPr marL="0" indent="0">
              <a:lnSpc>
                <a:spcPts val="1980"/>
              </a:lnSpc>
              <a:buNone/>
            </a:pPr>
            <a:r>
              <a:rPr lang="en-US" sz="1500" dirty="0">
                <a:solidFill>
                  <a:srgbClr val="000000"/>
                </a:solidFill>
                <a:latin typeface="Calibri" pitchFamily="34" charset="0"/>
                <a:ea typeface="Calibri" pitchFamily="34" charset="-122"/>
                <a:cs typeface="Calibri" pitchFamily="34" charset="-120"/>
              </a:rPr>
              <a:t>The three imbalance corrections were applied specifically to maximise recovery of at-risk graduates, and on that criterion the model performs strongly. For an early-warning system whose purpose is to route students toward support before they reach the job market, minority-class recall is the decisive number.</a:t>
            </a:r>
            <a:endParaRPr lang="en-US" sz="1500" dirty="0"/>
          </a:p>
        </p:txBody>
      </p:sp>
      <p:sp>
        <p:nvSpPr>
          <p:cNvPr id="21" name="Shape 18"/>
          <p:cNvSpPr/>
          <p:nvPr/>
        </p:nvSpPr>
        <p:spPr>
          <a:xfrm>
            <a:off x="8732520" y="7863840"/>
            <a:ext cx="8869680" cy="1828800"/>
          </a:xfrm>
          <a:prstGeom prst="roundRect">
            <a:avLst>
              <a:gd name="adj" fmla="val 4500"/>
            </a:avLst>
          </a:prstGeom>
          <a:solidFill>
            <a:srgbClr val="E7EBEF"/>
          </a:solidFill>
          <a:ln w="12700">
            <a:solidFill>
              <a:srgbClr val="D7DCE1"/>
            </a:solidFill>
            <a:prstDash val="solid"/>
          </a:ln>
        </p:spPr>
      </p:sp>
      <p:sp>
        <p:nvSpPr>
          <p:cNvPr id="22" name="Text 19"/>
          <p:cNvSpPr/>
          <p:nvPr/>
        </p:nvSpPr>
        <p:spPr>
          <a:xfrm>
            <a:off x="9144000" y="8065008"/>
            <a:ext cx="804672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THE COST, STATED PLAINLY</a:t>
            </a:r>
            <a:endParaRPr lang="en-US" sz="1500" dirty="0"/>
          </a:p>
        </p:txBody>
      </p:sp>
      <p:sp>
        <p:nvSpPr>
          <p:cNvPr id="23" name="Text 20"/>
          <p:cNvSpPr/>
          <p:nvPr/>
        </p:nvSpPr>
        <p:spPr>
          <a:xfrm>
            <a:off x="9144000" y="8503920"/>
            <a:ext cx="8046720" cy="1097280"/>
          </a:xfrm>
          <a:prstGeom prst="rect">
            <a:avLst/>
          </a:prstGeom>
          <a:noFill/>
          <a:ln/>
        </p:spPr>
        <p:txBody>
          <a:bodyPr wrap="square" lIns="0" tIns="0" rIns="0" bIns="0" rtlCol="0" anchor="t"/>
          <a:lstStyle/>
          <a:p>
            <a:pPr marL="0" indent="0">
              <a:lnSpc>
                <a:spcPts val="1980"/>
              </a:lnSpc>
              <a:buNone/>
            </a:pPr>
            <a:r>
              <a:rPr lang="en-US" sz="1500" dirty="0">
                <a:solidFill>
                  <a:srgbClr val="000000"/>
                </a:solidFill>
                <a:latin typeface="Calibri" pitchFamily="34" charset="0"/>
                <a:ea typeface="Calibri" pitchFamily="34" charset="-122"/>
                <a:cs typeface="Calibri" pitchFamily="34" charset="-120"/>
              </a:rPr>
              <a:t>Minority precision of 0.36 means roughly two of every three flagged graduates are in fact employable, and overall accuracy of 63.84% sits about 14 points below the 78.08% majority-class baseline. The configuration is over-corrected toward the minority class and requires recalibration before deployment.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5  —  MODEL SELECTION</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Why XGBoost: Justification &amp; Comparison Status</a:t>
            </a:r>
            <a:endParaRPr lang="en-US" sz="3900" dirty="0"/>
          </a:p>
        </p:txBody>
      </p:sp>
      <p:sp>
        <p:nvSpPr>
          <p:cNvPr id="4" name="Text 2"/>
          <p:cNvSpPr/>
          <p:nvPr/>
        </p:nvSpPr>
        <p:spPr>
          <a:xfrm>
            <a:off x="685800" y="1847088"/>
            <a:ext cx="16916400" cy="822960"/>
          </a:xfrm>
          <a:prstGeom prst="rect">
            <a:avLst/>
          </a:prstGeom>
          <a:noFill/>
          <a:ln/>
        </p:spPr>
        <p:txBody>
          <a:bodyPr wrap="square" lIns="0" tIns="0" rIns="0" bIns="0" rtlCol="0" anchor="t"/>
          <a:lstStyle/>
          <a:p>
            <a:pPr marL="0" indent="0">
              <a:lnSpc>
                <a:spcPts val="2700"/>
              </a:lnSpc>
              <a:buNone/>
            </a:pPr>
            <a:r>
              <a:rPr lang="en-US" sz="2000" dirty="0">
                <a:solidFill>
                  <a:srgbClr val="000000"/>
                </a:solidFill>
                <a:latin typeface="Calibri" pitchFamily="34" charset="0"/>
                <a:ea typeface="Calibri" pitchFamily="34" charset="-122"/>
                <a:cs typeface="Calibri" pitchFamily="34" charset="-120"/>
              </a:rPr>
              <a:t>The executed pipeline trains and evaluates XGBoost only. Logistic Regression, Decision Tree, Random Forest and SVM were identified as candidate comparators in the research design, but comparative results have not yet been produced — so the algorithm choice is justified on established properties, not on a claim of measured superiority.</a:t>
            </a:r>
            <a:endParaRPr lang="en-US" sz="2000" dirty="0"/>
          </a:p>
        </p:txBody>
      </p:sp>
      <p:sp>
        <p:nvSpPr>
          <p:cNvPr id="5" name="Shape 3"/>
          <p:cNvSpPr/>
          <p:nvPr/>
        </p:nvSpPr>
        <p:spPr>
          <a:xfrm>
            <a:off x="685800" y="3063240"/>
            <a:ext cx="5425440" cy="1627632"/>
          </a:xfrm>
          <a:prstGeom prst="roundRect">
            <a:avLst>
              <a:gd name="adj" fmla="val 5056"/>
            </a:avLst>
          </a:prstGeom>
          <a:solidFill>
            <a:srgbClr val="F4F6F8"/>
          </a:solidFill>
          <a:ln w="12700">
            <a:solidFill>
              <a:srgbClr val="D7DCE1"/>
            </a:solidFill>
            <a:prstDash val="solid"/>
          </a:ln>
        </p:spPr>
      </p:sp>
      <p:sp>
        <p:nvSpPr>
          <p:cNvPr id="6" name="Text 4"/>
          <p:cNvSpPr/>
          <p:nvPr/>
        </p:nvSpPr>
        <p:spPr>
          <a:xfrm>
            <a:off x="1051560" y="3246120"/>
            <a:ext cx="4693920" cy="365760"/>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Tabular performance</a:t>
            </a:r>
            <a:endParaRPr lang="en-US" sz="1650" dirty="0"/>
          </a:p>
        </p:txBody>
      </p:sp>
      <p:sp>
        <p:nvSpPr>
          <p:cNvPr id="7" name="Text 5"/>
          <p:cNvSpPr/>
          <p:nvPr/>
        </p:nvSpPr>
        <p:spPr>
          <a:xfrm>
            <a:off x="1051560" y="3685032"/>
            <a:ext cx="4693920" cy="9144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Gradient-boosted tree ensembles are the consistent leading family on structured tabular classification of this size and shape (Chen &amp; Guestrin, 2016).</a:t>
            </a:r>
            <a:endParaRPr lang="en-US" sz="1450" dirty="0"/>
          </a:p>
        </p:txBody>
      </p:sp>
      <p:sp>
        <p:nvSpPr>
          <p:cNvPr id="8" name="Shape 6"/>
          <p:cNvSpPr/>
          <p:nvPr/>
        </p:nvSpPr>
        <p:spPr>
          <a:xfrm>
            <a:off x="6431280" y="3063240"/>
            <a:ext cx="5425440" cy="1627632"/>
          </a:xfrm>
          <a:prstGeom prst="roundRect">
            <a:avLst>
              <a:gd name="adj" fmla="val 5056"/>
            </a:avLst>
          </a:prstGeom>
          <a:solidFill>
            <a:srgbClr val="F4F6F8"/>
          </a:solidFill>
          <a:ln w="12700">
            <a:solidFill>
              <a:srgbClr val="D7DCE1"/>
            </a:solidFill>
            <a:prstDash val="solid"/>
          </a:ln>
        </p:spPr>
      </p:sp>
      <p:sp>
        <p:nvSpPr>
          <p:cNvPr id="9" name="Text 7"/>
          <p:cNvSpPr/>
          <p:nvPr/>
        </p:nvSpPr>
        <p:spPr>
          <a:xfrm>
            <a:off x="6797040" y="3246120"/>
            <a:ext cx="4693920" cy="365760"/>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Non-linear relationships</a:t>
            </a:r>
            <a:endParaRPr lang="en-US" sz="1650" dirty="0"/>
          </a:p>
        </p:txBody>
      </p:sp>
      <p:sp>
        <p:nvSpPr>
          <p:cNvPr id="10" name="Text 8"/>
          <p:cNvSpPr/>
          <p:nvPr/>
        </p:nvSpPr>
        <p:spPr>
          <a:xfrm>
            <a:off x="6797040" y="3685032"/>
            <a:ext cx="4693920" cy="9144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The marginal value of a first internship plainly exceeds that of a fourth; tree splits represent such saturating effects without specifying them in advance.</a:t>
            </a:r>
            <a:endParaRPr lang="en-US" sz="1450" dirty="0"/>
          </a:p>
        </p:txBody>
      </p:sp>
      <p:sp>
        <p:nvSpPr>
          <p:cNvPr id="11" name="Shape 9"/>
          <p:cNvSpPr/>
          <p:nvPr/>
        </p:nvSpPr>
        <p:spPr>
          <a:xfrm>
            <a:off x="12176760" y="3063240"/>
            <a:ext cx="5425440" cy="1627632"/>
          </a:xfrm>
          <a:prstGeom prst="roundRect">
            <a:avLst>
              <a:gd name="adj" fmla="val 5056"/>
            </a:avLst>
          </a:prstGeom>
          <a:solidFill>
            <a:srgbClr val="F4F6F8"/>
          </a:solidFill>
          <a:ln w="12700">
            <a:solidFill>
              <a:srgbClr val="D7DCE1"/>
            </a:solidFill>
            <a:prstDash val="solid"/>
          </a:ln>
        </p:spPr>
      </p:sp>
      <p:sp>
        <p:nvSpPr>
          <p:cNvPr id="12" name="Text 10"/>
          <p:cNvSpPr/>
          <p:nvPr/>
        </p:nvSpPr>
        <p:spPr>
          <a:xfrm>
            <a:off x="12542520" y="3246120"/>
            <a:ext cx="4693920" cy="365760"/>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Feature interactions</a:t>
            </a:r>
            <a:endParaRPr lang="en-US" sz="1650" dirty="0"/>
          </a:p>
        </p:txBody>
      </p:sp>
      <p:sp>
        <p:nvSpPr>
          <p:cNvPr id="13" name="Text 11"/>
          <p:cNvSpPr/>
          <p:nvPr/>
        </p:nvSpPr>
        <p:spPr>
          <a:xfrm>
            <a:off x="12542520" y="3685032"/>
            <a:ext cx="4693920" cy="9144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With max_depth = 6, each tree can encode interactions of up to six attributes automatically — something a linear model captures only through manual terms.</a:t>
            </a:r>
            <a:endParaRPr lang="en-US" sz="1450" dirty="0"/>
          </a:p>
        </p:txBody>
      </p:sp>
      <p:sp>
        <p:nvSpPr>
          <p:cNvPr id="14" name="Shape 12"/>
          <p:cNvSpPr/>
          <p:nvPr/>
        </p:nvSpPr>
        <p:spPr>
          <a:xfrm>
            <a:off x="685800" y="4846320"/>
            <a:ext cx="5425440" cy="1627632"/>
          </a:xfrm>
          <a:prstGeom prst="roundRect">
            <a:avLst>
              <a:gd name="adj" fmla="val 5056"/>
            </a:avLst>
          </a:prstGeom>
          <a:solidFill>
            <a:srgbClr val="E7EBEF"/>
          </a:solidFill>
          <a:ln w="12700">
            <a:solidFill>
              <a:srgbClr val="D7DCE1"/>
            </a:solidFill>
            <a:prstDash val="solid"/>
          </a:ln>
        </p:spPr>
      </p:sp>
      <p:sp>
        <p:nvSpPr>
          <p:cNvPr id="15" name="Text 13"/>
          <p:cNvSpPr/>
          <p:nvPr/>
        </p:nvSpPr>
        <p:spPr>
          <a:xfrm>
            <a:off x="1051560" y="5029200"/>
            <a:ext cx="4693920" cy="365760"/>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The boosting mechanism</a:t>
            </a:r>
            <a:endParaRPr lang="en-US" sz="1650" dirty="0"/>
          </a:p>
        </p:txBody>
      </p:sp>
      <p:sp>
        <p:nvSpPr>
          <p:cNvPr id="16" name="Text 14"/>
          <p:cNvSpPr/>
          <p:nvPr/>
        </p:nvSpPr>
        <p:spPr>
          <a:xfrm>
            <a:off x="1051560" y="5468112"/>
            <a:ext cx="4693920" cy="9144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Each successive tree fits the residual errors of the current ensemble, concentrating capacity on cases the model is currently getting wrong.</a:t>
            </a:r>
            <a:endParaRPr lang="en-US" sz="1450" dirty="0"/>
          </a:p>
        </p:txBody>
      </p:sp>
      <p:sp>
        <p:nvSpPr>
          <p:cNvPr id="17" name="Shape 15"/>
          <p:cNvSpPr/>
          <p:nvPr/>
        </p:nvSpPr>
        <p:spPr>
          <a:xfrm>
            <a:off x="6431280" y="4846320"/>
            <a:ext cx="5425440" cy="1627632"/>
          </a:xfrm>
          <a:prstGeom prst="roundRect">
            <a:avLst>
              <a:gd name="adj" fmla="val 5056"/>
            </a:avLst>
          </a:prstGeom>
          <a:solidFill>
            <a:srgbClr val="E7EBEF"/>
          </a:solidFill>
          <a:ln w="12700">
            <a:solidFill>
              <a:srgbClr val="D7DCE1"/>
            </a:solidFill>
            <a:prstDash val="solid"/>
          </a:ln>
        </p:spPr>
      </p:sp>
      <p:sp>
        <p:nvSpPr>
          <p:cNvPr id="18" name="Text 16"/>
          <p:cNvSpPr/>
          <p:nvPr/>
        </p:nvSpPr>
        <p:spPr>
          <a:xfrm>
            <a:off x="6797040" y="5029200"/>
            <a:ext cx="4693920" cy="365760"/>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Regularisation</a:t>
            </a:r>
            <a:endParaRPr lang="en-US" sz="1650" dirty="0"/>
          </a:p>
        </p:txBody>
      </p:sp>
      <p:sp>
        <p:nvSpPr>
          <p:cNvPr id="19" name="Text 17"/>
          <p:cNvSpPr/>
          <p:nvPr/>
        </p:nvSpPr>
        <p:spPr>
          <a:xfrm>
            <a:off x="6797040" y="5468112"/>
            <a:ext cx="4693920" cy="9144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L1 and L2 penalties on leaf weights, plus the depth limit and 0.05 shrinkage, give several independent controls on model complexity.</a:t>
            </a:r>
            <a:endParaRPr lang="en-US" sz="1450" dirty="0"/>
          </a:p>
        </p:txBody>
      </p:sp>
      <p:sp>
        <p:nvSpPr>
          <p:cNvPr id="20" name="Shape 18"/>
          <p:cNvSpPr/>
          <p:nvPr/>
        </p:nvSpPr>
        <p:spPr>
          <a:xfrm>
            <a:off x="12176760" y="4846320"/>
            <a:ext cx="5425440" cy="1627632"/>
          </a:xfrm>
          <a:prstGeom prst="roundRect">
            <a:avLst>
              <a:gd name="adj" fmla="val 5056"/>
            </a:avLst>
          </a:prstGeom>
          <a:solidFill>
            <a:srgbClr val="E7EBEF"/>
          </a:solidFill>
          <a:ln w="12700">
            <a:solidFill>
              <a:srgbClr val="D7DCE1"/>
            </a:solidFill>
            <a:prstDash val="solid"/>
          </a:ln>
        </p:spPr>
      </p:sp>
      <p:sp>
        <p:nvSpPr>
          <p:cNvPr id="21" name="Text 19"/>
          <p:cNvSpPr/>
          <p:nvPr/>
        </p:nvSpPr>
        <p:spPr>
          <a:xfrm>
            <a:off x="12542520" y="5029200"/>
            <a:ext cx="4693920" cy="365760"/>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Efficiency &amp; interpretability</a:t>
            </a:r>
            <a:endParaRPr lang="en-US" sz="1650" dirty="0"/>
          </a:p>
        </p:txBody>
      </p:sp>
      <p:sp>
        <p:nvSpPr>
          <p:cNvPr id="22" name="Text 20"/>
          <p:cNvSpPr/>
          <p:nvPr/>
        </p:nvSpPr>
        <p:spPr>
          <a:xfrm>
            <a:off x="12542520" y="5468112"/>
            <a:ext cx="4693920" cy="9144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4.41 s over 40,000 records makes periodic retraining practical, and native feature importance supplies the interpretability layer.</a:t>
            </a:r>
            <a:endParaRPr lang="en-US" sz="1450" dirty="0"/>
          </a:p>
        </p:txBody>
      </p:sp>
      <p:sp>
        <p:nvSpPr>
          <p:cNvPr id="23" name="Text 21"/>
          <p:cNvSpPr/>
          <p:nvPr/>
        </p:nvSpPr>
        <p:spPr>
          <a:xfrm>
            <a:off x="685800" y="6693408"/>
            <a:ext cx="1691640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TABLE 5.6  —  CANDIDATE ALGORITHMS AND THEIR STATUS</a:t>
            </a:r>
            <a:endParaRPr lang="en-US" sz="1500" dirty="0"/>
          </a:p>
        </p:txBody>
      </p:sp>
      <p:sp>
        <p:nvSpPr>
          <p:cNvPr id="24" name="Shape 22"/>
          <p:cNvSpPr/>
          <p:nvPr/>
        </p:nvSpPr>
        <p:spPr>
          <a:xfrm>
            <a:off x="685800" y="7150608"/>
            <a:ext cx="16916400" cy="493776"/>
          </a:xfrm>
          <a:prstGeom prst="rect">
            <a:avLst/>
          </a:prstGeom>
          <a:solidFill>
            <a:srgbClr val="E7EBEF"/>
          </a:solidFill>
          <a:ln w="12700">
            <a:solidFill>
              <a:srgbClr val="D7DCE1"/>
            </a:solidFill>
            <a:prstDash val="solid"/>
          </a:ln>
        </p:spPr>
      </p:sp>
      <p:sp>
        <p:nvSpPr>
          <p:cNvPr id="25" name="Text 23"/>
          <p:cNvSpPr/>
          <p:nvPr/>
        </p:nvSpPr>
        <p:spPr>
          <a:xfrm>
            <a:off x="960120" y="7150608"/>
            <a:ext cx="3520440" cy="493776"/>
          </a:xfrm>
          <a:prstGeom prst="rect">
            <a:avLst/>
          </a:prstGeom>
          <a:noFill/>
          <a:ln/>
        </p:spPr>
        <p:txBody>
          <a:bodyPr wrap="square" lIns="0" tIns="0" rIns="0" bIns="0" rtlCol="0" anchor="ctr"/>
          <a:lstStyle/>
          <a:p>
            <a:pPr marL="0" indent="0">
              <a:buNone/>
            </a:pPr>
            <a:r>
              <a:rPr lang="en-US" sz="1450" b="1" dirty="0">
                <a:solidFill>
                  <a:srgbClr val="000000"/>
                </a:solidFill>
                <a:latin typeface="Calibri" pitchFamily="34" charset="0"/>
                <a:ea typeface="Calibri" pitchFamily="34" charset="-122"/>
                <a:cs typeface="Calibri" pitchFamily="34" charset="-120"/>
              </a:rPr>
              <a:t>Model</a:t>
            </a:r>
            <a:endParaRPr lang="en-US" sz="1450" dirty="0"/>
          </a:p>
        </p:txBody>
      </p:sp>
      <p:sp>
        <p:nvSpPr>
          <p:cNvPr id="26" name="Text 24"/>
          <p:cNvSpPr/>
          <p:nvPr/>
        </p:nvSpPr>
        <p:spPr>
          <a:xfrm>
            <a:off x="4892040" y="7150608"/>
            <a:ext cx="3794760" cy="493776"/>
          </a:xfrm>
          <a:prstGeom prst="rect">
            <a:avLst/>
          </a:prstGeom>
          <a:noFill/>
          <a:ln/>
        </p:spPr>
        <p:txBody>
          <a:bodyPr wrap="square" lIns="0" tIns="0" rIns="0" bIns="0" rtlCol="0" anchor="ctr"/>
          <a:lstStyle/>
          <a:p>
            <a:pPr marL="0" indent="0">
              <a:buNone/>
            </a:pPr>
            <a:r>
              <a:rPr lang="en-US" sz="1450" b="1" dirty="0">
                <a:solidFill>
                  <a:srgbClr val="000000"/>
                </a:solidFill>
                <a:latin typeface="Calibri" pitchFamily="34" charset="0"/>
                <a:ea typeface="Calibri" pitchFamily="34" charset="-122"/>
                <a:cs typeface="Calibri" pitchFamily="34" charset="-120"/>
              </a:rPr>
              <a:t>Status on this data</a:t>
            </a:r>
            <a:endParaRPr lang="en-US" sz="1450" dirty="0"/>
          </a:p>
        </p:txBody>
      </p:sp>
      <p:sp>
        <p:nvSpPr>
          <p:cNvPr id="27" name="Text 25"/>
          <p:cNvSpPr/>
          <p:nvPr/>
        </p:nvSpPr>
        <p:spPr>
          <a:xfrm>
            <a:off x="9098280" y="7150608"/>
            <a:ext cx="8366760" cy="493776"/>
          </a:xfrm>
          <a:prstGeom prst="rect">
            <a:avLst/>
          </a:prstGeom>
          <a:noFill/>
          <a:ln/>
        </p:spPr>
        <p:txBody>
          <a:bodyPr wrap="square" lIns="0" tIns="0" rIns="0" bIns="0" rtlCol="0" anchor="ctr"/>
          <a:lstStyle/>
          <a:p>
            <a:pPr marL="0" indent="0">
              <a:buNone/>
            </a:pPr>
            <a:r>
              <a:rPr lang="en-US" sz="1450" b="1" dirty="0">
                <a:solidFill>
                  <a:srgbClr val="000000"/>
                </a:solidFill>
                <a:latin typeface="Calibri" pitchFamily="34" charset="0"/>
                <a:ea typeface="Calibri" pitchFamily="34" charset="-122"/>
                <a:cs typeface="Calibri" pitchFamily="34" charset="-120"/>
              </a:rPr>
              <a:t>Principal limitation for this problem</a:t>
            </a:r>
            <a:endParaRPr lang="en-US" sz="1450" dirty="0"/>
          </a:p>
        </p:txBody>
      </p:sp>
      <p:sp>
        <p:nvSpPr>
          <p:cNvPr id="28" name="Shape 26"/>
          <p:cNvSpPr/>
          <p:nvPr/>
        </p:nvSpPr>
        <p:spPr>
          <a:xfrm>
            <a:off x="685800" y="7644384"/>
            <a:ext cx="16916400" cy="493776"/>
          </a:xfrm>
          <a:prstGeom prst="rect">
            <a:avLst/>
          </a:prstGeom>
          <a:solidFill>
            <a:srgbClr val="FFFFFF"/>
          </a:solidFill>
          <a:ln w="12700">
            <a:solidFill>
              <a:srgbClr val="D7DCE1"/>
            </a:solidFill>
            <a:prstDash val="solid"/>
          </a:ln>
        </p:spPr>
      </p:sp>
      <p:sp>
        <p:nvSpPr>
          <p:cNvPr id="29" name="Text 27"/>
          <p:cNvSpPr/>
          <p:nvPr/>
        </p:nvSpPr>
        <p:spPr>
          <a:xfrm>
            <a:off x="960120" y="7644384"/>
            <a:ext cx="3520440" cy="493776"/>
          </a:xfrm>
          <a:prstGeom prst="rect">
            <a:avLst/>
          </a:prstGeom>
          <a:noFill/>
          <a:ln/>
        </p:spPr>
        <p:txBody>
          <a:bodyPr wrap="square" lIns="0" tIns="0" rIns="0" bIns="0" rtlCol="0" anchor="ctr"/>
          <a:lstStyle/>
          <a:p>
            <a:pPr marL="0" indent="0">
              <a:buNone/>
            </a:pPr>
            <a:r>
              <a:rPr lang="en-US" sz="1450" b="1" dirty="0">
                <a:solidFill>
                  <a:srgbClr val="000000"/>
                </a:solidFill>
                <a:latin typeface="Calibri" pitchFamily="34" charset="0"/>
                <a:ea typeface="Calibri" pitchFamily="34" charset="-122"/>
                <a:cs typeface="Calibri" pitchFamily="34" charset="-120"/>
              </a:rPr>
              <a:t>Logistic Regression</a:t>
            </a:r>
            <a:endParaRPr lang="en-US" sz="1450" dirty="0"/>
          </a:p>
        </p:txBody>
      </p:sp>
      <p:sp>
        <p:nvSpPr>
          <p:cNvPr id="30" name="Text 28"/>
          <p:cNvSpPr/>
          <p:nvPr/>
        </p:nvSpPr>
        <p:spPr>
          <a:xfrm>
            <a:off x="4892040" y="7644384"/>
            <a:ext cx="3794760" cy="493776"/>
          </a:xfrm>
          <a:prstGeom prst="rect">
            <a:avLst/>
          </a:prstGeom>
          <a:noFill/>
          <a:ln/>
        </p:spPr>
        <p:txBody>
          <a:bodyPr wrap="square" lIns="0" tIns="0" rIns="0" bIns="0" rtlCol="0" anchor="ctr"/>
          <a:lstStyle/>
          <a:p>
            <a:pPr marL="0" indent="0">
              <a:buNone/>
            </a:pPr>
            <a:r>
              <a:rPr lang="en-US" sz="1450" dirty="0">
                <a:solidFill>
                  <a:srgbClr val="000000"/>
                </a:solidFill>
                <a:latin typeface="Calibri" pitchFamily="34" charset="0"/>
                <a:ea typeface="Calibri" pitchFamily="34" charset="-122"/>
                <a:cs typeface="Calibri" pitchFamily="34" charset="-120"/>
              </a:rPr>
              <a:t>Not yet measured</a:t>
            </a:r>
            <a:endParaRPr lang="en-US" sz="1450" dirty="0"/>
          </a:p>
        </p:txBody>
      </p:sp>
      <p:sp>
        <p:nvSpPr>
          <p:cNvPr id="31" name="Text 29"/>
          <p:cNvSpPr/>
          <p:nvPr/>
        </p:nvSpPr>
        <p:spPr>
          <a:xfrm>
            <a:off x="9098280" y="7644384"/>
            <a:ext cx="8366760" cy="493776"/>
          </a:xfrm>
          <a:prstGeom prst="rect">
            <a:avLst/>
          </a:prstGeom>
          <a:noFill/>
          <a:ln/>
        </p:spPr>
        <p:txBody>
          <a:bodyPr wrap="square" lIns="0" tIns="0" rIns="0" bIns="0" rtlCol="0" anchor="ctr"/>
          <a:lstStyle/>
          <a:p>
            <a:pPr marL="0" indent="0">
              <a:buNone/>
            </a:pPr>
            <a:r>
              <a:rPr lang="en-US" sz="1450" dirty="0">
                <a:solidFill>
                  <a:srgbClr val="000000"/>
                </a:solidFill>
                <a:latin typeface="Calibri" pitchFamily="34" charset="0"/>
                <a:ea typeface="Calibri" pitchFamily="34" charset="-122"/>
                <a:cs typeface="Calibri" pitchFamily="34" charset="-120"/>
              </a:rPr>
              <a:t>Assumes additive, linear log-odds; cannot represent skill–experience interactions unaided</a:t>
            </a:r>
            <a:endParaRPr lang="en-US" sz="1450" dirty="0"/>
          </a:p>
        </p:txBody>
      </p:sp>
      <p:sp>
        <p:nvSpPr>
          <p:cNvPr id="32" name="Shape 30"/>
          <p:cNvSpPr/>
          <p:nvPr/>
        </p:nvSpPr>
        <p:spPr>
          <a:xfrm>
            <a:off x="685800" y="8138160"/>
            <a:ext cx="16916400" cy="493776"/>
          </a:xfrm>
          <a:prstGeom prst="rect">
            <a:avLst/>
          </a:prstGeom>
          <a:solidFill>
            <a:srgbClr val="F4F6F8"/>
          </a:solidFill>
          <a:ln w="12700">
            <a:solidFill>
              <a:srgbClr val="D7DCE1"/>
            </a:solidFill>
            <a:prstDash val="solid"/>
          </a:ln>
        </p:spPr>
      </p:sp>
      <p:sp>
        <p:nvSpPr>
          <p:cNvPr id="33" name="Text 31"/>
          <p:cNvSpPr/>
          <p:nvPr/>
        </p:nvSpPr>
        <p:spPr>
          <a:xfrm>
            <a:off x="960120" y="8138160"/>
            <a:ext cx="3520440" cy="493776"/>
          </a:xfrm>
          <a:prstGeom prst="rect">
            <a:avLst/>
          </a:prstGeom>
          <a:noFill/>
          <a:ln/>
        </p:spPr>
        <p:txBody>
          <a:bodyPr wrap="square" lIns="0" tIns="0" rIns="0" bIns="0" rtlCol="0" anchor="ctr"/>
          <a:lstStyle/>
          <a:p>
            <a:pPr marL="0" indent="0">
              <a:buNone/>
            </a:pPr>
            <a:r>
              <a:rPr lang="en-US" sz="1450" b="1" dirty="0">
                <a:solidFill>
                  <a:srgbClr val="000000"/>
                </a:solidFill>
                <a:latin typeface="Calibri" pitchFamily="34" charset="0"/>
                <a:ea typeface="Calibri" pitchFamily="34" charset="-122"/>
                <a:cs typeface="Calibri" pitchFamily="34" charset="-120"/>
              </a:rPr>
              <a:t>Decision Tree</a:t>
            </a:r>
            <a:endParaRPr lang="en-US" sz="1450" dirty="0"/>
          </a:p>
        </p:txBody>
      </p:sp>
      <p:sp>
        <p:nvSpPr>
          <p:cNvPr id="34" name="Text 32"/>
          <p:cNvSpPr/>
          <p:nvPr/>
        </p:nvSpPr>
        <p:spPr>
          <a:xfrm>
            <a:off x="4892040" y="8138160"/>
            <a:ext cx="3794760" cy="493776"/>
          </a:xfrm>
          <a:prstGeom prst="rect">
            <a:avLst/>
          </a:prstGeom>
          <a:noFill/>
          <a:ln/>
        </p:spPr>
        <p:txBody>
          <a:bodyPr wrap="square" lIns="0" tIns="0" rIns="0" bIns="0" rtlCol="0" anchor="ctr"/>
          <a:lstStyle/>
          <a:p>
            <a:pPr marL="0" indent="0">
              <a:buNone/>
            </a:pPr>
            <a:r>
              <a:rPr lang="en-US" sz="1450" dirty="0">
                <a:solidFill>
                  <a:srgbClr val="000000"/>
                </a:solidFill>
                <a:latin typeface="Calibri" pitchFamily="34" charset="0"/>
                <a:ea typeface="Calibri" pitchFamily="34" charset="-122"/>
                <a:cs typeface="Calibri" pitchFamily="34" charset="-120"/>
              </a:rPr>
              <a:t>Not yet measured</a:t>
            </a:r>
            <a:endParaRPr lang="en-US" sz="1450" dirty="0"/>
          </a:p>
        </p:txBody>
      </p:sp>
      <p:sp>
        <p:nvSpPr>
          <p:cNvPr id="35" name="Text 33"/>
          <p:cNvSpPr/>
          <p:nvPr/>
        </p:nvSpPr>
        <p:spPr>
          <a:xfrm>
            <a:off x="9098280" y="8138160"/>
            <a:ext cx="8366760" cy="493776"/>
          </a:xfrm>
          <a:prstGeom prst="rect">
            <a:avLst/>
          </a:prstGeom>
          <a:noFill/>
          <a:ln/>
        </p:spPr>
        <p:txBody>
          <a:bodyPr wrap="square" lIns="0" tIns="0" rIns="0" bIns="0" rtlCol="0" anchor="ctr"/>
          <a:lstStyle/>
          <a:p>
            <a:pPr marL="0" indent="0">
              <a:buNone/>
            </a:pPr>
            <a:r>
              <a:rPr lang="en-US" sz="1450" dirty="0">
                <a:solidFill>
                  <a:srgbClr val="000000"/>
                </a:solidFill>
                <a:latin typeface="Calibri" pitchFamily="34" charset="0"/>
                <a:ea typeface="Calibri" pitchFamily="34" charset="-122"/>
                <a:cs typeface="Calibri" pitchFamily="34" charset="-120"/>
              </a:rPr>
              <a:t>High variance; a single unpruned tree overfits and is unstable across resamples</a:t>
            </a:r>
            <a:endParaRPr lang="en-US" sz="1450" dirty="0"/>
          </a:p>
        </p:txBody>
      </p:sp>
      <p:sp>
        <p:nvSpPr>
          <p:cNvPr id="36" name="Shape 34"/>
          <p:cNvSpPr/>
          <p:nvPr/>
        </p:nvSpPr>
        <p:spPr>
          <a:xfrm>
            <a:off x="685800" y="8631936"/>
            <a:ext cx="16916400" cy="493776"/>
          </a:xfrm>
          <a:prstGeom prst="rect">
            <a:avLst/>
          </a:prstGeom>
          <a:solidFill>
            <a:srgbClr val="FFFFFF"/>
          </a:solidFill>
          <a:ln w="12700">
            <a:solidFill>
              <a:srgbClr val="D7DCE1"/>
            </a:solidFill>
            <a:prstDash val="solid"/>
          </a:ln>
        </p:spPr>
      </p:sp>
      <p:sp>
        <p:nvSpPr>
          <p:cNvPr id="37" name="Text 35"/>
          <p:cNvSpPr/>
          <p:nvPr/>
        </p:nvSpPr>
        <p:spPr>
          <a:xfrm>
            <a:off x="960120" y="8631936"/>
            <a:ext cx="3520440" cy="493776"/>
          </a:xfrm>
          <a:prstGeom prst="rect">
            <a:avLst/>
          </a:prstGeom>
          <a:noFill/>
          <a:ln/>
        </p:spPr>
        <p:txBody>
          <a:bodyPr wrap="square" lIns="0" tIns="0" rIns="0" bIns="0" rtlCol="0" anchor="ctr"/>
          <a:lstStyle/>
          <a:p>
            <a:pPr marL="0" indent="0">
              <a:buNone/>
            </a:pPr>
            <a:r>
              <a:rPr lang="en-US" sz="1450" b="1" dirty="0">
                <a:solidFill>
                  <a:srgbClr val="000000"/>
                </a:solidFill>
                <a:latin typeface="Calibri" pitchFamily="34" charset="0"/>
                <a:ea typeface="Calibri" pitchFamily="34" charset="-122"/>
                <a:cs typeface="Calibri" pitchFamily="34" charset="-120"/>
              </a:rPr>
              <a:t>Random Forest</a:t>
            </a:r>
            <a:endParaRPr lang="en-US" sz="1450" dirty="0"/>
          </a:p>
        </p:txBody>
      </p:sp>
      <p:sp>
        <p:nvSpPr>
          <p:cNvPr id="38" name="Text 36"/>
          <p:cNvSpPr/>
          <p:nvPr/>
        </p:nvSpPr>
        <p:spPr>
          <a:xfrm>
            <a:off x="4892040" y="8631936"/>
            <a:ext cx="3794760" cy="493776"/>
          </a:xfrm>
          <a:prstGeom prst="rect">
            <a:avLst/>
          </a:prstGeom>
          <a:noFill/>
          <a:ln/>
        </p:spPr>
        <p:txBody>
          <a:bodyPr wrap="square" lIns="0" tIns="0" rIns="0" bIns="0" rtlCol="0" anchor="ctr"/>
          <a:lstStyle/>
          <a:p>
            <a:pPr marL="0" indent="0">
              <a:buNone/>
            </a:pPr>
            <a:r>
              <a:rPr lang="en-US" sz="1450" dirty="0">
                <a:solidFill>
                  <a:srgbClr val="000000"/>
                </a:solidFill>
                <a:latin typeface="Calibri" pitchFamily="34" charset="0"/>
                <a:ea typeface="Calibri" pitchFamily="34" charset="-122"/>
                <a:cs typeface="Calibri" pitchFamily="34" charset="-120"/>
              </a:rPr>
              <a:t>Not yet measured</a:t>
            </a:r>
            <a:endParaRPr lang="en-US" sz="1450" dirty="0"/>
          </a:p>
        </p:txBody>
      </p:sp>
      <p:sp>
        <p:nvSpPr>
          <p:cNvPr id="39" name="Text 37"/>
          <p:cNvSpPr/>
          <p:nvPr/>
        </p:nvSpPr>
        <p:spPr>
          <a:xfrm>
            <a:off x="9098280" y="8631936"/>
            <a:ext cx="8366760" cy="493776"/>
          </a:xfrm>
          <a:prstGeom prst="rect">
            <a:avLst/>
          </a:prstGeom>
          <a:noFill/>
          <a:ln/>
        </p:spPr>
        <p:txBody>
          <a:bodyPr wrap="square" lIns="0" tIns="0" rIns="0" bIns="0" rtlCol="0" anchor="ctr"/>
          <a:lstStyle/>
          <a:p>
            <a:pPr marL="0" indent="0">
              <a:buNone/>
            </a:pPr>
            <a:r>
              <a:rPr lang="en-US" sz="1450" dirty="0">
                <a:solidFill>
                  <a:srgbClr val="000000"/>
                </a:solidFill>
                <a:latin typeface="Calibri" pitchFamily="34" charset="0"/>
                <a:ea typeface="Calibri" pitchFamily="34" charset="-122"/>
                <a:cs typeface="Calibri" pitchFamily="34" charset="-120"/>
              </a:rPr>
              <a:t>Trees grown independently, so errors are averaged rather than corrected</a:t>
            </a:r>
            <a:endParaRPr lang="en-US" sz="1450" dirty="0"/>
          </a:p>
        </p:txBody>
      </p:sp>
      <p:sp>
        <p:nvSpPr>
          <p:cNvPr id="40" name="Shape 38"/>
          <p:cNvSpPr/>
          <p:nvPr/>
        </p:nvSpPr>
        <p:spPr>
          <a:xfrm>
            <a:off x="685800" y="9125712"/>
            <a:ext cx="16916400" cy="493776"/>
          </a:xfrm>
          <a:prstGeom prst="rect">
            <a:avLst/>
          </a:prstGeom>
          <a:solidFill>
            <a:srgbClr val="F4F6F8"/>
          </a:solidFill>
          <a:ln w="12700">
            <a:solidFill>
              <a:srgbClr val="D7DCE1"/>
            </a:solidFill>
            <a:prstDash val="solid"/>
          </a:ln>
        </p:spPr>
      </p:sp>
      <p:sp>
        <p:nvSpPr>
          <p:cNvPr id="41" name="Text 39"/>
          <p:cNvSpPr/>
          <p:nvPr/>
        </p:nvSpPr>
        <p:spPr>
          <a:xfrm>
            <a:off x="960120" y="9125712"/>
            <a:ext cx="3520440" cy="493776"/>
          </a:xfrm>
          <a:prstGeom prst="rect">
            <a:avLst/>
          </a:prstGeom>
          <a:noFill/>
          <a:ln/>
        </p:spPr>
        <p:txBody>
          <a:bodyPr wrap="square" lIns="0" tIns="0" rIns="0" bIns="0" rtlCol="0" anchor="ctr"/>
          <a:lstStyle/>
          <a:p>
            <a:pPr marL="0" indent="0">
              <a:buNone/>
            </a:pPr>
            <a:r>
              <a:rPr lang="en-US" sz="1450" b="1" dirty="0">
                <a:solidFill>
                  <a:srgbClr val="000000"/>
                </a:solidFill>
                <a:latin typeface="Calibri" pitchFamily="34" charset="0"/>
                <a:ea typeface="Calibri" pitchFamily="34" charset="-122"/>
                <a:cs typeface="Calibri" pitchFamily="34" charset="-120"/>
              </a:rPr>
              <a:t>Support Vector Machine</a:t>
            </a:r>
            <a:endParaRPr lang="en-US" sz="1450" dirty="0"/>
          </a:p>
        </p:txBody>
      </p:sp>
      <p:sp>
        <p:nvSpPr>
          <p:cNvPr id="42" name="Text 40"/>
          <p:cNvSpPr/>
          <p:nvPr/>
        </p:nvSpPr>
        <p:spPr>
          <a:xfrm>
            <a:off x="4892040" y="9125712"/>
            <a:ext cx="3794760" cy="493776"/>
          </a:xfrm>
          <a:prstGeom prst="rect">
            <a:avLst/>
          </a:prstGeom>
          <a:noFill/>
          <a:ln/>
        </p:spPr>
        <p:txBody>
          <a:bodyPr wrap="square" lIns="0" tIns="0" rIns="0" bIns="0" rtlCol="0" anchor="ctr"/>
          <a:lstStyle/>
          <a:p>
            <a:pPr marL="0" indent="0">
              <a:buNone/>
            </a:pPr>
            <a:r>
              <a:rPr lang="en-US" sz="1450" dirty="0">
                <a:solidFill>
                  <a:srgbClr val="000000"/>
                </a:solidFill>
                <a:latin typeface="Calibri" pitchFamily="34" charset="0"/>
                <a:ea typeface="Calibri" pitchFamily="34" charset="-122"/>
                <a:cs typeface="Calibri" pitchFamily="34" charset="-120"/>
              </a:rPr>
              <a:t>Not yet measured</a:t>
            </a:r>
            <a:endParaRPr lang="en-US" sz="1450" dirty="0"/>
          </a:p>
        </p:txBody>
      </p:sp>
      <p:sp>
        <p:nvSpPr>
          <p:cNvPr id="43" name="Text 41"/>
          <p:cNvSpPr/>
          <p:nvPr/>
        </p:nvSpPr>
        <p:spPr>
          <a:xfrm>
            <a:off x="9098280" y="9125712"/>
            <a:ext cx="8366760" cy="493776"/>
          </a:xfrm>
          <a:prstGeom prst="rect">
            <a:avLst/>
          </a:prstGeom>
          <a:noFill/>
          <a:ln/>
        </p:spPr>
        <p:txBody>
          <a:bodyPr wrap="square" lIns="0" tIns="0" rIns="0" bIns="0" rtlCol="0" anchor="ctr"/>
          <a:lstStyle/>
          <a:p>
            <a:pPr marL="0" indent="0">
              <a:buNone/>
            </a:pPr>
            <a:r>
              <a:rPr lang="en-US" sz="1450" dirty="0">
                <a:solidFill>
                  <a:srgbClr val="000000"/>
                </a:solidFill>
                <a:latin typeface="Calibri" pitchFamily="34" charset="0"/>
                <a:ea typeface="Calibri" pitchFamily="34" charset="-122"/>
                <a:cs typeface="Calibri" pitchFamily="34" charset="-120"/>
              </a:rPr>
              <a:t>Kernel training scales poorly beyond ~10,000 rows; no native feature importance</a:t>
            </a:r>
            <a:endParaRPr lang="en-US" sz="1450" dirty="0"/>
          </a:p>
        </p:txBody>
      </p:sp>
      <p:sp>
        <p:nvSpPr>
          <p:cNvPr id="44" name="Shape 42"/>
          <p:cNvSpPr/>
          <p:nvPr/>
        </p:nvSpPr>
        <p:spPr>
          <a:xfrm>
            <a:off x="685800" y="9619488"/>
            <a:ext cx="16916400" cy="493776"/>
          </a:xfrm>
          <a:prstGeom prst="rect">
            <a:avLst/>
          </a:prstGeom>
          <a:solidFill>
            <a:srgbClr val="E7EBEF"/>
          </a:solidFill>
          <a:ln w="19050">
            <a:solidFill>
              <a:srgbClr val="000000"/>
            </a:solidFill>
            <a:prstDash val="solid"/>
          </a:ln>
        </p:spPr>
      </p:sp>
      <p:sp>
        <p:nvSpPr>
          <p:cNvPr id="45" name="Text 43"/>
          <p:cNvSpPr/>
          <p:nvPr/>
        </p:nvSpPr>
        <p:spPr>
          <a:xfrm>
            <a:off x="960120" y="9619488"/>
            <a:ext cx="3520440" cy="493776"/>
          </a:xfrm>
          <a:prstGeom prst="rect">
            <a:avLst/>
          </a:prstGeom>
          <a:noFill/>
          <a:ln/>
        </p:spPr>
        <p:txBody>
          <a:bodyPr wrap="square" lIns="0" tIns="0" rIns="0" bIns="0" rtlCol="0" anchor="ctr"/>
          <a:lstStyle/>
          <a:p>
            <a:pPr marL="0" indent="0">
              <a:buNone/>
            </a:pPr>
            <a:r>
              <a:rPr lang="en-US" sz="1450" b="1" dirty="0">
                <a:solidFill>
                  <a:srgbClr val="000000"/>
                </a:solidFill>
                <a:latin typeface="Calibri" pitchFamily="34" charset="0"/>
                <a:ea typeface="Calibri" pitchFamily="34" charset="-122"/>
                <a:cs typeface="Calibri" pitchFamily="34" charset="-120"/>
              </a:rPr>
              <a:t>XGBoost  (selected)</a:t>
            </a:r>
            <a:endParaRPr lang="en-US" sz="1450" dirty="0"/>
          </a:p>
        </p:txBody>
      </p:sp>
      <p:sp>
        <p:nvSpPr>
          <p:cNvPr id="46" name="Text 44"/>
          <p:cNvSpPr/>
          <p:nvPr/>
        </p:nvSpPr>
        <p:spPr>
          <a:xfrm>
            <a:off x="4892040" y="9619488"/>
            <a:ext cx="3794760" cy="493776"/>
          </a:xfrm>
          <a:prstGeom prst="rect">
            <a:avLst/>
          </a:prstGeom>
          <a:noFill/>
          <a:ln/>
        </p:spPr>
        <p:txBody>
          <a:bodyPr wrap="square" lIns="0" tIns="0" rIns="0" bIns="0" rtlCol="0" anchor="ctr"/>
          <a:lstStyle/>
          <a:p>
            <a:pPr marL="0" indent="0">
              <a:buNone/>
            </a:pPr>
            <a:r>
              <a:rPr lang="en-US" sz="1450" b="1" dirty="0">
                <a:solidFill>
                  <a:srgbClr val="000000"/>
                </a:solidFill>
                <a:latin typeface="Calibri" pitchFamily="34" charset="0"/>
                <a:ea typeface="Calibri" pitchFamily="34" charset="-122"/>
                <a:cs typeface="Calibri" pitchFamily="34" charset="-120"/>
              </a:rPr>
              <a:t>Accuracy 0.6384  ·  weighted F1 0.6690</a:t>
            </a:r>
            <a:endParaRPr lang="en-US" sz="1450" dirty="0"/>
          </a:p>
        </p:txBody>
      </p:sp>
      <p:sp>
        <p:nvSpPr>
          <p:cNvPr id="47" name="Text 45"/>
          <p:cNvSpPr/>
          <p:nvPr/>
        </p:nvSpPr>
        <p:spPr>
          <a:xfrm>
            <a:off x="9098280" y="9619488"/>
            <a:ext cx="8366760" cy="493776"/>
          </a:xfrm>
          <a:prstGeom prst="rect">
            <a:avLst/>
          </a:prstGeom>
          <a:noFill/>
          <a:ln/>
        </p:spPr>
        <p:txBody>
          <a:bodyPr wrap="square" lIns="0" tIns="0" rIns="0" bIns="0" rtlCol="0" anchor="ctr"/>
          <a:lstStyle/>
          <a:p>
            <a:pPr marL="0" indent="0">
              <a:buNone/>
            </a:pPr>
            <a:r>
              <a:rPr lang="en-US" sz="1450" dirty="0">
                <a:solidFill>
                  <a:srgbClr val="000000"/>
                </a:solidFill>
                <a:latin typeface="Calibri" pitchFamily="34" charset="0"/>
                <a:ea typeface="Calibri" pitchFamily="34" charset="-122"/>
                <a:cs typeface="Calibri" pitchFamily="34" charset="-120"/>
              </a:rPr>
              <a:t>Combining its class weighting with SMOTE risks the over-correction observed in Section 5.7</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5  —  MODEL INTERPRETATION</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Key Finding: What Actually Drives Employability</a:t>
            </a:r>
            <a:endParaRPr lang="en-US" sz="3900" dirty="0"/>
          </a:p>
        </p:txBody>
      </p:sp>
      <p:sp>
        <p:nvSpPr>
          <p:cNvPr id="4" name="Shape 2"/>
          <p:cNvSpPr/>
          <p:nvPr/>
        </p:nvSpPr>
        <p:spPr>
          <a:xfrm>
            <a:off x="685800" y="1874520"/>
            <a:ext cx="8778240" cy="7818120"/>
          </a:xfrm>
          <a:prstGeom prst="roundRect">
            <a:avLst>
              <a:gd name="adj" fmla="val 1053"/>
            </a:avLst>
          </a:prstGeom>
          <a:solidFill>
            <a:srgbClr val="F4F6F8"/>
          </a:solidFill>
          <a:ln w="12700">
            <a:solidFill>
              <a:srgbClr val="D7DCE1"/>
            </a:solidFill>
            <a:prstDash val="solid"/>
          </a:ln>
        </p:spPr>
      </p:sp>
      <p:pic>
        <p:nvPicPr>
          <p:cNvPr id="5" name="Image 0" descr="figs/Figure_5_12.png"/>
          <p:cNvPicPr>
            <a:picLocks noChangeAspect="1"/>
          </p:cNvPicPr>
          <p:nvPr/>
        </p:nvPicPr>
        <p:blipFill>
          <a:blip r:embed="rId3"/>
          <a:stretch>
            <a:fillRect/>
          </a:stretch>
        </p:blipFill>
        <p:spPr>
          <a:xfrm>
            <a:off x="1051560" y="2103120"/>
            <a:ext cx="8046720" cy="6400800"/>
          </a:xfrm>
          <a:prstGeom prst="rect">
            <a:avLst/>
          </a:prstGeom>
        </p:spPr>
      </p:pic>
      <p:sp>
        <p:nvSpPr>
          <p:cNvPr id="6" name="Text 3"/>
          <p:cNvSpPr/>
          <p:nvPr/>
        </p:nvSpPr>
        <p:spPr>
          <a:xfrm>
            <a:off x="685800" y="8686800"/>
            <a:ext cx="8778240" cy="310896"/>
          </a:xfrm>
          <a:prstGeom prst="rect">
            <a:avLst/>
          </a:prstGeom>
          <a:noFill/>
          <a:ln/>
        </p:spPr>
        <p:txBody>
          <a:bodyPr wrap="square" lIns="0" tIns="0" rIns="0" bIns="0" rtlCol="0" anchor="ctr"/>
          <a:lstStyle/>
          <a:p>
            <a:pPr marL="0" indent="0" algn="ctr">
              <a:buNone/>
            </a:pPr>
            <a:r>
              <a:rPr lang="en-US" sz="1600" i="1" dirty="0">
                <a:solidFill>
                  <a:srgbClr val="5B6B7C"/>
                </a:solidFill>
                <a:latin typeface="Calibri" pitchFamily="34" charset="0"/>
                <a:ea typeface="Calibri" pitchFamily="34" charset="-122"/>
                <a:cs typeface="Calibri" pitchFamily="34" charset="-120"/>
              </a:rPr>
              <a:t>Figure 5.12 — Native XGBoost feature importance across the 18 retained features</a:t>
            </a:r>
            <a:endParaRPr lang="en-US" sz="1600" dirty="0"/>
          </a:p>
        </p:txBody>
      </p:sp>
      <p:sp>
        <p:nvSpPr>
          <p:cNvPr id="7" name="Text 4"/>
          <p:cNvSpPr/>
          <p:nvPr/>
        </p:nvSpPr>
        <p:spPr>
          <a:xfrm>
            <a:off x="10012680" y="1874520"/>
            <a:ext cx="758952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THE SIX HIGHEST-PRIORITY FEATURES</a:t>
            </a:r>
            <a:endParaRPr lang="en-US" sz="1500" dirty="0"/>
          </a:p>
        </p:txBody>
      </p:sp>
      <p:sp>
        <p:nvSpPr>
          <p:cNvPr id="8" name="Shape 5"/>
          <p:cNvSpPr/>
          <p:nvPr/>
        </p:nvSpPr>
        <p:spPr>
          <a:xfrm>
            <a:off x="10012680" y="2377440"/>
            <a:ext cx="7589520" cy="621792"/>
          </a:xfrm>
          <a:prstGeom prst="roundRect">
            <a:avLst>
              <a:gd name="adj" fmla="val 13235"/>
            </a:avLst>
          </a:prstGeom>
          <a:solidFill>
            <a:srgbClr val="F4F6F8"/>
          </a:solidFill>
          <a:ln w="12700">
            <a:solidFill>
              <a:srgbClr val="D7DCE1"/>
            </a:solidFill>
            <a:prstDash val="solid"/>
          </a:ln>
        </p:spPr>
      </p:sp>
      <p:sp>
        <p:nvSpPr>
          <p:cNvPr id="9" name="Text 6"/>
          <p:cNvSpPr/>
          <p:nvPr/>
        </p:nvSpPr>
        <p:spPr>
          <a:xfrm>
            <a:off x="10332720" y="2377440"/>
            <a:ext cx="457200" cy="621792"/>
          </a:xfrm>
          <a:prstGeom prst="rect">
            <a:avLst/>
          </a:prstGeom>
          <a:noFill/>
          <a:ln/>
        </p:spPr>
        <p:txBody>
          <a:bodyPr wrap="square" lIns="0" tIns="0" rIns="0" bIns="0" rtlCol="0" anchor="ctr"/>
          <a:lstStyle/>
          <a:p>
            <a:pPr marL="0" indent="0">
              <a:buNone/>
            </a:pPr>
            <a:r>
              <a:rPr lang="en-US" sz="1700" b="1" dirty="0">
                <a:solidFill>
                  <a:srgbClr val="5B6B7C"/>
                </a:solidFill>
                <a:latin typeface="Calibri" pitchFamily="34" charset="0"/>
                <a:ea typeface="Calibri" pitchFamily="34" charset="-122"/>
                <a:cs typeface="Calibri" pitchFamily="34" charset="-120"/>
              </a:rPr>
              <a:t>1</a:t>
            </a:r>
            <a:endParaRPr lang="en-US" sz="1700" dirty="0"/>
          </a:p>
        </p:txBody>
      </p:sp>
      <p:sp>
        <p:nvSpPr>
          <p:cNvPr id="10" name="Text 7"/>
          <p:cNvSpPr/>
          <p:nvPr/>
        </p:nvSpPr>
        <p:spPr>
          <a:xfrm>
            <a:off x="10881360" y="2377440"/>
            <a:ext cx="3291840" cy="621792"/>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Resume_Score</a:t>
            </a:r>
            <a:endParaRPr lang="en-US" sz="1650" dirty="0"/>
          </a:p>
        </p:txBody>
      </p:sp>
      <p:sp>
        <p:nvSpPr>
          <p:cNvPr id="11" name="Text 8"/>
          <p:cNvSpPr/>
          <p:nvPr/>
        </p:nvSpPr>
        <p:spPr>
          <a:xfrm>
            <a:off x="14218920" y="2377440"/>
            <a:ext cx="3063240" cy="621792"/>
          </a:xfrm>
          <a:prstGeom prst="rect">
            <a:avLst/>
          </a:prstGeom>
          <a:noFill/>
          <a:ln/>
        </p:spPr>
        <p:txBody>
          <a:bodyPr wrap="square" lIns="0" tIns="0" rIns="0" bIns="0" rtlCol="0" anchor="ctr"/>
          <a:lstStyle/>
          <a:p>
            <a:pPr marL="0" indent="0" algn="r">
              <a:buNone/>
            </a:pPr>
            <a:r>
              <a:rPr lang="en-US" sz="1450" dirty="0">
                <a:solidFill>
                  <a:srgbClr val="5B6B7C"/>
                </a:solidFill>
                <a:latin typeface="Calibri" pitchFamily="34" charset="0"/>
                <a:ea typeface="Calibri" pitchFamily="34" charset="-122"/>
                <a:cs typeface="Calibri" pitchFamily="34" charset="-120"/>
              </a:rPr>
              <a:t>Career preparation</a:t>
            </a:r>
            <a:endParaRPr lang="en-US" sz="1450" dirty="0"/>
          </a:p>
        </p:txBody>
      </p:sp>
      <p:sp>
        <p:nvSpPr>
          <p:cNvPr id="12" name="Shape 9"/>
          <p:cNvSpPr/>
          <p:nvPr/>
        </p:nvSpPr>
        <p:spPr>
          <a:xfrm>
            <a:off x="10012680" y="3090672"/>
            <a:ext cx="7589520" cy="621792"/>
          </a:xfrm>
          <a:prstGeom prst="roundRect">
            <a:avLst>
              <a:gd name="adj" fmla="val 13235"/>
            </a:avLst>
          </a:prstGeom>
          <a:solidFill>
            <a:srgbClr val="E7EBEF"/>
          </a:solidFill>
          <a:ln w="12700">
            <a:solidFill>
              <a:srgbClr val="D7DCE1"/>
            </a:solidFill>
            <a:prstDash val="solid"/>
          </a:ln>
        </p:spPr>
      </p:sp>
      <p:sp>
        <p:nvSpPr>
          <p:cNvPr id="13" name="Text 10"/>
          <p:cNvSpPr/>
          <p:nvPr/>
        </p:nvSpPr>
        <p:spPr>
          <a:xfrm>
            <a:off x="10332720" y="3090672"/>
            <a:ext cx="457200" cy="621792"/>
          </a:xfrm>
          <a:prstGeom prst="rect">
            <a:avLst/>
          </a:prstGeom>
          <a:noFill/>
          <a:ln/>
        </p:spPr>
        <p:txBody>
          <a:bodyPr wrap="square" lIns="0" tIns="0" rIns="0" bIns="0" rtlCol="0" anchor="ctr"/>
          <a:lstStyle/>
          <a:p>
            <a:pPr marL="0" indent="0">
              <a:buNone/>
            </a:pPr>
            <a:r>
              <a:rPr lang="en-US" sz="1700" b="1" dirty="0">
                <a:solidFill>
                  <a:srgbClr val="5B6B7C"/>
                </a:solidFill>
                <a:latin typeface="Calibri" pitchFamily="34" charset="0"/>
                <a:ea typeface="Calibri" pitchFamily="34" charset="-122"/>
                <a:cs typeface="Calibri" pitchFamily="34" charset="-120"/>
              </a:rPr>
              <a:t>2</a:t>
            </a:r>
            <a:endParaRPr lang="en-US" sz="1700" dirty="0"/>
          </a:p>
        </p:txBody>
      </p:sp>
      <p:sp>
        <p:nvSpPr>
          <p:cNvPr id="14" name="Text 11"/>
          <p:cNvSpPr/>
          <p:nvPr/>
        </p:nvSpPr>
        <p:spPr>
          <a:xfrm>
            <a:off x="10881360" y="3090672"/>
            <a:ext cx="3291840" cy="621792"/>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Programming_Skill</a:t>
            </a:r>
            <a:endParaRPr lang="en-US" sz="1650" dirty="0"/>
          </a:p>
        </p:txBody>
      </p:sp>
      <p:sp>
        <p:nvSpPr>
          <p:cNvPr id="15" name="Text 12"/>
          <p:cNvSpPr/>
          <p:nvPr/>
        </p:nvSpPr>
        <p:spPr>
          <a:xfrm>
            <a:off x="14218920" y="3090672"/>
            <a:ext cx="3063240" cy="621792"/>
          </a:xfrm>
          <a:prstGeom prst="rect">
            <a:avLst/>
          </a:prstGeom>
          <a:noFill/>
          <a:ln/>
        </p:spPr>
        <p:txBody>
          <a:bodyPr wrap="square" lIns="0" tIns="0" rIns="0" bIns="0" rtlCol="0" anchor="ctr"/>
          <a:lstStyle/>
          <a:p>
            <a:pPr marL="0" indent="0" algn="r">
              <a:buNone/>
            </a:pPr>
            <a:r>
              <a:rPr lang="en-US" sz="1450" dirty="0">
                <a:solidFill>
                  <a:srgbClr val="5B6B7C"/>
                </a:solidFill>
                <a:latin typeface="Calibri" pitchFamily="34" charset="0"/>
                <a:ea typeface="Calibri" pitchFamily="34" charset="-122"/>
                <a:cs typeface="Calibri" pitchFamily="34" charset="-120"/>
              </a:rPr>
              <a:t>Technical proficiency</a:t>
            </a:r>
            <a:endParaRPr lang="en-US" sz="1450" dirty="0"/>
          </a:p>
        </p:txBody>
      </p:sp>
      <p:sp>
        <p:nvSpPr>
          <p:cNvPr id="16" name="Shape 13"/>
          <p:cNvSpPr/>
          <p:nvPr/>
        </p:nvSpPr>
        <p:spPr>
          <a:xfrm>
            <a:off x="10012680" y="3803904"/>
            <a:ext cx="7589520" cy="621792"/>
          </a:xfrm>
          <a:prstGeom prst="roundRect">
            <a:avLst>
              <a:gd name="adj" fmla="val 13235"/>
            </a:avLst>
          </a:prstGeom>
          <a:solidFill>
            <a:srgbClr val="F4F6F8"/>
          </a:solidFill>
          <a:ln w="12700">
            <a:solidFill>
              <a:srgbClr val="D7DCE1"/>
            </a:solidFill>
            <a:prstDash val="solid"/>
          </a:ln>
        </p:spPr>
      </p:sp>
      <p:sp>
        <p:nvSpPr>
          <p:cNvPr id="17" name="Text 14"/>
          <p:cNvSpPr/>
          <p:nvPr/>
        </p:nvSpPr>
        <p:spPr>
          <a:xfrm>
            <a:off x="10332720" y="3803904"/>
            <a:ext cx="457200" cy="621792"/>
          </a:xfrm>
          <a:prstGeom prst="rect">
            <a:avLst/>
          </a:prstGeom>
          <a:noFill/>
          <a:ln/>
        </p:spPr>
        <p:txBody>
          <a:bodyPr wrap="square" lIns="0" tIns="0" rIns="0" bIns="0" rtlCol="0" anchor="ctr"/>
          <a:lstStyle/>
          <a:p>
            <a:pPr marL="0" indent="0">
              <a:buNone/>
            </a:pPr>
            <a:r>
              <a:rPr lang="en-US" sz="1700" b="1" dirty="0">
                <a:solidFill>
                  <a:srgbClr val="5B6B7C"/>
                </a:solidFill>
                <a:latin typeface="Calibri" pitchFamily="34" charset="0"/>
                <a:ea typeface="Calibri" pitchFamily="34" charset="-122"/>
                <a:cs typeface="Calibri" pitchFamily="34" charset="-120"/>
              </a:rPr>
              <a:t>3</a:t>
            </a:r>
            <a:endParaRPr lang="en-US" sz="1700" dirty="0"/>
          </a:p>
        </p:txBody>
      </p:sp>
      <p:sp>
        <p:nvSpPr>
          <p:cNvPr id="18" name="Text 15"/>
          <p:cNvSpPr/>
          <p:nvPr/>
        </p:nvSpPr>
        <p:spPr>
          <a:xfrm>
            <a:off x="10881360" y="3803904"/>
            <a:ext cx="3291840" cy="621792"/>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Problem_Solving</a:t>
            </a:r>
            <a:endParaRPr lang="en-US" sz="1650" dirty="0"/>
          </a:p>
        </p:txBody>
      </p:sp>
      <p:sp>
        <p:nvSpPr>
          <p:cNvPr id="19" name="Text 16"/>
          <p:cNvSpPr/>
          <p:nvPr/>
        </p:nvSpPr>
        <p:spPr>
          <a:xfrm>
            <a:off x="14218920" y="3803904"/>
            <a:ext cx="3063240" cy="621792"/>
          </a:xfrm>
          <a:prstGeom prst="rect">
            <a:avLst/>
          </a:prstGeom>
          <a:noFill/>
          <a:ln/>
        </p:spPr>
        <p:txBody>
          <a:bodyPr wrap="square" lIns="0" tIns="0" rIns="0" bIns="0" rtlCol="0" anchor="ctr"/>
          <a:lstStyle/>
          <a:p>
            <a:pPr marL="0" indent="0" algn="r">
              <a:buNone/>
            </a:pPr>
            <a:r>
              <a:rPr lang="en-US" sz="1450" dirty="0">
                <a:solidFill>
                  <a:srgbClr val="5B6B7C"/>
                </a:solidFill>
                <a:latin typeface="Calibri" pitchFamily="34" charset="0"/>
                <a:ea typeface="Calibri" pitchFamily="34" charset="-122"/>
                <a:cs typeface="Calibri" pitchFamily="34" charset="-120"/>
              </a:rPr>
              <a:t>Soft skills</a:t>
            </a:r>
            <a:endParaRPr lang="en-US" sz="1450" dirty="0"/>
          </a:p>
        </p:txBody>
      </p:sp>
      <p:sp>
        <p:nvSpPr>
          <p:cNvPr id="20" name="Shape 17"/>
          <p:cNvSpPr/>
          <p:nvPr/>
        </p:nvSpPr>
        <p:spPr>
          <a:xfrm>
            <a:off x="10012680" y="4517136"/>
            <a:ext cx="7589520" cy="621792"/>
          </a:xfrm>
          <a:prstGeom prst="roundRect">
            <a:avLst>
              <a:gd name="adj" fmla="val 13235"/>
            </a:avLst>
          </a:prstGeom>
          <a:solidFill>
            <a:srgbClr val="E7EBEF"/>
          </a:solidFill>
          <a:ln w="12700">
            <a:solidFill>
              <a:srgbClr val="D7DCE1"/>
            </a:solidFill>
            <a:prstDash val="solid"/>
          </a:ln>
        </p:spPr>
      </p:sp>
      <p:sp>
        <p:nvSpPr>
          <p:cNvPr id="21" name="Text 18"/>
          <p:cNvSpPr/>
          <p:nvPr/>
        </p:nvSpPr>
        <p:spPr>
          <a:xfrm>
            <a:off x="10332720" y="4517136"/>
            <a:ext cx="457200" cy="621792"/>
          </a:xfrm>
          <a:prstGeom prst="rect">
            <a:avLst/>
          </a:prstGeom>
          <a:noFill/>
          <a:ln/>
        </p:spPr>
        <p:txBody>
          <a:bodyPr wrap="square" lIns="0" tIns="0" rIns="0" bIns="0" rtlCol="0" anchor="ctr"/>
          <a:lstStyle/>
          <a:p>
            <a:pPr marL="0" indent="0">
              <a:buNone/>
            </a:pPr>
            <a:r>
              <a:rPr lang="en-US" sz="1700" b="1" dirty="0">
                <a:solidFill>
                  <a:srgbClr val="5B6B7C"/>
                </a:solidFill>
                <a:latin typeface="Calibri" pitchFamily="34" charset="0"/>
                <a:ea typeface="Calibri" pitchFamily="34" charset="-122"/>
                <a:cs typeface="Calibri" pitchFamily="34" charset="-120"/>
              </a:rPr>
              <a:t>4</a:t>
            </a:r>
            <a:endParaRPr lang="en-US" sz="1700" dirty="0"/>
          </a:p>
        </p:txBody>
      </p:sp>
      <p:sp>
        <p:nvSpPr>
          <p:cNvPr id="22" name="Text 19"/>
          <p:cNvSpPr/>
          <p:nvPr/>
        </p:nvSpPr>
        <p:spPr>
          <a:xfrm>
            <a:off x="10881360" y="4517136"/>
            <a:ext cx="3291840" cy="621792"/>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Internships</a:t>
            </a:r>
            <a:endParaRPr lang="en-US" sz="1650" dirty="0"/>
          </a:p>
        </p:txBody>
      </p:sp>
      <p:sp>
        <p:nvSpPr>
          <p:cNvPr id="23" name="Text 20"/>
          <p:cNvSpPr/>
          <p:nvPr/>
        </p:nvSpPr>
        <p:spPr>
          <a:xfrm>
            <a:off x="14218920" y="4517136"/>
            <a:ext cx="3063240" cy="621792"/>
          </a:xfrm>
          <a:prstGeom prst="rect">
            <a:avLst/>
          </a:prstGeom>
          <a:noFill/>
          <a:ln/>
        </p:spPr>
        <p:txBody>
          <a:bodyPr wrap="square" lIns="0" tIns="0" rIns="0" bIns="0" rtlCol="0" anchor="ctr"/>
          <a:lstStyle/>
          <a:p>
            <a:pPr marL="0" indent="0" algn="r">
              <a:buNone/>
            </a:pPr>
            <a:r>
              <a:rPr lang="en-US" sz="1450" dirty="0">
                <a:solidFill>
                  <a:srgbClr val="5B6B7C"/>
                </a:solidFill>
                <a:latin typeface="Calibri" pitchFamily="34" charset="0"/>
                <a:ea typeface="Calibri" pitchFamily="34" charset="-122"/>
                <a:cs typeface="Calibri" pitchFamily="34" charset="-120"/>
              </a:rPr>
              <a:t>Practical experience</a:t>
            </a:r>
            <a:endParaRPr lang="en-US" sz="1450" dirty="0"/>
          </a:p>
        </p:txBody>
      </p:sp>
      <p:sp>
        <p:nvSpPr>
          <p:cNvPr id="24" name="Shape 21"/>
          <p:cNvSpPr/>
          <p:nvPr/>
        </p:nvSpPr>
        <p:spPr>
          <a:xfrm>
            <a:off x="10012680" y="5230368"/>
            <a:ext cx="7589520" cy="621792"/>
          </a:xfrm>
          <a:prstGeom prst="roundRect">
            <a:avLst>
              <a:gd name="adj" fmla="val 13235"/>
            </a:avLst>
          </a:prstGeom>
          <a:solidFill>
            <a:srgbClr val="F4F6F8"/>
          </a:solidFill>
          <a:ln w="12700">
            <a:solidFill>
              <a:srgbClr val="D7DCE1"/>
            </a:solidFill>
            <a:prstDash val="solid"/>
          </a:ln>
        </p:spPr>
      </p:sp>
      <p:sp>
        <p:nvSpPr>
          <p:cNvPr id="25" name="Text 22"/>
          <p:cNvSpPr/>
          <p:nvPr/>
        </p:nvSpPr>
        <p:spPr>
          <a:xfrm>
            <a:off x="10332720" y="5230368"/>
            <a:ext cx="457200" cy="621792"/>
          </a:xfrm>
          <a:prstGeom prst="rect">
            <a:avLst/>
          </a:prstGeom>
          <a:noFill/>
          <a:ln/>
        </p:spPr>
        <p:txBody>
          <a:bodyPr wrap="square" lIns="0" tIns="0" rIns="0" bIns="0" rtlCol="0" anchor="ctr"/>
          <a:lstStyle/>
          <a:p>
            <a:pPr marL="0" indent="0">
              <a:buNone/>
            </a:pPr>
            <a:r>
              <a:rPr lang="en-US" sz="1700" b="1" dirty="0">
                <a:solidFill>
                  <a:srgbClr val="5B6B7C"/>
                </a:solidFill>
                <a:latin typeface="Calibri" pitchFamily="34" charset="0"/>
                <a:ea typeface="Calibri" pitchFamily="34" charset="-122"/>
                <a:cs typeface="Calibri" pitchFamily="34" charset="-120"/>
              </a:rPr>
              <a:t>5</a:t>
            </a:r>
            <a:endParaRPr lang="en-US" sz="1700" dirty="0"/>
          </a:p>
        </p:txBody>
      </p:sp>
      <p:sp>
        <p:nvSpPr>
          <p:cNvPr id="26" name="Text 23"/>
          <p:cNvSpPr/>
          <p:nvPr/>
        </p:nvSpPr>
        <p:spPr>
          <a:xfrm>
            <a:off x="10881360" y="5230368"/>
            <a:ext cx="3291840" cy="621792"/>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Certifications</a:t>
            </a:r>
            <a:endParaRPr lang="en-US" sz="1650" dirty="0"/>
          </a:p>
        </p:txBody>
      </p:sp>
      <p:sp>
        <p:nvSpPr>
          <p:cNvPr id="27" name="Text 24"/>
          <p:cNvSpPr/>
          <p:nvPr/>
        </p:nvSpPr>
        <p:spPr>
          <a:xfrm>
            <a:off x="14218920" y="5230368"/>
            <a:ext cx="3063240" cy="621792"/>
          </a:xfrm>
          <a:prstGeom prst="rect">
            <a:avLst/>
          </a:prstGeom>
          <a:noFill/>
          <a:ln/>
        </p:spPr>
        <p:txBody>
          <a:bodyPr wrap="square" lIns="0" tIns="0" rIns="0" bIns="0" rtlCol="0" anchor="ctr"/>
          <a:lstStyle/>
          <a:p>
            <a:pPr marL="0" indent="0" algn="r">
              <a:buNone/>
            </a:pPr>
            <a:r>
              <a:rPr lang="en-US" sz="1450" dirty="0">
                <a:solidFill>
                  <a:srgbClr val="5B6B7C"/>
                </a:solidFill>
                <a:latin typeface="Calibri" pitchFamily="34" charset="0"/>
                <a:ea typeface="Calibri" pitchFamily="34" charset="-122"/>
                <a:cs typeface="Calibri" pitchFamily="34" charset="-120"/>
              </a:rPr>
              <a:t>Self-directed learning</a:t>
            </a:r>
            <a:endParaRPr lang="en-US" sz="1450" dirty="0"/>
          </a:p>
        </p:txBody>
      </p:sp>
      <p:sp>
        <p:nvSpPr>
          <p:cNvPr id="28" name="Shape 25"/>
          <p:cNvSpPr/>
          <p:nvPr/>
        </p:nvSpPr>
        <p:spPr>
          <a:xfrm>
            <a:off x="10012680" y="5943600"/>
            <a:ext cx="7589520" cy="621792"/>
          </a:xfrm>
          <a:prstGeom prst="roundRect">
            <a:avLst>
              <a:gd name="adj" fmla="val 13235"/>
            </a:avLst>
          </a:prstGeom>
          <a:solidFill>
            <a:srgbClr val="E7EBEF"/>
          </a:solidFill>
          <a:ln w="12700">
            <a:solidFill>
              <a:srgbClr val="D7DCE1"/>
            </a:solidFill>
            <a:prstDash val="solid"/>
          </a:ln>
        </p:spPr>
      </p:sp>
      <p:sp>
        <p:nvSpPr>
          <p:cNvPr id="29" name="Text 26"/>
          <p:cNvSpPr/>
          <p:nvPr/>
        </p:nvSpPr>
        <p:spPr>
          <a:xfrm>
            <a:off x="10332720" y="5943600"/>
            <a:ext cx="457200" cy="621792"/>
          </a:xfrm>
          <a:prstGeom prst="rect">
            <a:avLst/>
          </a:prstGeom>
          <a:noFill/>
          <a:ln/>
        </p:spPr>
        <p:txBody>
          <a:bodyPr wrap="square" lIns="0" tIns="0" rIns="0" bIns="0" rtlCol="0" anchor="ctr"/>
          <a:lstStyle/>
          <a:p>
            <a:pPr marL="0" indent="0">
              <a:buNone/>
            </a:pPr>
            <a:r>
              <a:rPr lang="en-US" sz="1700" b="1" dirty="0">
                <a:solidFill>
                  <a:srgbClr val="5B6B7C"/>
                </a:solidFill>
                <a:latin typeface="Calibri" pitchFamily="34" charset="0"/>
                <a:ea typeface="Calibri" pitchFamily="34" charset="-122"/>
                <a:cs typeface="Calibri" pitchFamily="34" charset="-120"/>
              </a:rPr>
              <a:t>6</a:t>
            </a:r>
            <a:endParaRPr lang="en-US" sz="1700" dirty="0"/>
          </a:p>
        </p:txBody>
      </p:sp>
      <p:sp>
        <p:nvSpPr>
          <p:cNvPr id="30" name="Text 27"/>
          <p:cNvSpPr/>
          <p:nvPr/>
        </p:nvSpPr>
        <p:spPr>
          <a:xfrm>
            <a:off x="10881360" y="5943600"/>
            <a:ext cx="3291840" cy="621792"/>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Communication_Skills</a:t>
            </a:r>
            <a:endParaRPr lang="en-US" sz="1650" dirty="0"/>
          </a:p>
        </p:txBody>
      </p:sp>
      <p:sp>
        <p:nvSpPr>
          <p:cNvPr id="31" name="Text 28"/>
          <p:cNvSpPr/>
          <p:nvPr/>
        </p:nvSpPr>
        <p:spPr>
          <a:xfrm>
            <a:off x="14218920" y="5943600"/>
            <a:ext cx="3063240" cy="621792"/>
          </a:xfrm>
          <a:prstGeom prst="rect">
            <a:avLst/>
          </a:prstGeom>
          <a:noFill/>
          <a:ln/>
        </p:spPr>
        <p:txBody>
          <a:bodyPr wrap="square" lIns="0" tIns="0" rIns="0" bIns="0" rtlCol="0" anchor="ctr"/>
          <a:lstStyle/>
          <a:p>
            <a:pPr marL="0" indent="0" algn="r">
              <a:buNone/>
            </a:pPr>
            <a:r>
              <a:rPr lang="en-US" sz="1450" dirty="0">
                <a:solidFill>
                  <a:srgbClr val="5B6B7C"/>
                </a:solidFill>
                <a:latin typeface="Calibri" pitchFamily="34" charset="0"/>
                <a:ea typeface="Calibri" pitchFamily="34" charset="-122"/>
                <a:cs typeface="Calibri" pitchFamily="34" charset="-120"/>
              </a:rPr>
              <a:t>Soft skills</a:t>
            </a:r>
            <a:endParaRPr lang="en-US" sz="1450" dirty="0"/>
          </a:p>
        </p:txBody>
      </p:sp>
      <p:sp>
        <p:nvSpPr>
          <p:cNvPr id="32" name="Shape 29"/>
          <p:cNvSpPr/>
          <p:nvPr/>
        </p:nvSpPr>
        <p:spPr>
          <a:xfrm>
            <a:off x="10012680" y="6766560"/>
            <a:ext cx="7589520" cy="1371600"/>
          </a:xfrm>
          <a:prstGeom prst="roundRect">
            <a:avLst>
              <a:gd name="adj" fmla="val 6000"/>
            </a:avLst>
          </a:prstGeom>
          <a:solidFill>
            <a:srgbClr val="E7EBEF"/>
          </a:solidFill>
          <a:ln w="12700">
            <a:solidFill>
              <a:srgbClr val="D7DCE1"/>
            </a:solidFill>
            <a:prstDash val="solid"/>
          </a:ln>
        </p:spPr>
      </p:sp>
      <p:sp>
        <p:nvSpPr>
          <p:cNvPr id="33" name="Text 30"/>
          <p:cNvSpPr/>
          <p:nvPr/>
        </p:nvSpPr>
        <p:spPr>
          <a:xfrm>
            <a:off x="10424160" y="6766560"/>
            <a:ext cx="1828800" cy="1371600"/>
          </a:xfrm>
          <a:prstGeom prst="rect">
            <a:avLst/>
          </a:prstGeom>
          <a:noFill/>
          <a:ln/>
        </p:spPr>
        <p:txBody>
          <a:bodyPr wrap="square" lIns="0" tIns="0" rIns="0" bIns="0" rtlCol="0" anchor="ctr"/>
          <a:lstStyle/>
          <a:p>
            <a:pPr marL="0" indent="0">
              <a:buNone/>
            </a:pPr>
            <a:r>
              <a:rPr lang="en-US" sz="3800" b="1" dirty="0">
                <a:solidFill>
                  <a:srgbClr val="000000"/>
                </a:solidFill>
                <a:latin typeface="Calibri" pitchFamily="34" charset="0"/>
                <a:ea typeface="Calibri" pitchFamily="34" charset="-122"/>
                <a:cs typeface="Calibri" pitchFamily="34" charset="-120"/>
              </a:rPr>
              <a:t>15th</a:t>
            </a:r>
            <a:endParaRPr lang="en-US" sz="3800" dirty="0"/>
          </a:p>
        </p:txBody>
      </p:sp>
      <p:sp>
        <p:nvSpPr>
          <p:cNvPr id="34" name="Text 31"/>
          <p:cNvSpPr/>
          <p:nvPr/>
        </p:nvSpPr>
        <p:spPr>
          <a:xfrm>
            <a:off x="12390120" y="6766560"/>
            <a:ext cx="4800600" cy="1371600"/>
          </a:xfrm>
          <a:prstGeom prst="rect">
            <a:avLst/>
          </a:prstGeom>
          <a:noFill/>
          <a:ln/>
        </p:spPr>
        <p:txBody>
          <a:bodyPr wrap="square" lIns="0" tIns="0" rIns="0" bIns="0" rtlCol="0" anchor="ctr"/>
          <a:lstStyle/>
          <a:p>
            <a:pPr marL="0" indent="0">
              <a:lnSpc>
                <a:spcPts val="2100"/>
              </a:lnSpc>
              <a:buNone/>
            </a:pPr>
            <a:r>
              <a:rPr lang="en-US" sz="1550" dirty="0">
                <a:solidFill>
                  <a:srgbClr val="000000"/>
                </a:solidFill>
                <a:latin typeface="Calibri" pitchFamily="34" charset="0"/>
                <a:ea typeface="Calibri" pitchFamily="34" charset="-122"/>
                <a:cs typeface="Calibri" pitchFamily="34" charset="-120"/>
              </a:rPr>
              <a:t>of 18 — the rank of CGPA, with an importance of 0.013581, below Study_Hours_Per_Week and GitHub_Profile</a:t>
            </a:r>
            <a:endParaRPr lang="en-US" sz="1550" dirty="0"/>
          </a:p>
        </p:txBody>
      </p:sp>
      <p:sp>
        <p:nvSpPr>
          <p:cNvPr id="35" name="Shape 32"/>
          <p:cNvSpPr/>
          <p:nvPr/>
        </p:nvSpPr>
        <p:spPr>
          <a:xfrm>
            <a:off x="10012680" y="8275320"/>
            <a:ext cx="7589520" cy="1417320"/>
          </a:xfrm>
          <a:prstGeom prst="roundRect">
            <a:avLst>
              <a:gd name="adj" fmla="val 5806"/>
            </a:avLst>
          </a:prstGeom>
          <a:solidFill>
            <a:srgbClr val="F4F6F8"/>
          </a:solidFill>
          <a:ln w="12700">
            <a:solidFill>
              <a:srgbClr val="D7DCE1"/>
            </a:solidFill>
            <a:prstDash val="solid"/>
          </a:ln>
        </p:spPr>
      </p:sp>
      <p:sp>
        <p:nvSpPr>
          <p:cNvPr id="36" name="Text 33"/>
          <p:cNvSpPr/>
          <p:nvPr/>
        </p:nvSpPr>
        <p:spPr>
          <a:xfrm>
            <a:off x="10424160" y="8485632"/>
            <a:ext cx="6766560" cy="1005840"/>
          </a:xfrm>
          <a:prstGeom prst="rect">
            <a:avLst/>
          </a:prstGeom>
          <a:noFill/>
          <a:ln/>
        </p:spPr>
        <p:txBody>
          <a:bodyPr wrap="square" lIns="0" tIns="0" rIns="0" bIns="0" rtlCol="0" anchor="t"/>
          <a:lstStyle/>
          <a:p>
            <a:pPr marL="0" indent="0">
              <a:lnSpc>
                <a:spcPts val="2046"/>
              </a:lnSpc>
              <a:buNone/>
            </a:pPr>
            <a:r>
              <a:rPr lang="en-US" sz="1550" dirty="0">
                <a:solidFill>
                  <a:srgbClr val="000000"/>
                </a:solidFill>
                <a:latin typeface="Calibri" pitchFamily="34" charset="0"/>
                <a:ea typeface="Calibri" pitchFamily="34" charset="-122"/>
                <a:cs typeface="Calibri" pitchFamily="34" charset="-120"/>
              </a:rPr>
              <a:t>Every one of the six leading features is a demonstrated capability or a piece of portfolio evidence — what a graduate can show they can do, and how well they can present it. Academic attainment is not irrelevant, but it is decisively secondary to evidenced skill and experience.</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5  —  STATISTICAL VALIDATION</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Hypothesis Testing: The Two-Proportion Z-Test</a:t>
            </a:r>
            <a:endParaRPr lang="en-US" sz="3900" dirty="0"/>
          </a:p>
        </p:txBody>
      </p:sp>
      <p:sp>
        <p:nvSpPr>
          <p:cNvPr id="4" name="Text 2"/>
          <p:cNvSpPr/>
          <p:nvPr/>
        </p:nvSpPr>
        <p:spPr>
          <a:xfrm>
            <a:off x="685800" y="1847088"/>
            <a:ext cx="16916400" cy="822960"/>
          </a:xfrm>
          <a:prstGeom prst="rect">
            <a:avLst/>
          </a:prstGeom>
          <a:noFill/>
          <a:ln/>
        </p:spPr>
        <p:txBody>
          <a:bodyPr wrap="square" lIns="0" tIns="0" rIns="0" bIns="0" rtlCol="0" anchor="t"/>
          <a:lstStyle/>
          <a:p>
            <a:pPr marL="0" indent="0">
              <a:lnSpc>
                <a:spcPts val="2700"/>
              </a:lnSpc>
              <a:buNone/>
            </a:pPr>
            <a:r>
              <a:rPr lang="en-US" sz="2000" dirty="0">
                <a:solidFill>
                  <a:srgbClr val="000000"/>
                </a:solidFill>
                <a:latin typeface="Calibri" pitchFamily="34" charset="0"/>
                <a:ea typeface="Calibri" pitchFamily="34" charset="-122"/>
                <a:cs typeface="Calibri" pitchFamily="34" charset="-120"/>
              </a:rPr>
              <a:t>Feature importance establishes which attributes the model relies upon, but not whether observed differences between employable and non-employable graduates are statistically significant. The Z-test was executed on the dataset's 13 original numeric attributes, comparing group means between Employable (n = 7,808) and Not Employable (n = 2,192).</a:t>
            </a:r>
            <a:endParaRPr lang="en-US" sz="2000" dirty="0"/>
          </a:p>
        </p:txBody>
      </p:sp>
      <p:sp>
        <p:nvSpPr>
          <p:cNvPr id="5" name="Shape 3"/>
          <p:cNvSpPr/>
          <p:nvPr/>
        </p:nvSpPr>
        <p:spPr>
          <a:xfrm>
            <a:off x="685800" y="3108960"/>
            <a:ext cx="9692640" cy="5623560"/>
          </a:xfrm>
          <a:prstGeom prst="roundRect">
            <a:avLst>
              <a:gd name="adj" fmla="val 1463"/>
            </a:avLst>
          </a:prstGeom>
          <a:solidFill>
            <a:srgbClr val="F4F6F8"/>
          </a:solidFill>
          <a:ln w="12700">
            <a:solidFill>
              <a:srgbClr val="D7DCE1"/>
            </a:solidFill>
            <a:prstDash val="solid"/>
          </a:ln>
        </p:spPr>
      </p:sp>
      <p:pic>
        <p:nvPicPr>
          <p:cNvPr id="6" name="Image 0" descr="figs/Figure_5_14.jpg"/>
          <p:cNvPicPr>
            <a:picLocks noChangeAspect="1"/>
          </p:cNvPicPr>
          <p:nvPr/>
        </p:nvPicPr>
        <p:blipFill>
          <a:blip r:embed="rId3"/>
          <a:stretch>
            <a:fillRect/>
          </a:stretch>
        </p:blipFill>
        <p:spPr>
          <a:xfrm>
            <a:off x="1188720" y="3337560"/>
            <a:ext cx="8686800" cy="4937760"/>
          </a:xfrm>
          <a:prstGeom prst="rect">
            <a:avLst/>
          </a:prstGeom>
        </p:spPr>
      </p:pic>
      <p:sp>
        <p:nvSpPr>
          <p:cNvPr id="7" name="Text 4"/>
          <p:cNvSpPr/>
          <p:nvPr/>
        </p:nvSpPr>
        <p:spPr>
          <a:xfrm>
            <a:off x="685800" y="8366760"/>
            <a:ext cx="9692640" cy="310896"/>
          </a:xfrm>
          <a:prstGeom prst="rect">
            <a:avLst/>
          </a:prstGeom>
          <a:noFill/>
          <a:ln/>
        </p:spPr>
        <p:txBody>
          <a:bodyPr wrap="square" lIns="0" tIns="0" rIns="0" bIns="0" rtlCol="0" anchor="ctr"/>
          <a:lstStyle/>
          <a:p>
            <a:pPr marL="0" indent="0" algn="ctr">
              <a:buNone/>
            </a:pPr>
            <a:r>
              <a:rPr lang="en-US" sz="1600" i="1" dirty="0">
                <a:solidFill>
                  <a:srgbClr val="5B6B7C"/>
                </a:solidFill>
                <a:latin typeface="Calibri" pitchFamily="34" charset="0"/>
                <a:ea typeface="Calibri" pitchFamily="34" charset="-122"/>
                <a:cs typeface="Calibri" pitchFamily="34" charset="-120"/>
              </a:rPr>
              <a:t>Figure 5.14 — Z-statistic magnitude by attribute, ranked in descending order</a:t>
            </a:r>
            <a:endParaRPr lang="en-US" sz="1600" dirty="0"/>
          </a:p>
        </p:txBody>
      </p:sp>
      <p:sp>
        <p:nvSpPr>
          <p:cNvPr id="8" name="Shape 5"/>
          <p:cNvSpPr/>
          <p:nvPr/>
        </p:nvSpPr>
        <p:spPr>
          <a:xfrm>
            <a:off x="10927080" y="3108960"/>
            <a:ext cx="6675120" cy="1965960"/>
          </a:xfrm>
          <a:prstGeom prst="roundRect">
            <a:avLst>
              <a:gd name="adj" fmla="val 4186"/>
            </a:avLst>
          </a:prstGeom>
          <a:solidFill>
            <a:srgbClr val="E7EBEF"/>
          </a:solidFill>
          <a:ln w="12700">
            <a:solidFill>
              <a:srgbClr val="D7DCE1"/>
            </a:solidFill>
            <a:prstDash val="solid"/>
          </a:ln>
        </p:spPr>
      </p:sp>
      <p:sp>
        <p:nvSpPr>
          <p:cNvPr id="9" name="Text 6"/>
          <p:cNvSpPr/>
          <p:nvPr/>
        </p:nvSpPr>
        <p:spPr>
          <a:xfrm>
            <a:off x="11338560" y="3337560"/>
            <a:ext cx="585216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WHY THE Z-TEST, NOT THE T-TEST</a:t>
            </a:r>
            <a:endParaRPr lang="en-US" sz="1500" dirty="0"/>
          </a:p>
        </p:txBody>
      </p:sp>
      <p:sp>
        <p:nvSpPr>
          <p:cNvPr id="10" name="Text 7"/>
          <p:cNvSpPr/>
          <p:nvPr/>
        </p:nvSpPr>
        <p:spPr>
          <a:xfrm>
            <a:off x="11338560" y="3794760"/>
            <a:ext cx="5852160" cy="1188720"/>
          </a:xfrm>
          <a:prstGeom prst="rect">
            <a:avLst/>
          </a:prstGeom>
          <a:noFill/>
          <a:ln/>
        </p:spPr>
        <p:txBody>
          <a:bodyPr wrap="square" lIns="0" tIns="0" rIns="0" bIns="0" rtlCol="0" anchor="t"/>
          <a:lstStyle/>
          <a:p>
            <a:pPr marL="0" indent="0">
              <a:lnSpc>
                <a:spcPts val="1980"/>
              </a:lnSpc>
              <a:buNone/>
            </a:pPr>
            <a:r>
              <a:rPr lang="en-US" sz="1500" dirty="0">
                <a:solidFill>
                  <a:srgbClr val="000000"/>
                </a:solidFill>
                <a:latin typeface="Calibri" pitchFamily="34" charset="0"/>
                <a:ea typeface="Calibri" pitchFamily="34" charset="-122"/>
                <a:cs typeface="Calibri" pitchFamily="34" charset="-120"/>
              </a:rPr>
              <a:t>Both group sizes exceed by three orders of magnitude the threshold at which the t-distribution converges on the normal, so the tests agree to many decimal places. The two-proportion Z-test also directly addresses the question the binary target poses (Table 5.8).</a:t>
            </a:r>
            <a:endParaRPr lang="en-US" sz="1500" dirty="0"/>
          </a:p>
        </p:txBody>
      </p:sp>
      <p:sp>
        <p:nvSpPr>
          <p:cNvPr id="11" name="Shape 8"/>
          <p:cNvSpPr/>
          <p:nvPr/>
        </p:nvSpPr>
        <p:spPr>
          <a:xfrm>
            <a:off x="10927080" y="5257800"/>
            <a:ext cx="6675120" cy="1737360"/>
          </a:xfrm>
          <a:prstGeom prst="roundRect">
            <a:avLst>
              <a:gd name="adj" fmla="val 4737"/>
            </a:avLst>
          </a:prstGeom>
          <a:solidFill>
            <a:srgbClr val="F4F6F8"/>
          </a:solidFill>
          <a:ln w="12700">
            <a:solidFill>
              <a:srgbClr val="D7DCE1"/>
            </a:solidFill>
            <a:prstDash val="solid"/>
          </a:ln>
        </p:spPr>
      </p:sp>
      <p:sp>
        <p:nvSpPr>
          <p:cNvPr id="12" name="Text 9"/>
          <p:cNvSpPr/>
          <p:nvPr/>
        </p:nvSpPr>
        <p:spPr>
          <a:xfrm>
            <a:off x="11338560" y="5468112"/>
            <a:ext cx="585216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RESULT</a:t>
            </a:r>
            <a:endParaRPr lang="en-US" sz="1500" dirty="0"/>
          </a:p>
        </p:txBody>
      </p:sp>
      <p:sp>
        <p:nvSpPr>
          <p:cNvPr id="13" name="Text 10"/>
          <p:cNvSpPr/>
          <p:nvPr/>
        </p:nvSpPr>
        <p:spPr>
          <a:xfrm>
            <a:off x="11338560" y="5897880"/>
            <a:ext cx="5852160" cy="1051560"/>
          </a:xfrm>
          <a:prstGeom prst="rect">
            <a:avLst/>
          </a:prstGeom>
          <a:noFill/>
          <a:ln/>
        </p:spPr>
        <p:txBody>
          <a:bodyPr wrap="square" lIns="0" tIns="0" rIns="0" bIns="0" rtlCol="0" anchor="t"/>
          <a:lstStyle/>
          <a:p>
            <a:pPr marL="0" indent="0">
              <a:lnSpc>
                <a:spcPts val="1980"/>
              </a:lnSpc>
              <a:buNone/>
            </a:pPr>
            <a:r>
              <a:rPr lang="en-US" sz="1500" dirty="0">
                <a:solidFill>
                  <a:srgbClr val="000000"/>
                </a:solidFill>
                <a:latin typeface="Calibri" pitchFamily="34" charset="0"/>
                <a:ea typeface="Calibri" pitchFamily="34" charset="-122"/>
                <a:cs typeface="Calibri" pitchFamily="34" charset="-120"/>
              </a:rPr>
              <a:t>All 13 attributes show a statistically significant difference in mean, with p &lt; 0.0001 in every case; the null hypothesis of equal means is rejected throughout. Strongest: Resume_Score (z = 47.18), Interview_Score (44.69), Internships (42.42).</a:t>
            </a:r>
            <a:endParaRPr lang="en-US" sz="1500" dirty="0"/>
          </a:p>
        </p:txBody>
      </p:sp>
      <p:sp>
        <p:nvSpPr>
          <p:cNvPr id="14" name="Shape 11"/>
          <p:cNvSpPr/>
          <p:nvPr/>
        </p:nvSpPr>
        <p:spPr>
          <a:xfrm>
            <a:off x="10927080" y="7178040"/>
            <a:ext cx="6675120" cy="1554480"/>
          </a:xfrm>
          <a:prstGeom prst="roundRect">
            <a:avLst>
              <a:gd name="adj" fmla="val 5294"/>
            </a:avLst>
          </a:prstGeom>
          <a:solidFill>
            <a:srgbClr val="E7EBEF"/>
          </a:solidFill>
          <a:ln w="12700">
            <a:solidFill>
              <a:srgbClr val="D7DCE1"/>
            </a:solidFill>
            <a:prstDash val="solid"/>
          </a:ln>
        </p:spPr>
      </p:sp>
      <p:sp>
        <p:nvSpPr>
          <p:cNvPr id="15" name="Text 12"/>
          <p:cNvSpPr/>
          <p:nvPr/>
        </p:nvSpPr>
        <p:spPr>
          <a:xfrm>
            <a:off x="11338560" y="7388352"/>
            <a:ext cx="585216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READING IT CORRECTLY</a:t>
            </a:r>
            <a:endParaRPr lang="en-US" sz="1500" dirty="0"/>
          </a:p>
        </p:txBody>
      </p:sp>
      <p:sp>
        <p:nvSpPr>
          <p:cNvPr id="16" name="Text 13"/>
          <p:cNvSpPr/>
          <p:nvPr/>
        </p:nvSpPr>
        <p:spPr>
          <a:xfrm>
            <a:off x="11338560" y="7818120"/>
            <a:ext cx="5852160" cy="868680"/>
          </a:xfrm>
          <a:prstGeom prst="rect">
            <a:avLst/>
          </a:prstGeom>
          <a:noFill/>
          <a:ln/>
        </p:spPr>
        <p:txBody>
          <a:bodyPr wrap="square" lIns="0" tIns="0" rIns="0" bIns="0" rtlCol="0" anchor="t"/>
          <a:lstStyle/>
          <a:p>
            <a:pPr marL="0" indent="0">
              <a:lnSpc>
                <a:spcPts val="1980"/>
              </a:lnSpc>
              <a:buNone/>
            </a:pPr>
            <a:r>
              <a:rPr lang="en-US" sz="1500" dirty="0">
                <a:solidFill>
                  <a:srgbClr val="000000"/>
                </a:solidFill>
                <a:latin typeface="Calibri" pitchFamily="34" charset="0"/>
                <a:ea typeface="Calibri" pitchFamily="34" charset="-122"/>
                <a:cs typeface="Calibri" pitchFamily="34" charset="-120"/>
              </a:rPr>
              <a:t>At n = 50,000 the standard error is very small, so differences of no practical consequence register as highly significant. Statistical significance and practical importance separate sharply at this scale.</a:t>
            </a:r>
            <a:endParaRPr lang="en-US" sz="1500" dirty="0"/>
          </a:p>
        </p:txBody>
      </p:sp>
      <p:sp>
        <p:nvSpPr>
          <p:cNvPr id="17" name="Text 14"/>
          <p:cNvSpPr/>
          <p:nvPr/>
        </p:nvSpPr>
        <p:spPr>
          <a:xfrm>
            <a:off x="685800" y="8915400"/>
            <a:ext cx="16916400" cy="566928"/>
          </a:xfrm>
          <a:prstGeom prst="rect">
            <a:avLst/>
          </a:prstGeom>
          <a:noFill/>
          <a:ln/>
        </p:spPr>
        <p:txBody>
          <a:bodyPr wrap="square" lIns="0" tIns="0" rIns="0" bIns="0" rtlCol="0" anchor="t"/>
          <a:lstStyle/>
          <a:p>
            <a:pPr marL="0" indent="0">
              <a:lnSpc>
                <a:spcPts val="2015"/>
              </a:lnSpc>
              <a:buNone/>
            </a:pPr>
            <a:r>
              <a:rPr lang="en-US" sz="1550" i="1" dirty="0">
                <a:solidFill>
                  <a:srgbClr val="5B6B7C"/>
                </a:solidFill>
                <a:latin typeface="Calibri" pitchFamily="34" charset="0"/>
                <a:ea typeface="Calibri" pitchFamily="34" charset="-122"/>
                <a:cs typeface="Calibri" pitchFamily="34" charset="-120"/>
              </a:rPr>
              <a:t>Cohen's d has not yet been computed alongside these Z-statistics, so the practical — as opposed to statistical — magnitude of each difference remains to be assessed. This is recorded as outstanding in Section 5.15 and recommended in Section 6.3.1.</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5  —  SYSTEM OUTPUT</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From Model to Prediction: The HTTP API</a:t>
            </a:r>
            <a:endParaRPr lang="en-US" sz="3900" dirty="0"/>
          </a:p>
        </p:txBody>
      </p:sp>
      <p:sp>
        <p:nvSpPr>
          <p:cNvPr id="4" name="Shape 2"/>
          <p:cNvSpPr/>
          <p:nvPr/>
        </p:nvSpPr>
        <p:spPr>
          <a:xfrm>
            <a:off x="685800" y="1874520"/>
            <a:ext cx="16916400" cy="1051560"/>
          </a:xfrm>
          <a:prstGeom prst="roundRect">
            <a:avLst>
              <a:gd name="adj" fmla="val 7826"/>
            </a:avLst>
          </a:prstGeom>
          <a:solidFill>
            <a:srgbClr val="E7EBEF"/>
          </a:solidFill>
          <a:ln w="12700">
            <a:solidFill>
              <a:srgbClr val="D7DCE1"/>
            </a:solidFill>
            <a:prstDash val="solid"/>
          </a:ln>
        </p:spPr>
      </p:sp>
      <p:sp>
        <p:nvSpPr>
          <p:cNvPr id="5" name="Text 3"/>
          <p:cNvSpPr/>
          <p:nvPr/>
        </p:nvSpPr>
        <p:spPr>
          <a:xfrm>
            <a:off x="1143000" y="1874520"/>
            <a:ext cx="16002000" cy="1051560"/>
          </a:xfrm>
          <a:prstGeom prst="rect">
            <a:avLst/>
          </a:prstGeom>
          <a:noFill/>
          <a:ln/>
        </p:spPr>
        <p:txBody>
          <a:bodyPr wrap="square" lIns="0" tIns="0" rIns="0" bIns="0" rtlCol="0" anchor="ctr"/>
          <a:lstStyle/>
          <a:p>
            <a:pPr marL="0" indent="0">
              <a:lnSpc>
                <a:spcPts val="2400"/>
              </a:lnSpc>
              <a:buNone/>
            </a:pPr>
            <a:r>
              <a:rPr lang="en-US" sz="1800" i="1" dirty="0">
                <a:solidFill>
                  <a:srgbClr val="000000"/>
                </a:solidFill>
                <a:latin typeface="Calibri" pitchFamily="34" charset="0"/>
                <a:ea typeface="Calibri" pitchFamily="34" charset="-122"/>
                <a:cs typeface="Calibri" pitchFamily="34" charset="-120"/>
              </a:rPr>
              <a:t>No dashboard has been built yet. A student's data is submitted directly to the trained model through a documented HTTP API — exercised here using Postman — without any account, registration or login.</a:t>
            </a:r>
            <a:endParaRPr lang="en-US" sz="1800" dirty="0"/>
          </a:p>
        </p:txBody>
      </p:sp>
      <p:sp>
        <p:nvSpPr>
          <p:cNvPr id="6" name="Shape 4"/>
          <p:cNvSpPr/>
          <p:nvPr/>
        </p:nvSpPr>
        <p:spPr>
          <a:xfrm>
            <a:off x="685800" y="3127248"/>
            <a:ext cx="10332720" cy="5394960"/>
          </a:xfrm>
          <a:prstGeom prst="roundRect">
            <a:avLst>
              <a:gd name="adj" fmla="val 1525"/>
            </a:avLst>
          </a:prstGeom>
          <a:solidFill>
            <a:srgbClr val="F4F6F8"/>
          </a:solidFill>
          <a:ln w="12700">
            <a:solidFill>
              <a:srgbClr val="D7DCE1"/>
            </a:solidFill>
            <a:prstDash val="solid"/>
          </a:ln>
        </p:spPr>
      </p:sp>
      <p:pic>
        <p:nvPicPr>
          <p:cNvPr id="7" name="Image 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6287" y="3346704"/>
            <a:ext cx="9608023" cy="4709160"/>
          </a:xfrm>
          <a:prstGeom prst="rect">
            <a:avLst/>
          </a:prstGeom>
        </p:spPr>
      </p:pic>
      <p:sp>
        <p:nvSpPr>
          <p:cNvPr id="8" name="Text 5"/>
          <p:cNvSpPr/>
          <p:nvPr/>
        </p:nvSpPr>
        <p:spPr>
          <a:xfrm>
            <a:off x="685800" y="8138160"/>
            <a:ext cx="10332720" cy="310896"/>
          </a:xfrm>
          <a:prstGeom prst="rect">
            <a:avLst/>
          </a:prstGeom>
          <a:noFill/>
          <a:ln/>
        </p:spPr>
        <p:txBody>
          <a:bodyPr wrap="square" lIns="0" tIns="0" rIns="0" bIns="0" rtlCol="0" anchor="ctr"/>
          <a:lstStyle/>
          <a:p>
            <a:pPr marL="0" indent="0" algn="ctr">
              <a:buNone/>
            </a:pPr>
            <a:r>
              <a:rPr lang="en-US" sz="1600" i="1" dirty="0">
                <a:solidFill>
                  <a:srgbClr val="5B6B7C"/>
                </a:solidFill>
                <a:latin typeface="Calibri" pitchFamily="34" charset="0"/>
                <a:ea typeface="Calibri" pitchFamily="34" charset="-122"/>
                <a:cs typeface="Calibri" pitchFamily="34" charset="-120"/>
              </a:rPr>
              <a:t>Figure 5.11 — Illustrative Postman request and response for an employability prediction</a:t>
            </a:r>
            <a:endParaRPr lang="en-US" sz="1600" dirty="0"/>
          </a:p>
        </p:txBody>
      </p:sp>
      <p:sp>
        <p:nvSpPr>
          <p:cNvPr id="9" name="Shape 6"/>
          <p:cNvSpPr/>
          <p:nvPr/>
        </p:nvSpPr>
        <p:spPr>
          <a:xfrm>
            <a:off x="11567160" y="3127248"/>
            <a:ext cx="6035040" cy="2514600"/>
          </a:xfrm>
          <a:prstGeom prst="roundRect">
            <a:avLst>
              <a:gd name="adj" fmla="val 3273"/>
            </a:avLst>
          </a:prstGeom>
          <a:solidFill>
            <a:srgbClr val="F4F6F8"/>
          </a:solidFill>
          <a:ln w="12700">
            <a:solidFill>
              <a:srgbClr val="D7DCE1"/>
            </a:solidFill>
            <a:prstDash val="solid"/>
          </a:ln>
        </p:spPr>
      </p:sp>
      <p:sp>
        <p:nvSpPr>
          <p:cNvPr id="10" name="Text 7"/>
          <p:cNvSpPr/>
          <p:nvPr/>
        </p:nvSpPr>
        <p:spPr>
          <a:xfrm>
            <a:off x="11978640" y="3364992"/>
            <a:ext cx="521208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WHAT IS PERSISTED AND SERVED</a:t>
            </a:r>
            <a:endParaRPr lang="en-US" sz="1500" dirty="0"/>
          </a:p>
        </p:txBody>
      </p:sp>
      <p:sp>
        <p:nvSpPr>
          <p:cNvPr id="11" name="Text 8"/>
          <p:cNvSpPr/>
          <p:nvPr/>
        </p:nvSpPr>
        <p:spPr>
          <a:xfrm>
            <a:off x="11978640" y="3822192"/>
            <a:ext cx="5212080" cy="1737360"/>
          </a:xfrm>
          <a:prstGeom prst="rect">
            <a:avLst/>
          </a:prstGeom>
          <a:noFill/>
          <a:ln/>
        </p:spPr>
        <p:txBody>
          <a:bodyPr wrap="square" lIns="0" tIns="0" rIns="0" bIns="0" rtlCol="0" anchor="t"/>
          <a:lstStyle/>
          <a:p>
            <a:pPr marL="0" indent="0">
              <a:lnSpc>
                <a:spcPts val="1980"/>
              </a:lnSpc>
              <a:buNone/>
            </a:pPr>
            <a:r>
              <a:rPr lang="en-US" sz="1500" dirty="0">
                <a:solidFill>
                  <a:srgbClr val="000000"/>
                </a:solidFill>
                <a:latin typeface="Calibri" pitchFamily="34" charset="0"/>
                <a:ea typeface="Calibri" pitchFamily="34" charset="-122"/>
                <a:cs typeface="Calibri" pitchFamily="34" charset="-120"/>
              </a:rPr>
              <a:t>The trained pipeline and fitted label encoder are persisted with joblib as best_employability_pipeline.pkl and label_encoder.pkl, so the exact artefacts evaluated in Section 5.7 are those served at prediction time. Per-record predictions are exported as improved_placement_predictions.csv and headline metrics as improved_final_metrics.json.</a:t>
            </a:r>
            <a:endParaRPr lang="en-US" sz="1500" dirty="0"/>
          </a:p>
        </p:txBody>
      </p:sp>
      <p:grpSp>
        <p:nvGrpSpPr>
          <p:cNvPr id="19" name="Group 18"/>
          <p:cNvGrpSpPr/>
          <p:nvPr/>
        </p:nvGrpSpPr>
        <p:grpSpPr>
          <a:xfrm>
            <a:off x="11567160" y="5760719"/>
            <a:ext cx="6035040" cy="1754254"/>
            <a:chOff x="11567160" y="5760720"/>
            <a:chExt cx="6035040" cy="1280160"/>
          </a:xfrm>
        </p:grpSpPr>
        <p:sp>
          <p:nvSpPr>
            <p:cNvPr id="12" name="Shape 9"/>
            <p:cNvSpPr/>
            <p:nvPr/>
          </p:nvSpPr>
          <p:spPr>
            <a:xfrm>
              <a:off x="11567160" y="5760720"/>
              <a:ext cx="6035040" cy="1280160"/>
            </a:xfrm>
            <a:prstGeom prst="roundRect">
              <a:avLst>
                <a:gd name="adj" fmla="val 6429"/>
              </a:avLst>
            </a:prstGeom>
            <a:solidFill>
              <a:srgbClr val="E7EBEF"/>
            </a:solidFill>
            <a:ln w="12700">
              <a:solidFill>
                <a:srgbClr val="D7DCE1"/>
              </a:solidFill>
              <a:prstDash val="solid"/>
            </a:ln>
          </p:spPr>
        </p:sp>
        <p:sp>
          <p:nvSpPr>
            <p:cNvPr id="13" name="Text 10"/>
            <p:cNvSpPr/>
            <p:nvPr/>
          </p:nvSpPr>
          <p:spPr>
            <a:xfrm>
              <a:off x="11978640" y="5925312"/>
              <a:ext cx="521208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REQUIREMENTS SATISFIED</a:t>
              </a:r>
              <a:endParaRPr lang="en-US" sz="1500" dirty="0"/>
            </a:p>
          </p:txBody>
        </p:sp>
        <p:sp>
          <p:nvSpPr>
            <p:cNvPr id="14" name="Text 11"/>
            <p:cNvSpPr/>
            <p:nvPr/>
          </p:nvSpPr>
          <p:spPr>
            <a:xfrm>
              <a:off x="11978640" y="6345936"/>
              <a:ext cx="5212080" cy="658368"/>
            </a:xfrm>
            <a:prstGeom prst="rect">
              <a:avLst/>
            </a:prstGeom>
            <a:noFill/>
            <a:ln/>
          </p:spPr>
          <p:txBody>
            <a:bodyPr wrap="square" lIns="0" tIns="0" rIns="0" bIns="0" rtlCol="0" anchor="t"/>
            <a:lstStyle/>
            <a:p>
              <a:pPr marL="0" indent="0">
                <a:lnSpc>
                  <a:spcPts val="1980"/>
                </a:lnSpc>
                <a:buNone/>
              </a:pPr>
              <a:r>
                <a:rPr lang="en-US" sz="1500" dirty="0">
                  <a:solidFill>
                    <a:srgbClr val="000000"/>
                  </a:solidFill>
                  <a:latin typeface="Calibri" pitchFamily="34" charset="0"/>
                  <a:ea typeface="Calibri" pitchFamily="34" charset="-122"/>
                  <a:cs typeface="Calibri" pitchFamily="34" charset="-120"/>
                </a:rPr>
                <a:t>FR1 and FR2 (submission and validation) and FR3 (binary prediction with probability) are satisfied through the API. FR5 — the interactive dashboard — remains future work.</a:t>
              </a:r>
              <a:endParaRPr lang="en-US" sz="1500" dirty="0"/>
            </a:p>
          </p:txBody>
        </p:sp>
      </p:grpSp>
      <p:grpSp>
        <p:nvGrpSpPr>
          <p:cNvPr id="18" name="Group 17"/>
          <p:cNvGrpSpPr/>
          <p:nvPr/>
        </p:nvGrpSpPr>
        <p:grpSpPr>
          <a:xfrm>
            <a:off x="11567160" y="7667000"/>
            <a:ext cx="6035040" cy="2212848"/>
            <a:chOff x="11567160" y="7315199"/>
            <a:chExt cx="6035040" cy="2395728"/>
          </a:xfrm>
        </p:grpSpPr>
        <p:sp>
          <p:nvSpPr>
            <p:cNvPr id="15" name="Shape 12"/>
            <p:cNvSpPr/>
            <p:nvPr/>
          </p:nvSpPr>
          <p:spPr>
            <a:xfrm>
              <a:off x="11567160" y="7315199"/>
              <a:ext cx="6035040" cy="2395728"/>
            </a:xfrm>
            <a:prstGeom prst="roundRect">
              <a:avLst>
                <a:gd name="adj" fmla="val 3435"/>
              </a:avLst>
            </a:prstGeom>
            <a:solidFill>
              <a:srgbClr val="F4F6F8"/>
            </a:solidFill>
            <a:ln w="12700">
              <a:solidFill>
                <a:srgbClr val="D7DCE1"/>
              </a:solidFill>
              <a:prstDash val="solid"/>
            </a:ln>
          </p:spPr>
        </p:sp>
        <p:sp>
          <p:nvSpPr>
            <p:cNvPr id="16" name="Text 13"/>
            <p:cNvSpPr/>
            <p:nvPr/>
          </p:nvSpPr>
          <p:spPr>
            <a:xfrm>
              <a:off x="11978640" y="7498080"/>
              <a:ext cx="521208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STATED HONESTLY</a:t>
              </a:r>
              <a:endParaRPr lang="en-US" sz="1500" dirty="0"/>
            </a:p>
          </p:txBody>
        </p:sp>
        <p:sp>
          <p:nvSpPr>
            <p:cNvPr id="17" name="Text 14"/>
            <p:cNvSpPr/>
            <p:nvPr/>
          </p:nvSpPr>
          <p:spPr>
            <a:xfrm>
              <a:off x="11978640" y="7936992"/>
              <a:ext cx="5212080" cy="1691640"/>
            </a:xfrm>
            <a:prstGeom prst="rect">
              <a:avLst/>
            </a:prstGeom>
            <a:noFill/>
            <a:ln/>
          </p:spPr>
          <p:txBody>
            <a:bodyPr wrap="square" lIns="0" tIns="0" rIns="0" bIns="0" rtlCol="0" anchor="t"/>
            <a:lstStyle/>
            <a:p>
              <a:pPr marL="0" indent="0">
                <a:lnSpc>
                  <a:spcPts val="1848"/>
                </a:lnSpc>
                <a:buNone/>
              </a:pPr>
              <a:r>
                <a:rPr lang="en-US" sz="1400" dirty="0">
                  <a:solidFill>
                    <a:srgbClr val="000000"/>
                  </a:solidFill>
                  <a:latin typeface="Calibri" pitchFamily="34" charset="0"/>
                  <a:ea typeface="Calibri" pitchFamily="34" charset="-122"/>
                  <a:cs typeface="Calibri" pitchFamily="34" charset="-120"/>
                </a:rPr>
                <a:t>Figure 5.11 documents the intended request–response contract, not a capture of the deployed endpoint. Its eight fields do not correspond to the 18 features the model consumes, and the base_rate of 0.52 shown does not match the 21.92% minority-class base rate. SHAP attribution is not computed by the executed pipeline. Aligning the contract with the real schema is recorded as outstanding (Sections 5.15 &amp; 6.3.4).</a:t>
              </a:r>
              <a:endParaRPr lang="en-US" sz="1400" dirty="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5  —  DISCUSSION</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Research Questions Revisited</a:t>
            </a:r>
            <a:endParaRPr lang="en-US" sz="3900" dirty="0"/>
          </a:p>
        </p:txBody>
      </p:sp>
      <p:sp>
        <p:nvSpPr>
          <p:cNvPr id="4" name="Text 2"/>
          <p:cNvSpPr/>
          <p:nvPr/>
        </p:nvSpPr>
        <p:spPr>
          <a:xfrm>
            <a:off x="685800" y="1847088"/>
            <a:ext cx="16916400" cy="822960"/>
          </a:xfrm>
          <a:prstGeom prst="rect">
            <a:avLst/>
          </a:prstGeom>
          <a:noFill/>
          <a:ln/>
        </p:spPr>
        <p:txBody>
          <a:bodyPr wrap="square" lIns="0" tIns="0" rIns="0" bIns="0" rtlCol="0" anchor="t"/>
          <a:lstStyle/>
          <a:p>
            <a:pPr marL="0" indent="0">
              <a:lnSpc>
                <a:spcPts val="2700"/>
              </a:lnSpc>
              <a:buNone/>
            </a:pPr>
            <a:r>
              <a:rPr lang="en-US" sz="2000" dirty="0">
                <a:solidFill>
                  <a:srgbClr val="000000"/>
                </a:solidFill>
                <a:latin typeface="Calibri" pitchFamily="34" charset="0"/>
                <a:ea typeface="Calibri" pitchFamily="34" charset="-122"/>
                <a:cs typeface="Calibri" pitchFamily="34" charset="-120"/>
              </a:rPr>
              <a:t>Each research question is assessed explicitly against what the results establish — including where the answer is partial and why. Setting these boundaries is itself a contribution: it identifies precisely what a subsequent study must do to close them.</a:t>
            </a:r>
            <a:endParaRPr lang="en-US" sz="2000" dirty="0"/>
          </a:p>
        </p:txBody>
      </p:sp>
      <p:sp>
        <p:nvSpPr>
          <p:cNvPr id="5" name="Shape 3"/>
          <p:cNvSpPr/>
          <p:nvPr/>
        </p:nvSpPr>
        <p:spPr>
          <a:xfrm>
            <a:off x="685800" y="3063240"/>
            <a:ext cx="16916400" cy="1353312"/>
          </a:xfrm>
          <a:prstGeom prst="roundRect">
            <a:avLst>
              <a:gd name="adj" fmla="val 6081"/>
            </a:avLst>
          </a:prstGeom>
          <a:solidFill>
            <a:srgbClr val="F4F6F8"/>
          </a:solidFill>
          <a:ln w="12700">
            <a:solidFill>
              <a:srgbClr val="D7DCE1"/>
            </a:solidFill>
            <a:prstDash val="solid"/>
          </a:ln>
        </p:spPr>
      </p:sp>
      <p:sp>
        <p:nvSpPr>
          <p:cNvPr id="6" name="Text 4"/>
          <p:cNvSpPr/>
          <p:nvPr/>
        </p:nvSpPr>
        <p:spPr>
          <a:xfrm>
            <a:off x="1097280" y="3227832"/>
            <a:ext cx="1280160" cy="50292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RQ1</a:t>
            </a:r>
            <a:endParaRPr lang="en-US" sz="2400" dirty="0"/>
          </a:p>
        </p:txBody>
      </p:sp>
      <p:sp>
        <p:nvSpPr>
          <p:cNvPr id="7" name="Text 5"/>
          <p:cNvSpPr/>
          <p:nvPr/>
        </p:nvSpPr>
        <p:spPr>
          <a:xfrm>
            <a:off x="1097280" y="3749040"/>
            <a:ext cx="2743200" cy="365760"/>
          </a:xfrm>
          <a:prstGeom prst="rect">
            <a:avLst/>
          </a:prstGeom>
          <a:noFill/>
          <a:ln/>
        </p:spPr>
        <p:txBody>
          <a:bodyPr wrap="square" lIns="0" tIns="0" rIns="0" bIns="0" rtlCol="0" anchor="ctr"/>
          <a:lstStyle/>
          <a:p>
            <a:pPr marL="0" indent="0">
              <a:buNone/>
            </a:pPr>
            <a:r>
              <a:rPr lang="en-US" sz="1300" b="1" kern="0" spc="160" dirty="0">
                <a:solidFill>
                  <a:srgbClr val="5B6B7C"/>
                </a:solidFill>
                <a:latin typeface="Calibri" pitchFamily="34" charset="0"/>
                <a:ea typeface="Calibri" pitchFamily="34" charset="-122"/>
                <a:cs typeface="Calibri" pitchFamily="34" charset="-120"/>
              </a:rPr>
              <a:t>ADDRESSED</a:t>
            </a:r>
            <a:endParaRPr lang="en-US" sz="1300" dirty="0"/>
          </a:p>
        </p:txBody>
      </p:sp>
      <p:sp>
        <p:nvSpPr>
          <p:cNvPr id="8" name="Text 6"/>
          <p:cNvSpPr/>
          <p:nvPr/>
        </p:nvSpPr>
        <p:spPr>
          <a:xfrm>
            <a:off x="4251960" y="3282696"/>
            <a:ext cx="12938760" cy="960120"/>
          </a:xfrm>
          <a:prstGeom prst="rect">
            <a:avLst/>
          </a:prstGeom>
          <a:noFill/>
          <a:ln/>
        </p:spPr>
        <p:txBody>
          <a:bodyPr wrap="square" lIns="0" tIns="0" rIns="0" bIns="0" rtlCol="0" anchor="t"/>
          <a:lstStyle/>
          <a:p>
            <a:pPr marL="0" indent="0">
              <a:lnSpc>
                <a:spcPts val="2112"/>
              </a:lnSpc>
              <a:buNone/>
            </a:pPr>
            <a:r>
              <a:rPr lang="en-US" sz="1600" dirty="0">
                <a:solidFill>
                  <a:srgbClr val="000000"/>
                </a:solidFill>
                <a:latin typeface="Calibri" pitchFamily="34" charset="0"/>
                <a:ea typeface="Calibri" pitchFamily="34" charset="-122"/>
                <a:cs typeface="Calibri" pitchFamily="34" charset="-120"/>
              </a:rPr>
              <a:t>The feature-importance analysis identifies and ranks all 18 retained attributes, establishing Resume_Score, Programming_Skill, Problem_Solving, Internships, Certifications and Communication_Skills as the strongest determinants and placing CGPA fifteenth. This fulfils Objective 1.</a:t>
            </a:r>
            <a:endParaRPr lang="en-US" sz="1600" dirty="0"/>
          </a:p>
        </p:txBody>
      </p:sp>
      <p:sp>
        <p:nvSpPr>
          <p:cNvPr id="9" name="Shape 7"/>
          <p:cNvSpPr/>
          <p:nvPr/>
        </p:nvSpPr>
        <p:spPr>
          <a:xfrm>
            <a:off x="685800" y="4544568"/>
            <a:ext cx="16916400" cy="1353312"/>
          </a:xfrm>
          <a:prstGeom prst="roundRect">
            <a:avLst>
              <a:gd name="adj" fmla="val 6081"/>
            </a:avLst>
          </a:prstGeom>
          <a:solidFill>
            <a:srgbClr val="E7EBEF"/>
          </a:solidFill>
          <a:ln w="12700">
            <a:solidFill>
              <a:srgbClr val="D7DCE1"/>
            </a:solidFill>
            <a:prstDash val="solid"/>
          </a:ln>
        </p:spPr>
      </p:sp>
      <p:sp>
        <p:nvSpPr>
          <p:cNvPr id="10" name="Text 8"/>
          <p:cNvSpPr/>
          <p:nvPr/>
        </p:nvSpPr>
        <p:spPr>
          <a:xfrm>
            <a:off x="1097280" y="4709160"/>
            <a:ext cx="1280160" cy="50292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RQ2</a:t>
            </a:r>
            <a:endParaRPr lang="en-US" sz="2400" dirty="0"/>
          </a:p>
        </p:txBody>
      </p:sp>
      <p:sp>
        <p:nvSpPr>
          <p:cNvPr id="11" name="Text 9"/>
          <p:cNvSpPr/>
          <p:nvPr/>
        </p:nvSpPr>
        <p:spPr>
          <a:xfrm>
            <a:off x="1097280" y="5230368"/>
            <a:ext cx="2743200" cy="365760"/>
          </a:xfrm>
          <a:prstGeom prst="rect">
            <a:avLst/>
          </a:prstGeom>
          <a:noFill/>
          <a:ln/>
        </p:spPr>
        <p:txBody>
          <a:bodyPr wrap="square" lIns="0" tIns="0" rIns="0" bIns="0" rtlCol="0" anchor="ctr"/>
          <a:lstStyle/>
          <a:p>
            <a:pPr marL="0" indent="0">
              <a:buNone/>
            </a:pPr>
            <a:r>
              <a:rPr lang="en-US" sz="1300" b="1" kern="0" spc="160" dirty="0">
                <a:solidFill>
                  <a:srgbClr val="5B6B7C"/>
                </a:solidFill>
                <a:latin typeface="Calibri" pitchFamily="34" charset="0"/>
                <a:ea typeface="Calibri" pitchFamily="34" charset="-122"/>
                <a:cs typeface="Calibri" pitchFamily="34" charset="-120"/>
              </a:rPr>
              <a:t>PARTIALLY ADDRESSED</a:t>
            </a:r>
            <a:endParaRPr lang="en-US" sz="1300" dirty="0"/>
          </a:p>
        </p:txBody>
      </p:sp>
      <p:sp>
        <p:nvSpPr>
          <p:cNvPr id="12" name="Text 10"/>
          <p:cNvSpPr/>
          <p:nvPr/>
        </p:nvSpPr>
        <p:spPr>
          <a:xfrm>
            <a:off x="4251960" y="4764024"/>
            <a:ext cx="12938760" cy="960120"/>
          </a:xfrm>
          <a:prstGeom prst="rect">
            <a:avLst/>
          </a:prstGeom>
          <a:noFill/>
          <a:ln/>
        </p:spPr>
        <p:txBody>
          <a:bodyPr wrap="square" lIns="0" tIns="0" rIns="0" bIns="0" rtlCol="0" anchor="t"/>
          <a:lstStyle/>
          <a:p>
            <a:pPr marL="0" indent="0">
              <a:lnSpc>
                <a:spcPts val="2112"/>
              </a:lnSpc>
              <a:buNone/>
            </a:pPr>
            <a:r>
              <a:rPr lang="en-US" sz="1600" dirty="0">
                <a:solidFill>
                  <a:srgbClr val="000000"/>
                </a:solidFill>
                <a:latin typeface="Calibri" pitchFamily="34" charset="0"/>
                <a:ea typeface="Calibri" pitchFamily="34" charset="-122"/>
                <a:cs typeface="Calibri" pitchFamily="34" charset="-120"/>
              </a:rPr>
              <a:t>A supervised classifier recovers 85.3% of graduates who will not be placed, from attributes available at or shortly after graduation. It is partial because accuracy of 63.84% falls below the 78.08% baseline and no threshold-independent measure (ROC-AUC) has been computed.</a:t>
            </a:r>
            <a:endParaRPr lang="en-US" sz="1600" dirty="0"/>
          </a:p>
        </p:txBody>
      </p:sp>
      <p:sp>
        <p:nvSpPr>
          <p:cNvPr id="13" name="Shape 11"/>
          <p:cNvSpPr/>
          <p:nvPr/>
        </p:nvSpPr>
        <p:spPr>
          <a:xfrm>
            <a:off x="685800" y="6025896"/>
            <a:ext cx="16916400" cy="1353312"/>
          </a:xfrm>
          <a:prstGeom prst="roundRect">
            <a:avLst>
              <a:gd name="adj" fmla="val 6081"/>
            </a:avLst>
          </a:prstGeom>
          <a:solidFill>
            <a:srgbClr val="F4F6F8"/>
          </a:solidFill>
          <a:ln w="12700">
            <a:solidFill>
              <a:srgbClr val="D7DCE1"/>
            </a:solidFill>
            <a:prstDash val="solid"/>
          </a:ln>
        </p:spPr>
      </p:sp>
      <p:sp>
        <p:nvSpPr>
          <p:cNvPr id="14" name="Text 12"/>
          <p:cNvSpPr/>
          <p:nvPr/>
        </p:nvSpPr>
        <p:spPr>
          <a:xfrm>
            <a:off x="1097280" y="6190488"/>
            <a:ext cx="1280160" cy="50292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RQ3</a:t>
            </a:r>
            <a:endParaRPr lang="en-US" sz="2400" dirty="0"/>
          </a:p>
        </p:txBody>
      </p:sp>
      <p:sp>
        <p:nvSpPr>
          <p:cNvPr id="15" name="Text 13"/>
          <p:cNvSpPr/>
          <p:nvPr/>
        </p:nvSpPr>
        <p:spPr>
          <a:xfrm>
            <a:off x="1097280" y="6711696"/>
            <a:ext cx="2743200" cy="365760"/>
          </a:xfrm>
          <a:prstGeom prst="rect">
            <a:avLst/>
          </a:prstGeom>
          <a:noFill/>
          <a:ln/>
        </p:spPr>
        <p:txBody>
          <a:bodyPr wrap="square" lIns="0" tIns="0" rIns="0" bIns="0" rtlCol="0" anchor="ctr"/>
          <a:lstStyle/>
          <a:p>
            <a:pPr marL="0" indent="0">
              <a:buNone/>
            </a:pPr>
            <a:r>
              <a:rPr lang="en-US" sz="1300" b="1" kern="0" spc="160" dirty="0">
                <a:solidFill>
                  <a:srgbClr val="5B6B7C"/>
                </a:solidFill>
                <a:latin typeface="Calibri" pitchFamily="34" charset="0"/>
                <a:ea typeface="Calibri" pitchFamily="34" charset="-122"/>
                <a:cs typeface="Calibri" pitchFamily="34" charset="-120"/>
              </a:rPr>
              <a:t>OPEN</a:t>
            </a:r>
            <a:endParaRPr lang="en-US" sz="1300" dirty="0"/>
          </a:p>
        </p:txBody>
      </p:sp>
      <p:sp>
        <p:nvSpPr>
          <p:cNvPr id="16" name="Text 14"/>
          <p:cNvSpPr/>
          <p:nvPr/>
        </p:nvSpPr>
        <p:spPr>
          <a:xfrm>
            <a:off x="4251960" y="6245352"/>
            <a:ext cx="12938760" cy="960120"/>
          </a:xfrm>
          <a:prstGeom prst="rect">
            <a:avLst/>
          </a:prstGeom>
          <a:noFill/>
          <a:ln/>
        </p:spPr>
        <p:txBody>
          <a:bodyPr wrap="square" lIns="0" tIns="0" rIns="0" bIns="0" rtlCol="0" anchor="t"/>
          <a:lstStyle/>
          <a:p>
            <a:pPr marL="0" indent="0">
              <a:lnSpc>
                <a:spcPts val="2112"/>
              </a:lnSpc>
              <a:buNone/>
            </a:pPr>
            <a:r>
              <a:rPr lang="en-US" sz="1600" dirty="0">
                <a:solidFill>
                  <a:srgbClr val="000000"/>
                </a:solidFill>
                <a:latin typeface="Calibri" pitchFamily="34" charset="0"/>
                <a:ea typeface="Calibri" pitchFamily="34" charset="-122"/>
                <a:cs typeface="Calibri" pitchFamily="34" charset="-120"/>
              </a:rPr>
              <a:t>This question required a comparison across candidate algorithms under a common protocol. Only XGBoost was trained, so no comparative claim can be made. Stated plainly rather than presented as settled, because a comparative claim unsupported by comparative evidence would not withstand examination.</a:t>
            </a:r>
            <a:endParaRPr lang="en-US" sz="1600" dirty="0"/>
          </a:p>
        </p:txBody>
      </p:sp>
      <p:sp>
        <p:nvSpPr>
          <p:cNvPr id="17" name="Shape 15"/>
          <p:cNvSpPr/>
          <p:nvPr/>
        </p:nvSpPr>
        <p:spPr>
          <a:xfrm>
            <a:off x="685800" y="7507224"/>
            <a:ext cx="16916400" cy="1353312"/>
          </a:xfrm>
          <a:prstGeom prst="roundRect">
            <a:avLst>
              <a:gd name="adj" fmla="val 6081"/>
            </a:avLst>
          </a:prstGeom>
          <a:solidFill>
            <a:srgbClr val="E7EBEF"/>
          </a:solidFill>
          <a:ln w="12700">
            <a:solidFill>
              <a:srgbClr val="D7DCE1"/>
            </a:solidFill>
            <a:prstDash val="solid"/>
          </a:ln>
        </p:spPr>
      </p:sp>
      <p:sp>
        <p:nvSpPr>
          <p:cNvPr id="18" name="Text 16"/>
          <p:cNvSpPr/>
          <p:nvPr/>
        </p:nvSpPr>
        <p:spPr>
          <a:xfrm>
            <a:off x="1097280" y="7671816"/>
            <a:ext cx="1280160" cy="502920"/>
          </a:xfrm>
          <a:prstGeom prst="rect">
            <a:avLst/>
          </a:prstGeom>
          <a:noFill/>
          <a:ln/>
        </p:spPr>
        <p:txBody>
          <a:bodyPr wrap="square" lIns="0" tIns="0" rIns="0" bIns="0"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RQ4</a:t>
            </a:r>
            <a:endParaRPr lang="en-US" sz="2400" dirty="0"/>
          </a:p>
        </p:txBody>
      </p:sp>
      <p:sp>
        <p:nvSpPr>
          <p:cNvPr id="19" name="Text 17"/>
          <p:cNvSpPr/>
          <p:nvPr/>
        </p:nvSpPr>
        <p:spPr>
          <a:xfrm>
            <a:off x="1097280" y="8193024"/>
            <a:ext cx="2743200" cy="365760"/>
          </a:xfrm>
          <a:prstGeom prst="rect">
            <a:avLst/>
          </a:prstGeom>
          <a:noFill/>
          <a:ln/>
        </p:spPr>
        <p:txBody>
          <a:bodyPr wrap="square" lIns="0" tIns="0" rIns="0" bIns="0" rtlCol="0" anchor="ctr"/>
          <a:lstStyle/>
          <a:p>
            <a:pPr marL="0" indent="0">
              <a:buNone/>
            </a:pPr>
            <a:r>
              <a:rPr lang="en-US" sz="1300" b="1" kern="0" spc="160" dirty="0">
                <a:solidFill>
                  <a:srgbClr val="5B6B7C"/>
                </a:solidFill>
                <a:latin typeface="Calibri" pitchFamily="34" charset="0"/>
                <a:ea typeface="Calibri" pitchFamily="34" charset="-122"/>
                <a:cs typeface="Calibri" pitchFamily="34" charset="-120"/>
              </a:rPr>
              <a:t>PARTIALLY ADDRESSED</a:t>
            </a:r>
            <a:endParaRPr lang="en-US" sz="1300" dirty="0"/>
          </a:p>
        </p:txBody>
      </p:sp>
      <p:sp>
        <p:nvSpPr>
          <p:cNvPr id="20" name="Text 18"/>
          <p:cNvSpPr/>
          <p:nvPr/>
        </p:nvSpPr>
        <p:spPr>
          <a:xfrm>
            <a:off x="4251960" y="7726680"/>
            <a:ext cx="12938760" cy="960120"/>
          </a:xfrm>
          <a:prstGeom prst="rect">
            <a:avLst/>
          </a:prstGeom>
          <a:noFill/>
          <a:ln/>
        </p:spPr>
        <p:txBody>
          <a:bodyPr wrap="square" lIns="0" tIns="0" rIns="0" bIns="0" rtlCol="0" anchor="t"/>
          <a:lstStyle/>
          <a:p>
            <a:pPr marL="0" indent="0">
              <a:lnSpc>
                <a:spcPts val="2112"/>
              </a:lnSpc>
              <a:buNone/>
            </a:pPr>
            <a:r>
              <a:rPr lang="en-US" sz="1600" dirty="0">
                <a:solidFill>
                  <a:srgbClr val="000000"/>
                </a:solidFill>
                <a:latin typeface="Calibri" pitchFamily="34" charset="0"/>
                <a:ea typeface="Calibri" pitchFamily="34" charset="-122"/>
                <a:cs typeface="Calibri" pitchFamily="34" charset="-120"/>
              </a:rPr>
              <a:t>The global ranking converts model behaviour into concrete cohort-level guidance for students, universities and policymakers. It is partial because per-student SHAP attribution is not implemented, so the system indicates which attributes matter in general rather than for a given graduate.</a:t>
            </a:r>
            <a:endParaRPr lang="en-US" sz="1600" dirty="0"/>
          </a:p>
        </p:txBody>
      </p:sp>
      <p:sp>
        <p:nvSpPr>
          <p:cNvPr id="21" name="Shape 19"/>
          <p:cNvSpPr/>
          <p:nvPr/>
        </p:nvSpPr>
        <p:spPr>
          <a:xfrm>
            <a:off x="685800" y="9052560"/>
            <a:ext cx="16916400" cy="777240"/>
          </a:xfrm>
          <a:prstGeom prst="roundRect">
            <a:avLst>
              <a:gd name="adj" fmla="val 10588"/>
            </a:avLst>
          </a:prstGeom>
          <a:solidFill>
            <a:srgbClr val="E7EBEF"/>
          </a:solidFill>
          <a:ln w="12700">
            <a:solidFill>
              <a:srgbClr val="D7DCE1"/>
            </a:solidFill>
            <a:prstDash val="solid"/>
          </a:ln>
        </p:spPr>
      </p:sp>
      <p:sp>
        <p:nvSpPr>
          <p:cNvPr id="22" name="Text 20"/>
          <p:cNvSpPr/>
          <p:nvPr/>
        </p:nvSpPr>
        <p:spPr>
          <a:xfrm>
            <a:off x="1097280" y="9052560"/>
            <a:ext cx="16093440" cy="777240"/>
          </a:xfrm>
          <a:prstGeom prst="rect">
            <a:avLst/>
          </a:prstGeom>
          <a:noFill/>
          <a:ln/>
        </p:spPr>
        <p:txBody>
          <a:bodyPr wrap="square" lIns="0" tIns="0" rIns="0" bIns="0" rtlCol="0" anchor="ctr"/>
          <a:lstStyle/>
          <a:p>
            <a:pPr marL="0" indent="0">
              <a:buNone/>
            </a:pPr>
            <a:r>
              <a:rPr lang="en-US" sz="1550" i="1" dirty="0">
                <a:solidFill>
                  <a:srgbClr val="5B6B7C"/>
                </a:solidFill>
                <a:latin typeface="Calibri" pitchFamily="34" charset="0"/>
                <a:ea typeface="Calibri" pitchFamily="34" charset="-122"/>
                <a:cs typeface="Calibri" pitchFamily="34" charset="-120"/>
              </a:rPr>
              <a:t>Also not addressed: subgroup fairness (gap G5) — the demographic attributes that would permit an audit were deliberately excluded from training — and national representativeness, which requires validation on a primary Bangladeshi sample.</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6  —  LIMITATIONS</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Limitations &amp; Recommendations</a:t>
            </a:r>
            <a:endParaRPr lang="en-US" sz="3900" dirty="0"/>
          </a:p>
        </p:txBody>
      </p:sp>
      <p:sp>
        <p:nvSpPr>
          <p:cNvPr id="4" name="Text 2"/>
          <p:cNvSpPr/>
          <p:nvPr/>
        </p:nvSpPr>
        <p:spPr>
          <a:xfrm>
            <a:off x="685800" y="1874520"/>
            <a:ext cx="877824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LIMITATIONS BOUNDING THE CONCLUSIONS</a:t>
            </a:r>
            <a:endParaRPr lang="en-US" sz="1500" dirty="0"/>
          </a:p>
        </p:txBody>
      </p:sp>
      <p:sp>
        <p:nvSpPr>
          <p:cNvPr id="5" name="Shape 3"/>
          <p:cNvSpPr/>
          <p:nvPr/>
        </p:nvSpPr>
        <p:spPr>
          <a:xfrm>
            <a:off x="685800" y="2377440"/>
            <a:ext cx="8778240" cy="1353312"/>
          </a:xfrm>
          <a:prstGeom prst="roundRect">
            <a:avLst>
              <a:gd name="adj" fmla="val 6081"/>
            </a:avLst>
          </a:prstGeom>
          <a:solidFill>
            <a:srgbClr val="F4F6F8"/>
          </a:solidFill>
          <a:ln w="12700">
            <a:solidFill>
              <a:srgbClr val="D7DCE1"/>
            </a:solidFill>
            <a:prstDash val="solid"/>
          </a:ln>
        </p:spPr>
      </p:sp>
      <p:sp>
        <p:nvSpPr>
          <p:cNvPr id="6" name="Text 4"/>
          <p:cNvSpPr/>
          <p:nvPr/>
        </p:nvSpPr>
        <p:spPr>
          <a:xfrm>
            <a:off x="1097280" y="2560320"/>
            <a:ext cx="7955280" cy="384048"/>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Secondary, non-Bangladesh-specific dataset</a:t>
            </a:r>
            <a:endParaRPr lang="en-US" sz="1650" dirty="0"/>
          </a:p>
        </p:txBody>
      </p:sp>
      <p:sp>
        <p:nvSpPr>
          <p:cNvPr id="7" name="Text 5"/>
          <p:cNvSpPr/>
          <p:nvPr/>
        </p:nvSpPr>
        <p:spPr>
          <a:xfrm>
            <a:off x="1097280" y="2999232"/>
            <a:ext cx="7955280" cy="6858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Records are not guaranteed to reflect the Bangladeshi ICT labour market, curricular structure or student population; the six dimensions are operationalised as proxies.</a:t>
            </a:r>
            <a:endParaRPr lang="en-US" sz="1450" dirty="0"/>
          </a:p>
        </p:txBody>
      </p:sp>
      <p:sp>
        <p:nvSpPr>
          <p:cNvPr id="8" name="Shape 6"/>
          <p:cNvSpPr/>
          <p:nvPr/>
        </p:nvSpPr>
        <p:spPr>
          <a:xfrm>
            <a:off x="685800" y="3858768"/>
            <a:ext cx="8778240" cy="1353312"/>
          </a:xfrm>
          <a:prstGeom prst="roundRect">
            <a:avLst>
              <a:gd name="adj" fmla="val 6081"/>
            </a:avLst>
          </a:prstGeom>
          <a:solidFill>
            <a:srgbClr val="E7EBEF"/>
          </a:solidFill>
          <a:ln w="12700">
            <a:solidFill>
              <a:srgbClr val="D7DCE1"/>
            </a:solidFill>
            <a:prstDash val="solid"/>
          </a:ln>
        </p:spPr>
      </p:sp>
      <p:sp>
        <p:nvSpPr>
          <p:cNvPr id="9" name="Text 7"/>
          <p:cNvSpPr/>
          <p:nvPr/>
        </p:nvSpPr>
        <p:spPr>
          <a:xfrm>
            <a:off x="1097280" y="4041648"/>
            <a:ext cx="7955280" cy="384048"/>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Dataset provenance outside our control</a:t>
            </a:r>
            <a:endParaRPr lang="en-US" sz="1650" dirty="0"/>
          </a:p>
        </p:txBody>
      </p:sp>
      <p:sp>
        <p:nvSpPr>
          <p:cNvPr id="10" name="Text 8"/>
          <p:cNvSpPr/>
          <p:nvPr/>
        </p:nvSpPr>
        <p:spPr>
          <a:xfrm>
            <a:off x="1097280" y="4480560"/>
            <a:ext cx="7955280" cy="6858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The sample was assembled by the dataset's original publisher, so sampling technique and quality control lie outside the researcher's knowledge.</a:t>
            </a:r>
            <a:endParaRPr lang="en-US" sz="1450" dirty="0"/>
          </a:p>
        </p:txBody>
      </p:sp>
      <p:sp>
        <p:nvSpPr>
          <p:cNvPr id="11" name="Shape 9"/>
          <p:cNvSpPr/>
          <p:nvPr/>
        </p:nvSpPr>
        <p:spPr>
          <a:xfrm>
            <a:off x="685800" y="5340096"/>
            <a:ext cx="8778240" cy="1353312"/>
          </a:xfrm>
          <a:prstGeom prst="roundRect">
            <a:avLst>
              <a:gd name="adj" fmla="val 6081"/>
            </a:avLst>
          </a:prstGeom>
          <a:solidFill>
            <a:srgbClr val="F4F6F8"/>
          </a:solidFill>
          <a:ln w="12700">
            <a:solidFill>
              <a:srgbClr val="D7DCE1"/>
            </a:solidFill>
            <a:prstDash val="solid"/>
          </a:ln>
        </p:spPr>
      </p:sp>
      <p:sp>
        <p:nvSpPr>
          <p:cNvPr id="12" name="Text 10"/>
          <p:cNvSpPr/>
          <p:nvPr/>
        </p:nvSpPr>
        <p:spPr>
          <a:xfrm>
            <a:off x="1097280" y="5522976"/>
            <a:ext cx="7955280" cy="384048"/>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Incomplete algorithmic comparison</a:t>
            </a:r>
            <a:endParaRPr lang="en-US" sz="1650" dirty="0"/>
          </a:p>
        </p:txBody>
      </p:sp>
      <p:sp>
        <p:nvSpPr>
          <p:cNvPr id="13" name="Text 11"/>
          <p:cNvSpPr/>
          <p:nvPr/>
        </p:nvSpPr>
        <p:spPr>
          <a:xfrm>
            <a:off x="1097280" y="5961888"/>
            <a:ext cx="7955280" cy="6858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Only XGBoost was trained and evaluated, so no claim of comparative superiority over the four candidate comparators is made.</a:t>
            </a:r>
            <a:endParaRPr lang="en-US" sz="1450" dirty="0"/>
          </a:p>
        </p:txBody>
      </p:sp>
      <p:sp>
        <p:nvSpPr>
          <p:cNvPr id="14" name="Shape 12"/>
          <p:cNvSpPr/>
          <p:nvPr/>
        </p:nvSpPr>
        <p:spPr>
          <a:xfrm>
            <a:off x="685800" y="6821424"/>
            <a:ext cx="8778240" cy="1353312"/>
          </a:xfrm>
          <a:prstGeom prst="roundRect">
            <a:avLst>
              <a:gd name="adj" fmla="val 6081"/>
            </a:avLst>
          </a:prstGeom>
          <a:solidFill>
            <a:srgbClr val="E7EBEF"/>
          </a:solidFill>
          <a:ln w="12700">
            <a:solidFill>
              <a:srgbClr val="D7DCE1"/>
            </a:solidFill>
            <a:prstDash val="solid"/>
          </a:ln>
        </p:spPr>
      </p:sp>
      <p:sp>
        <p:nvSpPr>
          <p:cNvPr id="15" name="Text 13"/>
          <p:cNvSpPr/>
          <p:nvPr/>
        </p:nvSpPr>
        <p:spPr>
          <a:xfrm>
            <a:off x="1097280" y="7004304"/>
            <a:ext cx="7955280" cy="384048"/>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Uncalibrated precision–recall trade-off</a:t>
            </a:r>
            <a:endParaRPr lang="en-US" sz="1650" dirty="0"/>
          </a:p>
        </p:txBody>
      </p:sp>
      <p:sp>
        <p:nvSpPr>
          <p:cNvPr id="16" name="Text 14"/>
          <p:cNvSpPr/>
          <p:nvPr/>
        </p:nvSpPr>
        <p:spPr>
          <a:xfrm>
            <a:off x="1097280" y="7443216"/>
            <a:ext cx="7955280" cy="6858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Three imbalance corrections applied simultaneously appear to over-correct, yielding 0.36 precision; no threshold-independent measure separates model from threshold.</a:t>
            </a:r>
            <a:endParaRPr lang="en-US" sz="1450" dirty="0"/>
          </a:p>
        </p:txBody>
      </p:sp>
      <p:sp>
        <p:nvSpPr>
          <p:cNvPr id="17" name="Shape 15"/>
          <p:cNvSpPr/>
          <p:nvPr/>
        </p:nvSpPr>
        <p:spPr>
          <a:xfrm>
            <a:off x="685800" y="8302752"/>
            <a:ext cx="8778240" cy="1353312"/>
          </a:xfrm>
          <a:prstGeom prst="roundRect">
            <a:avLst>
              <a:gd name="adj" fmla="val 6081"/>
            </a:avLst>
          </a:prstGeom>
          <a:solidFill>
            <a:srgbClr val="F4F6F8"/>
          </a:solidFill>
          <a:ln w="12700">
            <a:solidFill>
              <a:srgbClr val="D7DCE1"/>
            </a:solidFill>
            <a:prstDash val="solid"/>
          </a:ln>
        </p:spPr>
      </p:sp>
      <p:sp>
        <p:nvSpPr>
          <p:cNvPr id="18" name="Text 16"/>
          <p:cNvSpPr/>
          <p:nvPr/>
        </p:nvSpPr>
        <p:spPr>
          <a:xfrm>
            <a:off x="1097280" y="8485632"/>
            <a:ext cx="7955280" cy="384048"/>
          </a:xfrm>
          <a:prstGeom prst="rect">
            <a:avLst/>
          </a:prstGeom>
          <a:noFill/>
          <a:ln/>
        </p:spPr>
        <p:txBody>
          <a:bodyPr wrap="square" lIns="0" tIns="0" rIns="0" bIns="0" rtlCol="0" anchor="ctr"/>
          <a:lstStyle/>
          <a:p>
            <a:pPr marL="0" indent="0">
              <a:buNone/>
            </a:pPr>
            <a:r>
              <a:rPr lang="en-US" sz="1650" b="1" dirty="0">
                <a:solidFill>
                  <a:srgbClr val="000000"/>
                </a:solidFill>
                <a:latin typeface="Calibri" pitchFamily="34" charset="0"/>
                <a:ea typeface="Calibri" pitchFamily="34" charset="-122"/>
                <a:cs typeface="Calibri" pitchFamily="34" charset="-120"/>
              </a:rPr>
              <a:t>Cross-sectional design</a:t>
            </a:r>
            <a:endParaRPr lang="en-US" sz="1650" dirty="0"/>
          </a:p>
        </p:txBody>
      </p:sp>
      <p:sp>
        <p:nvSpPr>
          <p:cNvPr id="19" name="Text 17"/>
          <p:cNvSpPr/>
          <p:nvPr/>
        </p:nvSpPr>
        <p:spPr>
          <a:xfrm>
            <a:off x="1097280" y="8924544"/>
            <a:ext cx="7955280" cy="6858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Predictors and outcomes are observed at a single point in time, so the model establishes predictive association rather than causation.</a:t>
            </a:r>
            <a:endParaRPr lang="en-US" sz="1450" dirty="0"/>
          </a:p>
        </p:txBody>
      </p:sp>
      <p:sp>
        <p:nvSpPr>
          <p:cNvPr id="20" name="Text 18"/>
          <p:cNvSpPr/>
          <p:nvPr/>
        </p:nvSpPr>
        <p:spPr>
          <a:xfrm>
            <a:off x="9966960" y="1874520"/>
            <a:ext cx="763524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FOUR RECOMMENDATIONS</a:t>
            </a:r>
            <a:endParaRPr lang="en-US" sz="1500" dirty="0"/>
          </a:p>
        </p:txBody>
      </p:sp>
      <p:sp>
        <p:nvSpPr>
          <p:cNvPr id="21" name="Shape 19"/>
          <p:cNvSpPr/>
          <p:nvPr/>
        </p:nvSpPr>
        <p:spPr>
          <a:xfrm>
            <a:off x="9966960" y="2377440"/>
            <a:ext cx="7635240" cy="1719072"/>
          </a:xfrm>
          <a:prstGeom prst="roundRect">
            <a:avLst>
              <a:gd name="adj" fmla="val 4787"/>
            </a:avLst>
          </a:prstGeom>
          <a:solidFill>
            <a:srgbClr val="E7EBEF"/>
          </a:solidFill>
          <a:ln w="12700">
            <a:solidFill>
              <a:srgbClr val="D7DCE1"/>
            </a:solidFill>
            <a:prstDash val="solid"/>
          </a:ln>
        </p:spPr>
      </p:sp>
      <p:sp>
        <p:nvSpPr>
          <p:cNvPr id="22" name="Shape 20"/>
          <p:cNvSpPr/>
          <p:nvPr/>
        </p:nvSpPr>
        <p:spPr>
          <a:xfrm>
            <a:off x="10351008" y="2670048"/>
            <a:ext cx="566928" cy="566928"/>
          </a:xfrm>
          <a:prstGeom prst="ellipse">
            <a:avLst/>
          </a:prstGeom>
          <a:solidFill>
            <a:srgbClr val="FFFFFF"/>
          </a:solidFill>
          <a:ln w="12700">
            <a:solidFill>
              <a:srgbClr val="D7DCE1"/>
            </a:solidFill>
            <a:prstDash val="solid"/>
          </a:ln>
        </p:spPr>
      </p:sp>
      <p:sp>
        <p:nvSpPr>
          <p:cNvPr id="23" name="Text 21"/>
          <p:cNvSpPr/>
          <p:nvPr/>
        </p:nvSpPr>
        <p:spPr>
          <a:xfrm>
            <a:off x="10351008" y="2670048"/>
            <a:ext cx="566928" cy="566928"/>
          </a:xfrm>
          <a:prstGeom prst="rect">
            <a:avLst/>
          </a:prstGeom>
          <a:noFill/>
          <a:ln/>
        </p:spPr>
        <p:txBody>
          <a:bodyPr wrap="square" lIns="0" tIns="0" rIns="0" bIns="0" rtlCol="0" anchor="ctr"/>
          <a:lstStyle/>
          <a:p>
            <a:pPr marL="0" indent="0" algn="ctr">
              <a:buNone/>
            </a:pPr>
            <a:r>
              <a:rPr lang="en-US" sz="1700" b="1" dirty="0">
                <a:solidFill>
                  <a:srgbClr val="000000"/>
                </a:solidFill>
                <a:latin typeface="Calibri" pitchFamily="34" charset="0"/>
                <a:ea typeface="Calibri" pitchFamily="34" charset="-122"/>
                <a:cs typeface="Calibri" pitchFamily="34" charset="-120"/>
              </a:rPr>
              <a:t>1</a:t>
            </a:r>
            <a:endParaRPr lang="en-US" sz="1700" dirty="0"/>
          </a:p>
        </p:txBody>
      </p:sp>
      <p:sp>
        <p:nvSpPr>
          <p:cNvPr id="24" name="Text 22"/>
          <p:cNvSpPr/>
          <p:nvPr/>
        </p:nvSpPr>
        <p:spPr>
          <a:xfrm>
            <a:off x="11155680" y="2615184"/>
            <a:ext cx="6035040" cy="384048"/>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Students</a:t>
            </a:r>
            <a:endParaRPr lang="en-US" sz="1700" dirty="0"/>
          </a:p>
        </p:txBody>
      </p:sp>
      <p:sp>
        <p:nvSpPr>
          <p:cNvPr id="25" name="Text 23"/>
          <p:cNvSpPr/>
          <p:nvPr/>
        </p:nvSpPr>
        <p:spPr>
          <a:xfrm>
            <a:off x="11155680" y="3072384"/>
            <a:ext cx="6035040" cy="9144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Treat resume quality, programming and problem-solving ability, internship experience and recognised certifications as substantially more consequential than marginal CGPA improvement when allocating preparation effort during the degree.</a:t>
            </a:r>
            <a:endParaRPr lang="en-US" sz="1450" dirty="0"/>
          </a:p>
        </p:txBody>
      </p:sp>
      <p:sp>
        <p:nvSpPr>
          <p:cNvPr id="26" name="Shape 24"/>
          <p:cNvSpPr/>
          <p:nvPr/>
        </p:nvSpPr>
        <p:spPr>
          <a:xfrm>
            <a:off x="9966960" y="4233672"/>
            <a:ext cx="7635240" cy="1719072"/>
          </a:xfrm>
          <a:prstGeom prst="roundRect">
            <a:avLst>
              <a:gd name="adj" fmla="val 4787"/>
            </a:avLst>
          </a:prstGeom>
          <a:solidFill>
            <a:srgbClr val="F4F6F8"/>
          </a:solidFill>
          <a:ln w="12700">
            <a:solidFill>
              <a:srgbClr val="D7DCE1"/>
            </a:solidFill>
            <a:prstDash val="solid"/>
          </a:ln>
        </p:spPr>
      </p:sp>
      <p:sp>
        <p:nvSpPr>
          <p:cNvPr id="27" name="Shape 25"/>
          <p:cNvSpPr/>
          <p:nvPr/>
        </p:nvSpPr>
        <p:spPr>
          <a:xfrm>
            <a:off x="10351008" y="4526280"/>
            <a:ext cx="566928" cy="566928"/>
          </a:xfrm>
          <a:prstGeom prst="ellipse">
            <a:avLst/>
          </a:prstGeom>
          <a:solidFill>
            <a:srgbClr val="FFFFFF"/>
          </a:solidFill>
          <a:ln w="12700">
            <a:solidFill>
              <a:srgbClr val="D7DCE1"/>
            </a:solidFill>
            <a:prstDash val="solid"/>
          </a:ln>
        </p:spPr>
      </p:sp>
      <p:sp>
        <p:nvSpPr>
          <p:cNvPr id="28" name="Text 26"/>
          <p:cNvSpPr/>
          <p:nvPr/>
        </p:nvSpPr>
        <p:spPr>
          <a:xfrm>
            <a:off x="10351008" y="4526280"/>
            <a:ext cx="566928" cy="566928"/>
          </a:xfrm>
          <a:prstGeom prst="rect">
            <a:avLst/>
          </a:prstGeom>
          <a:noFill/>
          <a:ln/>
        </p:spPr>
        <p:txBody>
          <a:bodyPr wrap="square" lIns="0" tIns="0" rIns="0" bIns="0" rtlCol="0" anchor="ctr"/>
          <a:lstStyle/>
          <a:p>
            <a:pPr marL="0" indent="0" algn="ctr">
              <a:buNone/>
            </a:pPr>
            <a:r>
              <a:rPr lang="en-US" sz="1700" b="1" dirty="0">
                <a:solidFill>
                  <a:srgbClr val="000000"/>
                </a:solidFill>
                <a:latin typeface="Calibri" pitchFamily="34" charset="0"/>
                <a:ea typeface="Calibri" pitchFamily="34" charset="-122"/>
                <a:cs typeface="Calibri" pitchFamily="34" charset="-120"/>
              </a:rPr>
              <a:t>2</a:t>
            </a:r>
            <a:endParaRPr lang="en-US" sz="1700" dirty="0"/>
          </a:p>
        </p:txBody>
      </p:sp>
      <p:sp>
        <p:nvSpPr>
          <p:cNvPr id="29" name="Text 27"/>
          <p:cNvSpPr/>
          <p:nvPr/>
        </p:nvSpPr>
        <p:spPr>
          <a:xfrm>
            <a:off x="11155680" y="4471416"/>
            <a:ext cx="6035040" cy="384048"/>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Universities</a:t>
            </a:r>
            <a:endParaRPr lang="en-US" sz="1700" dirty="0"/>
          </a:p>
        </p:txBody>
      </p:sp>
      <p:sp>
        <p:nvSpPr>
          <p:cNvPr id="30" name="Text 28"/>
          <p:cNvSpPr/>
          <p:nvPr/>
        </p:nvSpPr>
        <p:spPr>
          <a:xfrm>
            <a:off x="11155680" y="4928616"/>
            <a:ext cx="6035040" cy="9144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Use the ranked determinants to inform curriculum revision toward greater work-integrated learning, and to target career counselling where it changes outcomes most.</a:t>
            </a:r>
            <a:endParaRPr lang="en-US" sz="1450" dirty="0"/>
          </a:p>
        </p:txBody>
      </p:sp>
      <p:sp>
        <p:nvSpPr>
          <p:cNvPr id="31" name="Shape 29"/>
          <p:cNvSpPr/>
          <p:nvPr/>
        </p:nvSpPr>
        <p:spPr>
          <a:xfrm>
            <a:off x="9966960" y="6089904"/>
            <a:ext cx="7635240" cy="1719072"/>
          </a:xfrm>
          <a:prstGeom prst="roundRect">
            <a:avLst>
              <a:gd name="adj" fmla="val 4787"/>
            </a:avLst>
          </a:prstGeom>
          <a:solidFill>
            <a:srgbClr val="E7EBEF"/>
          </a:solidFill>
          <a:ln w="12700">
            <a:solidFill>
              <a:srgbClr val="D7DCE1"/>
            </a:solidFill>
            <a:prstDash val="solid"/>
          </a:ln>
        </p:spPr>
      </p:sp>
      <p:sp>
        <p:nvSpPr>
          <p:cNvPr id="32" name="Shape 30"/>
          <p:cNvSpPr/>
          <p:nvPr/>
        </p:nvSpPr>
        <p:spPr>
          <a:xfrm>
            <a:off x="10351008" y="6382512"/>
            <a:ext cx="566928" cy="566928"/>
          </a:xfrm>
          <a:prstGeom prst="ellipse">
            <a:avLst/>
          </a:prstGeom>
          <a:solidFill>
            <a:srgbClr val="FFFFFF"/>
          </a:solidFill>
          <a:ln w="12700">
            <a:solidFill>
              <a:srgbClr val="D7DCE1"/>
            </a:solidFill>
            <a:prstDash val="solid"/>
          </a:ln>
        </p:spPr>
      </p:sp>
      <p:sp>
        <p:nvSpPr>
          <p:cNvPr id="33" name="Text 31"/>
          <p:cNvSpPr/>
          <p:nvPr/>
        </p:nvSpPr>
        <p:spPr>
          <a:xfrm>
            <a:off x="10351008" y="6382512"/>
            <a:ext cx="566928" cy="566928"/>
          </a:xfrm>
          <a:prstGeom prst="rect">
            <a:avLst/>
          </a:prstGeom>
          <a:noFill/>
          <a:ln/>
        </p:spPr>
        <p:txBody>
          <a:bodyPr wrap="square" lIns="0" tIns="0" rIns="0" bIns="0" rtlCol="0" anchor="ctr"/>
          <a:lstStyle/>
          <a:p>
            <a:pPr marL="0" indent="0" algn="ctr">
              <a:buNone/>
            </a:pPr>
            <a:r>
              <a:rPr lang="en-US" sz="1700" b="1" dirty="0">
                <a:solidFill>
                  <a:srgbClr val="000000"/>
                </a:solidFill>
                <a:latin typeface="Calibri" pitchFamily="34" charset="0"/>
                <a:ea typeface="Calibri" pitchFamily="34" charset="-122"/>
                <a:cs typeface="Calibri" pitchFamily="34" charset="-120"/>
              </a:rPr>
              <a:t>3</a:t>
            </a:r>
            <a:endParaRPr lang="en-US" sz="1700" dirty="0"/>
          </a:p>
        </p:txBody>
      </p:sp>
      <p:sp>
        <p:nvSpPr>
          <p:cNvPr id="34" name="Text 32"/>
          <p:cNvSpPr/>
          <p:nvPr/>
        </p:nvSpPr>
        <p:spPr>
          <a:xfrm>
            <a:off x="11155680" y="6327648"/>
            <a:ext cx="6035040" cy="384048"/>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Institutional deployment</a:t>
            </a:r>
            <a:endParaRPr lang="en-US" sz="1700" dirty="0"/>
          </a:p>
        </p:txBody>
      </p:sp>
      <p:sp>
        <p:nvSpPr>
          <p:cNvPr id="35" name="Text 33"/>
          <p:cNvSpPr/>
          <p:nvPr/>
        </p:nvSpPr>
        <p:spPr>
          <a:xfrm>
            <a:off x="11155680" y="6784848"/>
            <a:ext cx="6035040" cy="9144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Confine any deployment of the current model to low-stakes routing — offering optional guidance to flagged students — until minority-class precision improves. At 0.36 precision it is unsuitable for any decision that allocates scarce resources or carries a cost to the student.</a:t>
            </a:r>
            <a:endParaRPr lang="en-US" sz="1450" dirty="0"/>
          </a:p>
        </p:txBody>
      </p:sp>
      <p:sp>
        <p:nvSpPr>
          <p:cNvPr id="36" name="Shape 34"/>
          <p:cNvSpPr/>
          <p:nvPr/>
        </p:nvSpPr>
        <p:spPr>
          <a:xfrm>
            <a:off x="9966960" y="7946136"/>
            <a:ext cx="7635240" cy="1719072"/>
          </a:xfrm>
          <a:prstGeom prst="roundRect">
            <a:avLst>
              <a:gd name="adj" fmla="val 4787"/>
            </a:avLst>
          </a:prstGeom>
          <a:solidFill>
            <a:srgbClr val="F4F6F8"/>
          </a:solidFill>
          <a:ln w="12700">
            <a:solidFill>
              <a:srgbClr val="D7DCE1"/>
            </a:solidFill>
            <a:prstDash val="solid"/>
          </a:ln>
        </p:spPr>
      </p:sp>
      <p:sp>
        <p:nvSpPr>
          <p:cNvPr id="37" name="Shape 35"/>
          <p:cNvSpPr/>
          <p:nvPr/>
        </p:nvSpPr>
        <p:spPr>
          <a:xfrm>
            <a:off x="10351008" y="8238744"/>
            <a:ext cx="566928" cy="566928"/>
          </a:xfrm>
          <a:prstGeom prst="ellipse">
            <a:avLst/>
          </a:prstGeom>
          <a:solidFill>
            <a:srgbClr val="FFFFFF"/>
          </a:solidFill>
          <a:ln w="12700">
            <a:solidFill>
              <a:srgbClr val="D7DCE1"/>
            </a:solidFill>
            <a:prstDash val="solid"/>
          </a:ln>
        </p:spPr>
      </p:sp>
      <p:sp>
        <p:nvSpPr>
          <p:cNvPr id="38" name="Text 36"/>
          <p:cNvSpPr/>
          <p:nvPr/>
        </p:nvSpPr>
        <p:spPr>
          <a:xfrm>
            <a:off x="10351008" y="8238744"/>
            <a:ext cx="566928" cy="566928"/>
          </a:xfrm>
          <a:prstGeom prst="rect">
            <a:avLst/>
          </a:prstGeom>
          <a:noFill/>
          <a:ln/>
        </p:spPr>
        <p:txBody>
          <a:bodyPr wrap="square" lIns="0" tIns="0" rIns="0" bIns="0" rtlCol="0" anchor="ctr"/>
          <a:lstStyle/>
          <a:p>
            <a:pPr marL="0" indent="0" algn="ctr">
              <a:buNone/>
            </a:pPr>
            <a:r>
              <a:rPr lang="en-US" sz="1700" b="1" dirty="0">
                <a:solidFill>
                  <a:srgbClr val="000000"/>
                </a:solidFill>
                <a:latin typeface="Calibri" pitchFamily="34" charset="0"/>
                <a:ea typeface="Calibri" pitchFamily="34" charset="-122"/>
                <a:cs typeface="Calibri" pitchFamily="34" charset="-120"/>
              </a:rPr>
              <a:t>4</a:t>
            </a:r>
            <a:endParaRPr lang="en-US" sz="1700" dirty="0"/>
          </a:p>
        </p:txBody>
      </p:sp>
      <p:sp>
        <p:nvSpPr>
          <p:cNvPr id="39" name="Text 37"/>
          <p:cNvSpPr/>
          <p:nvPr/>
        </p:nvSpPr>
        <p:spPr>
          <a:xfrm>
            <a:off x="11155680" y="8183880"/>
            <a:ext cx="6035040" cy="384048"/>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Future data collection</a:t>
            </a:r>
            <a:endParaRPr lang="en-US" sz="1700" dirty="0"/>
          </a:p>
        </p:txBody>
      </p:sp>
      <p:sp>
        <p:nvSpPr>
          <p:cNvPr id="40" name="Text 38"/>
          <p:cNvSpPr/>
          <p:nvPr/>
        </p:nvSpPr>
        <p:spPr>
          <a:xfrm>
            <a:off x="11155680" y="8641080"/>
            <a:ext cx="6035040" cy="91440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Move from the secondary dataset used at this stage toward a primary, Bangladesh-specific dataset collected via a probability-based or institutionally coordinated sampling frame.</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0352"/>
            <a:ext cx="16916400" cy="310896"/>
          </a:xfrm>
          <a:prstGeom prst="rect">
            <a:avLst/>
          </a:prstGeom>
          <a:noFill/>
          <a:ln/>
        </p:spPr>
        <p:txBody>
          <a:bodyPr wrap="square" lIns="0" tIns="0" rIns="0" bIns="0" rtlCol="0" anchor="ctr"/>
          <a:lstStyle/>
          <a:p>
            <a:pPr marL="0" indent="0">
              <a:buNone/>
            </a:pPr>
            <a:r>
              <a:rPr lang="en-US" sz="1650" b="1" kern="0" spc="300" dirty="0">
                <a:solidFill>
                  <a:srgbClr val="000000"/>
                </a:solidFill>
                <a:latin typeface="Calibri" pitchFamily="34" charset="0"/>
                <a:ea typeface="Calibri" pitchFamily="34" charset="-122"/>
                <a:cs typeface="Calibri" pitchFamily="34" charset="-120"/>
              </a:rPr>
              <a:t>CHAPTER 6  —  CONCLUSIONS</a:t>
            </a:r>
            <a:endParaRPr lang="en-US" sz="1650" dirty="0"/>
          </a:p>
        </p:txBody>
      </p:sp>
      <p:sp>
        <p:nvSpPr>
          <p:cNvPr id="3" name="Text 1"/>
          <p:cNvSpPr/>
          <p:nvPr/>
        </p:nvSpPr>
        <p:spPr>
          <a:xfrm>
            <a:off x="685800" y="896112"/>
            <a:ext cx="16916400" cy="749808"/>
          </a:xfrm>
          <a:prstGeom prst="rect">
            <a:avLst/>
          </a:prstGeom>
          <a:noFill/>
          <a:ln/>
        </p:spPr>
        <p:txBody>
          <a:bodyPr wrap="square" lIns="0" tIns="0" rIns="0" bIns="0" rtlCol="0" anchor="ctr"/>
          <a:lstStyle/>
          <a:p>
            <a:pPr marL="0" indent="0">
              <a:buNone/>
            </a:pPr>
            <a:r>
              <a:rPr lang="en-US" sz="3900" b="1" dirty="0">
                <a:solidFill>
                  <a:srgbClr val="000000"/>
                </a:solidFill>
                <a:latin typeface="Calibri" pitchFamily="34" charset="0"/>
                <a:ea typeface="Calibri" pitchFamily="34" charset="-122"/>
                <a:cs typeface="Calibri" pitchFamily="34" charset="-120"/>
              </a:rPr>
              <a:t>Conclusions &amp; Future Work</a:t>
            </a:r>
            <a:endParaRPr lang="en-US" sz="3900" dirty="0"/>
          </a:p>
        </p:txBody>
      </p:sp>
      <p:sp>
        <p:nvSpPr>
          <p:cNvPr id="4" name="Shape 2"/>
          <p:cNvSpPr/>
          <p:nvPr/>
        </p:nvSpPr>
        <p:spPr>
          <a:xfrm>
            <a:off x="685800" y="1874520"/>
            <a:ext cx="16916400" cy="2057400"/>
          </a:xfrm>
          <a:prstGeom prst="roundRect">
            <a:avLst>
              <a:gd name="adj" fmla="val 4000"/>
            </a:avLst>
          </a:prstGeom>
          <a:solidFill>
            <a:srgbClr val="E7EBEF"/>
          </a:solidFill>
          <a:ln w="12700">
            <a:solidFill>
              <a:srgbClr val="D7DCE1"/>
            </a:solidFill>
            <a:prstDash val="solid"/>
          </a:ln>
        </p:spPr>
      </p:sp>
      <p:sp>
        <p:nvSpPr>
          <p:cNvPr id="5" name="Text 3"/>
          <p:cNvSpPr/>
          <p:nvPr/>
        </p:nvSpPr>
        <p:spPr>
          <a:xfrm>
            <a:off x="1143000" y="2121408"/>
            <a:ext cx="1600200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KEY TAKEAWAY</a:t>
            </a:r>
            <a:endParaRPr lang="en-US" sz="1500" dirty="0"/>
          </a:p>
        </p:txBody>
      </p:sp>
      <p:sp>
        <p:nvSpPr>
          <p:cNvPr id="6" name="Text 4"/>
          <p:cNvSpPr/>
          <p:nvPr/>
        </p:nvSpPr>
        <p:spPr>
          <a:xfrm>
            <a:off x="1143000" y="2578608"/>
            <a:ext cx="16002000" cy="1234440"/>
          </a:xfrm>
          <a:prstGeom prst="rect">
            <a:avLst/>
          </a:prstGeom>
          <a:noFill/>
          <a:ln/>
        </p:spPr>
        <p:txBody>
          <a:bodyPr wrap="square" lIns="0" tIns="0" rIns="0" bIns="0" rtlCol="0" anchor="t"/>
          <a:lstStyle/>
          <a:p>
            <a:pPr marL="0" indent="0">
              <a:lnSpc>
                <a:spcPts val="2300"/>
              </a:lnSpc>
              <a:buNone/>
            </a:pPr>
            <a:r>
              <a:rPr lang="en-US" sz="1700" dirty="0">
                <a:solidFill>
                  <a:srgbClr val="000000"/>
                </a:solidFill>
                <a:latin typeface="Calibri" pitchFamily="34" charset="0"/>
                <a:ea typeface="Calibri" pitchFamily="34" charset="-122"/>
                <a:cs typeface="Calibri" pitchFamily="34" charset="-120"/>
              </a:rPr>
              <a:t>What a graduate can evidence outweighs CGPA. Across all 18 retained features, the model's decisions were driven overwhelmingly by evidenced capability and career preparation — Resume_Score, Programming_Skill, Problem_Solving, Internships, Certifications and Communication_Skills occupied the six highest positions, while CGPA ranked fifteenth with an importance of 0.013581. This reinforces the argument that employability in computing disciplines cannot be reduced to grade point average, on a sample an order of magnitude larger than the reviewed studies.</a:t>
            </a:r>
            <a:endParaRPr lang="en-US" sz="1700" dirty="0"/>
          </a:p>
        </p:txBody>
      </p:sp>
      <p:sp>
        <p:nvSpPr>
          <p:cNvPr id="7" name="Shape 5"/>
          <p:cNvSpPr/>
          <p:nvPr/>
        </p:nvSpPr>
        <p:spPr>
          <a:xfrm>
            <a:off x="685800" y="4114800"/>
            <a:ext cx="5394960" cy="2286000"/>
          </a:xfrm>
          <a:prstGeom prst="roundRect">
            <a:avLst>
              <a:gd name="adj" fmla="val 3600"/>
            </a:avLst>
          </a:prstGeom>
          <a:solidFill>
            <a:srgbClr val="F4F6F8"/>
          </a:solidFill>
          <a:ln w="12700">
            <a:solidFill>
              <a:srgbClr val="D7DCE1"/>
            </a:solidFill>
            <a:prstDash val="solid"/>
          </a:ln>
        </p:spPr>
      </p:sp>
      <p:sp>
        <p:nvSpPr>
          <p:cNvPr id="8" name="Text 6"/>
          <p:cNvSpPr/>
          <p:nvPr/>
        </p:nvSpPr>
        <p:spPr>
          <a:xfrm>
            <a:off x="1069848" y="4343400"/>
            <a:ext cx="4626864" cy="384048"/>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What was built</a:t>
            </a:r>
            <a:endParaRPr lang="en-US" sz="1700" dirty="0"/>
          </a:p>
        </p:txBody>
      </p:sp>
      <p:sp>
        <p:nvSpPr>
          <p:cNvPr id="9" name="Text 7"/>
          <p:cNvSpPr/>
          <p:nvPr/>
        </p:nvSpPr>
        <p:spPr>
          <a:xfrm>
            <a:off x="1069848" y="4800600"/>
            <a:ext cx="4626864" cy="146304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A 50,000-record dataset reduced to 18 modelling features, partitioned by a stratified 80:20 split, with an XGBoost classifier trained inside a pipeline of imputation, standardisation, one-hot encoding and SMOTE — served behind a documented HTTP API.</a:t>
            </a:r>
            <a:endParaRPr lang="en-US" sz="1450" dirty="0"/>
          </a:p>
        </p:txBody>
      </p:sp>
      <p:sp>
        <p:nvSpPr>
          <p:cNvPr id="10" name="Shape 8"/>
          <p:cNvSpPr/>
          <p:nvPr/>
        </p:nvSpPr>
        <p:spPr>
          <a:xfrm>
            <a:off x="6446520" y="4114800"/>
            <a:ext cx="5394960" cy="2286000"/>
          </a:xfrm>
          <a:prstGeom prst="roundRect">
            <a:avLst>
              <a:gd name="adj" fmla="val 3600"/>
            </a:avLst>
          </a:prstGeom>
          <a:solidFill>
            <a:srgbClr val="F4F6F8"/>
          </a:solidFill>
          <a:ln w="12700">
            <a:solidFill>
              <a:srgbClr val="D7DCE1"/>
            </a:solidFill>
            <a:prstDash val="solid"/>
          </a:ln>
        </p:spPr>
      </p:sp>
      <p:sp>
        <p:nvSpPr>
          <p:cNvPr id="11" name="Text 9"/>
          <p:cNvSpPr/>
          <p:nvPr/>
        </p:nvSpPr>
        <p:spPr>
          <a:xfrm>
            <a:off x="6830568" y="4343400"/>
            <a:ext cx="4626864" cy="384048"/>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What it demonstrates</a:t>
            </a:r>
            <a:endParaRPr lang="en-US" sz="1700" dirty="0"/>
          </a:p>
        </p:txBody>
      </p:sp>
      <p:sp>
        <p:nvSpPr>
          <p:cNvPr id="12" name="Text 10"/>
          <p:cNvSpPr/>
          <p:nvPr/>
        </p:nvSpPr>
        <p:spPr>
          <a:xfrm>
            <a:off x="6830568" y="4800600"/>
            <a:ext cx="4626864" cy="146304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At-risk graduates can be recovered at high rates from attributes available at or shortly after graduation: 1,870 of 2,192 correctly identified, a recall of 85.3%. This is the operationally relevant capability for an early-warning system.</a:t>
            </a:r>
            <a:endParaRPr lang="en-US" sz="1450" dirty="0"/>
          </a:p>
        </p:txBody>
      </p:sp>
      <p:sp>
        <p:nvSpPr>
          <p:cNvPr id="13" name="Shape 11"/>
          <p:cNvSpPr/>
          <p:nvPr/>
        </p:nvSpPr>
        <p:spPr>
          <a:xfrm>
            <a:off x="12207240" y="4114800"/>
            <a:ext cx="5394960" cy="2286000"/>
          </a:xfrm>
          <a:prstGeom prst="roundRect">
            <a:avLst>
              <a:gd name="adj" fmla="val 3600"/>
            </a:avLst>
          </a:prstGeom>
          <a:solidFill>
            <a:srgbClr val="F4F6F8"/>
          </a:solidFill>
          <a:ln w="12700">
            <a:solidFill>
              <a:srgbClr val="D7DCE1"/>
            </a:solidFill>
            <a:prstDash val="solid"/>
          </a:ln>
        </p:spPr>
      </p:sp>
      <p:sp>
        <p:nvSpPr>
          <p:cNvPr id="14" name="Text 12"/>
          <p:cNvSpPr/>
          <p:nvPr/>
        </p:nvSpPr>
        <p:spPr>
          <a:xfrm>
            <a:off x="12591288" y="4343400"/>
            <a:ext cx="4626864" cy="384048"/>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What it does not settle</a:t>
            </a:r>
            <a:endParaRPr lang="en-US" sz="1700" dirty="0"/>
          </a:p>
        </p:txBody>
      </p:sp>
      <p:sp>
        <p:nvSpPr>
          <p:cNvPr id="15" name="Text 13"/>
          <p:cNvSpPr/>
          <p:nvPr/>
        </p:nvSpPr>
        <p:spPr>
          <a:xfrm>
            <a:off x="12591288" y="4800600"/>
            <a:ext cx="4626864" cy="1463040"/>
          </a:xfrm>
          <a:prstGeom prst="rect">
            <a:avLst/>
          </a:prstGeom>
          <a:noFill/>
          <a:ln/>
        </p:spPr>
        <p:txBody>
          <a:bodyPr wrap="square" lIns="0" tIns="0" rIns="0" bIns="0" rtlCol="0" anchor="t"/>
          <a:lstStyle/>
          <a:p>
            <a:pPr marL="0" indent="0">
              <a:lnSpc>
                <a:spcPts val="1914"/>
              </a:lnSpc>
              <a:buNone/>
            </a:pPr>
            <a:r>
              <a:rPr lang="en-US" sz="1450" dirty="0">
                <a:solidFill>
                  <a:srgbClr val="000000"/>
                </a:solidFill>
                <a:latin typeface="Calibri" pitchFamily="34" charset="0"/>
                <a:ea typeface="Calibri" pitchFamily="34" charset="-122"/>
                <a:cs typeface="Calibri" pitchFamily="34" charset="-120"/>
              </a:rPr>
              <a:t>It does so at 0.36 minority precision and 63.84% overall accuracy — below the 78.08% baseline — indicating a configuration over-corrected toward the minority class that requires recalibration before deployment.</a:t>
            </a:r>
            <a:endParaRPr lang="en-US" sz="1450" dirty="0"/>
          </a:p>
        </p:txBody>
      </p:sp>
      <p:sp>
        <p:nvSpPr>
          <p:cNvPr id="16" name="Text 14"/>
          <p:cNvSpPr/>
          <p:nvPr/>
        </p:nvSpPr>
        <p:spPr>
          <a:xfrm>
            <a:off x="685800" y="6693408"/>
            <a:ext cx="16916400" cy="274320"/>
          </a:xfrm>
          <a:prstGeom prst="rect">
            <a:avLst/>
          </a:prstGeom>
          <a:noFill/>
          <a:ln/>
        </p:spPr>
        <p:txBody>
          <a:bodyPr wrap="square" lIns="0" tIns="0" rIns="0" bIns="0" rtlCol="0" anchor="ctr"/>
          <a:lstStyle/>
          <a:p>
            <a:pPr marL="0" indent="0">
              <a:buNone/>
            </a:pPr>
            <a:r>
              <a:rPr lang="en-US" sz="1500" b="1" kern="0" spc="240" dirty="0">
                <a:solidFill>
                  <a:srgbClr val="000000"/>
                </a:solidFill>
                <a:latin typeface="Calibri" pitchFamily="34" charset="0"/>
                <a:ea typeface="Calibri" pitchFamily="34" charset="-122"/>
                <a:cs typeface="Calibri" pitchFamily="34" charset="-120"/>
              </a:rPr>
              <a:t>FUTURE WORK  (SECTION 6.3)</a:t>
            </a:r>
            <a:endParaRPr lang="en-US" sz="1500" dirty="0"/>
          </a:p>
        </p:txBody>
      </p:sp>
      <p:sp>
        <p:nvSpPr>
          <p:cNvPr id="17" name="Shape 15"/>
          <p:cNvSpPr/>
          <p:nvPr/>
        </p:nvSpPr>
        <p:spPr>
          <a:xfrm>
            <a:off x="685800" y="7178040"/>
            <a:ext cx="4023360" cy="2514600"/>
          </a:xfrm>
          <a:prstGeom prst="roundRect">
            <a:avLst>
              <a:gd name="adj" fmla="val 3273"/>
            </a:avLst>
          </a:prstGeom>
          <a:solidFill>
            <a:srgbClr val="E7EBEF"/>
          </a:solidFill>
          <a:ln w="12700">
            <a:solidFill>
              <a:srgbClr val="D7DCE1"/>
            </a:solidFill>
            <a:prstDash val="solid"/>
          </a:ln>
        </p:spPr>
      </p:sp>
      <p:sp>
        <p:nvSpPr>
          <p:cNvPr id="18" name="Shape 16"/>
          <p:cNvSpPr/>
          <p:nvPr/>
        </p:nvSpPr>
        <p:spPr>
          <a:xfrm>
            <a:off x="1014984" y="7424928"/>
            <a:ext cx="3364992" cy="420624"/>
          </a:xfrm>
          <a:prstGeom prst="rect">
            <a:avLst/>
          </a:prstGeom>
          <a:solidFill>
            <a:srgbClr val="27405E"/>
          </a:solidFill>
          <a:ln w="12700">
            <a:solidFill>
              <a:srgbClr val="27405E"/>
            </a:solidFill>
            <a:prstDash val="solid"/>
          </a:ln>
        </p:spPr>
      </p:sp>
      <p:sp>
        <p:nvSpPr>
          <p:cNvPr id="19" name="Text 17"/>
          <p:cNvSpPr/>
          <p:nvPr/>
        </p:nvSpPr>
        <p:spPr>
          <a:xfrm>
            <a:off x="1014984" y="7424928"/>
            <a:ext cx="3364992"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Complete the present analysis</a:t>
            </a:r>
            <a:endParaRPr lang="en-US" sz="1400" dirty="0"/>
          </a:p>
        </p:txBody>
      </p:sp>
      <p:sp>
        <p:nvSpPr>
          <p:cNvPr id="20" name="Text 18"/>
          <p:cNvSpPr/>
          <p:nvPr/>
        </p:nvSpPr>
        <p:spPr>
          <a:xfrm>
            <a:off x="1014984" y="8001000"/>
            <a:ext cx="3364992" cy="1600200"/>
          </a:xfrm>
          <a:prstGeom prst="rect">
            <a:avLst/>
          </a:prstGeom>
          <a:noFill/>
          <a:ln/>
        </p:spPr>
        <p:txBody>
          <a:bodyPr wrap="square" lIns="0" tIns="0" rIns="0" bIns="0" rtlCol="0" anchor="t"/>
          <a:lstStyle/>
          <a:p>
            <a:pPr marL="0" indent="0">
              <a:lnSpc>
                <a:spcPts val="1782"/>
              </a:lnSpc>
              <a:buNone/>
            </a:pPr>
            <a:r>
              <a:rPr lang="en-US" sz="1350" dirty="0">
                <a:solidFill>
                  <a:srgbClr val="000000"/>
                </a:solidFill>
                <a:latin typeface="Calibri" pitchFamily="34" charset="0"/>
                <a:ea typeface="Calibri" pitchFamily="34" charset="-122"/>
                <a:cs typeface="Calibri" pitchFamily="34" charset="-120"/>
              </a:rPr>
              <a:t>Execute the RQ3 comparison across Logistic Regression, Decision Tree, Random Forest and SVM on the identical split; compute ROC-AUC and precision–recall curves; evaluate the three imbalance levers separately; replace the hold-out with k-fold cross-validation; compute Cohen's d.</a:t>
            </a:r>
            <a:endParaRPr lang="en-US" sz="1350" dirty="0"/>
          </a:p>
        </p:txBody>
      </p:sp>
      <p:sp>
        <p:nvSpPr>
          <p:cNvPr id="21" name="Shape 19"/>
          <p:cNvSpPr/>
          <p:nvPr/>
        </p:nvSpPr>
        <p:spPr>
          <a:xfrm>
            <a:off x="4983480" y="7178040"/>
            <a:ext cx="4023360" cy="2514600"/>
          </a:xfrm>
          <a:prstGeom prst="roundRect">
            <a:avLst>
              <a:gd name="adj" fmla="val 3273"/>
            </a:avLst>
          </a:prstGeom>
          <a:solidFill>
            <a:srgbClr val="F4F6F8"/>
          </a:solidFill>
          <a:ln w="12700">
            <a:solidFill>
              <a:srgbClr val="D7DCE1"/>
            </a:solidFill>
            <a:prstDash val="solid"/>
          </a:ln>
        </p:spPr>
      </p:sp>
      <p:sp>
        <p:nvSpPr>
          <p:cNvPr id="22" name="Shape 20"/>
          <p:cNvSpPr/>
          <p:nvPr/>
        </p:nvSpPr>
        <p:spPr>
          <a:xfrm>
            <a:off x="5312664" y="7424928"/>
            <a:ext cx="3364992" cy="420624"/>
          </a:xfrm>
          <a:prstGeom prst="rect">
            <a:avLst/>
          </a:prstGeom>
          <a:solidFill>
            <a:srgbClr val="35597A"/>
          </a:solidFill>
          <a:ln w="12700">
            <a:solidFill>
              <a:srgbClr val="35597A"/>
            </a:solidFill>
            <a:prstDash val="solid"/>
          </a:ln>
        </p:spPr>
      </p:sp>
      <p:sp>
        <p:nvSpPr>
          <p:cNvPr id="23" name="Text 21"/>
          <p:cNvSpPr/>
          <p:nvPr/>
        </p:nvSpPr>
        <p:spPr>
          <a:xfrm>
            <a:off x="5312664" y="7424928"/>
            <a:ext cx="3364992"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Collect the data now missing</a:t>
            </a:r>
            <a:endParaRPr lang="en-US" sz="1400" dirty="0"/>
          </a:p>
        </p:txBody>
      </p:sp>
      <p:sp>
        <p:nvSpPr>
          <p:cNvPr id="24" name="Text 22"/>
          <p:cNvSpPr/>
          <p:nvPr/>
        </p:nvSpPr>
        <p:spPr>
          <a:xfrm>
            <a:off x="5312664" y="8001000"/>
            <a:ext cx="3364992" cy="1600200"/>
          </a:xfrm>
          <a:prstGeom prst="rect">
            <a:avLst/>
          </a:prstGeom>
          <a:noFill/>
          <a:ln/>
        </p:spPr>
        <p:txBody>
          <a:bodyPr wrap="square" lIns="0" tIns="0" rIns="0" bIns="0" rtlCol="0" anchor="t"/>
          <a:lstStyle/>
          <a:p>
            <a:pPr marL="0" indent="0">
              <a:lnSpc>
                <a:spcPts val="1782"/>
              </a:lnSpc>
              <a:buNone/>
            </a:pPr>
            <a:r>
              <a:rPr lang="en-US" sz="1350" dirty="0">
                <a:solidFill>
                  <a:srgbClr val="000000"/>
                </a:solidFill>
                <a:latin typeface="Calibri" pitchFamily="34" charset="0"/>
                <a:ea typeface="Calibri" pitchFamily="34" charset="-122"/>
                <a:cs typeface="Calibri" pitchFamily="34" charset="-120"/>
              </a:rPr>
              <a:t>Internship duration, sector and conversion; certification issuer and recency; specific languages and frameworks; portfolio substance beyond a binary flag; socio-economic, institutional, geographic and longitudinal data (Table 6.1).</a:t>
            </a:r>
            <a:endParaRPr lang="en-US" sz="1350" dirty="0"/>
          </a:p>
        </p:txBody>
      </p:sp>
      <p:sp>
        <p:nvSpPr>
          <p:cNvPr id="25" name="Shape 23"/>
          <p:cNvSpPr/>
          <p:nvPr/>
        </p:nvSpPr>
        <p:spPr>
          <a:xfrm>
            <a:off x="9281160" y="7178040"/>
            <a:ext cx="4023360" cy="2514600"/>
          </a:xfrm>
          <a:prstGeom prst="roundRect">
            <a:avLst>
              <a:gd name="adj" fmla="val 3273"/>
            </a:avLst>
          </a:prstGeom>
          <a:solidFill>
            <a:srgbClr val="E7EBEF"/>
          </a:solidFill>
          <a:ln w="12700">
            <a:solidFill>
              <a:srgbClr val="D7DCE1"/>
            </a:solidFill>
            <a:prstDash val="solid"/>
          </a:ln>
        </p:spPr>
      </p:sp>
      <p:sp>
        <p:nvSpPr>
          <p:cNvPr id="26" name="Shape 24"/>
          <p:cNvSpPr/>
          <p:nvPr/>
        </p:nvSpPr>
        <p:spPr>
          <a:xfrm>
            <a:off x="9610344" y="7424928"/>
            <a:ext cx="3364992" cy="420624"/>
          </a:xfrm>
          <a:prstGeom prst="rect">
            <a:avLst/>
          </a:prstGeom>
          <a:solidFill>
            <a:srgbClr val="3B7488"/>
          </a:solidFill>
          <a:ln w="12700">
            <a:solidFill>
              <a:srgbClr val="3B7488"/>
            </a:solidFill>
            <a:prstDash val="solid"/>
          </a:ln>
        </p:spPr>
      </p:sp>
      <p:sp>
        <p:nvSpPr>
          <p:cNvPr id="27" name="Text 25"/>
          <p:cNvSpPr/>
          <p:nvPr/>
        </p:nvSpPr>
        <p:spPr>
          <a:xfrm>
            <a:off x="9610344" y="7424928"/>
            <a:ext cx="3364992"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Validate, extend and audit</a:t>
            </a:r>
            <a:endParaRPr lang="en-US" sz="1400" dirty="0"/>
          </a:p>
        </p:txBody>
      </p:sp>
      <p:sp>
        <p:nvSpPr>
          <p:cNvPr id="28" name="Text 26"/>
          <p:cNvSpPr/>
          <p:nvPr/>
        </p:nvSpPr>
        <p:spPr>
          <a:xfrm>
            <a:off x="9610344" y="8001000"/>
            <a:ext cx="3364992" cy="1600200"/>
          </a:xfrm>
          <a:prstGeom prst="rect">
            <a:avLst/>
          </a:prstGeom>
          <a:noFill/>
          <a:ln/>
        </p:spPr>
        <p:txBody>
          <a:bodyPr wrap="square" lIns="0" tIns="0" rIns="0" bIns="0" rtlCol="0" anchor="t"/>
          <a:lstStyle/>
          <a:p>
            <a:pPr marL="0" indent="0">
              <a:lnSpc>
                <a:spcPts val="1782"/>
              </a:lnSpc>
              <a:buNone/>
            </a:pPr>
            <a:r>
              <a:rPr lang="en-US" sz="1350" dirty="0">
                <a:solidFill>
                  <a:srgbClr val="000000"/>
                </a:solidFill>
                <a:latin typeface="Calibri" pitchFamily="34" charset="0"/>
                <a:ea typeface="Calibri" pitchFamily="34" charset="-122"/>
                <a:cs typeface="Calibri" pitchFamily="34" charset="-120"/>
              </a:rPr>
              <a:t>External validation by training on one dataset and testing on an independently collected one; LightGBM, CatBoost and stacking ensembles; NLP of CVs; subgroup fairness audit using the excluded demographic attributes as audit variables rather than predictors.</a:t>
            </a:r>
            <a:endParaRPr lang="en-US" sz="1350" dirty="0"/>
          </a:p>
        </p:txBody>
      </p:sp>
      <p:sp>
        <p:nvSpPr>
          <p:cNvPr id="29" name="Shape 27"/>
          <p:cNvSpPr/>
          <p:nvPr/>
        </p:nvSpPr>
        <p:spPr>
          <a:xfrm>
            <a:off x="13578840" y="7178040"/>
            <a:ext cx="4023360" cy="2514600"/>
          </a:xfrm>
          <a:prstGeom prst="roundRect">
            <a:avLst>
              <a:gd name="adj" fmla="val 3273"/>
            </a:avLst>
          </a:prstGeom>
          <a:solidFill>
            <a:srgbClr val="F4F6F8"/>
          </a:solidFill>
          <a:ln w="12700">
            <a:solidFill>
              <a:srgbClr val="D7DCE1"/>
            </a:solidFill>
            <a:prstDash val="solid"/>
          </a:ln>
        </p:spPr>
      </p:sp>
      <p:sp>
        <p:nvSpPr>
          <p:cNvPr id="30" name="Shape 28"/>
          <p:cNvSpPr/>
          <p:nvPr/>
        </p:nvSpPr>
        <p:spPr>
          <a:xfrm>
            <a:off x="13908024" y="7424928"/>
            <a:ext cx="3364992" cy="420624"/>
          </a:xfrm>
          <a:prstGeom prst="rect">
            <a:avLst/>
          </a:prstGeom>
          <a:solidFill>
            <a:srgbClr val="4192A6"/>
          </a:solidFill>
          <a:ln w="12700">
            <a:solidFill>
              <a:srgbClr val="4192A6"/>
            </a:solidFill>
            <a:prstDash val="solid"/>
          </a:ln>
        </p:spPr>
      </p:sp>
      <p:sp>
        <p:nvSpPr>
          <p:cNvPr id="31" name="Text 29"/>
          <p:cNvSpPr/>
          <p:nvPr/>
        </p:nvSpPr>
        <p:spPr>
          <a:xfrm>
            <a:off x="13908024" y="7424928"/>
            <a:ext cx="3364992"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Deploy the system</a:t>
            </a:r>
            <a:endParaRPr lang="en-US" sz="1400" dirty="0"/>
          </a:p>
        </p:txBody>
      </p:sp>
      <p:sp>
        <p:nvSpPr>
          <p:cNvPr id="32" name="Text 30"/>
          <p:cNvSpPr/>
          <p:nvPr/>
        </p:nvSpPr>
        <p:spPr>
          <a:xfrm>
            <a:off x="13908024" y="8001000"/>
            <a:ext cx="3364992" cy="1600200"/>
          </a:xfrm>
          <a:prstGeom prst="rect">
            <a:avLst/>
          </a:prstGeom>
          <a:noFill/>
          <a:ln/>
        </p:spPr>
        <p:txBody>
          <a:bodyPr wrap="square" lIns="0" tIns="0" rIns="0" bIns="0" rtlCol="0" anchor="t"/>
          <a:lstStyle/>
          <a:p>
            <a:pPr marL="0" indent="0">
              <a:lnSpc>
                <a:spcPts val="1782"/>
              </a:lnSpc>
              <a:buNone/>
            </a:pPr>
            <a:r>
              <a:rPr lang="en-US" sz="1350" dirty="0">
                <a:solidFill>
                  <a:srgbClr val="000000"/>
                </a:solidFill>
                <a:latin typeface="Calibri" pitchFamily="34" charset="0"/>
                <a:ea typeface="Calibri" pitchFamily="34" charset="-122"/>
                <a:cs typeface="Calibri" pitchFamily="34" charset="-120"/>
              </a:rPr>
              <a:t>Implement SHAP against the actual 18-feature pipeline; build the interactive dashboard on the API (FR5, NFR6); expose administrator retraining (FR6, FR7); pilot within a university career service as a live early-warning tool.</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852160" y="3703320"/>
            <a:ext cx="6583680" cy="2194560"/>
          </a:xfrm>
          <a:prstGeom prst="roundRect">
            <a:avLst>
              <a:gd name="adj" fmla="val 3750"/>
            </a:avLst>
          </a:prstGeom>
          <a:solidFill>
            <a:srgbClr val="F4F6F8"/>
          </a:solidFill>
          <a:ln w="12700">
            <a:solidFill>
              <a:srgbClr val="D7DCE1"/>
            </a:solidFill>
            <a:prstDash val="solid"/>
          </a:ln>
        </p:spPr>
      </p:sp>
      <p:sp>
        <p:nvSpPr>
          <p:cNvPr id="3" name="Shape 1"/>
          <p:cNvSpPr/>
          <p:nvPr/>
        </p:nvSpPr>
        <p:spPr>
          <a:xfrm rot="10800000">
            <a:off x="8755380" y="5870448"/>
            <a:ext cx="777240" cy="384048"/>
          </a:xfrm>
          <a:prstGeom prst="triangle">
            <a:avLst/>
          </a:prstGeom>
          <a:solidFill>
            <a:srgbClr val="F4F6F8"/>
          </a:solidFill>
          <a:ln w="12700">
            <a:solidFill>
              <a:srgbClr val="F4F6F8"/>
            </a:solidFill>
            <a:prstDash val="solid"/>
          </a:ln>
        </p:spPr>
      </p:sp>
      <p:sp>
        <p:nvSpPr>
          <p:cNvPr id="4" name="Text 2"/>
          <p:cNvSpPr/>
          <p:nvPr/>
        </p:nvSpPr>
        <p:spPr>
          <a:xfrm>
            <a:off x="5852160" y="3703320"/>
            <a:ext cx="6583680" cy="2194560"/>
          </a:xfrm>
          <a:prstGeom prst="rect">
            <a:avLst/>
          </a:prstGeom>
          <a:noFill/>
          <a:ln/>
        </p:spPr>
        <p:txBody>
          <a:bodyPr wrap="square" lIns="0" tIns="0" rIns="0" bIns="0" rtlCol="0" anchor="ctr"/>
          <a:lstStyle/>
          <a:p>
            <a:pPr marL="0" indent="0" algn="ctr">
              <a:buNone/>
            </a:pPr>
            <a:r>
              <a:rPr lang="en-US" sz="4600" b="1" kern="0" spc="200" dirty="0">
                <a:solidFill>
                  <a:srgbClr val="000000"/>
                </a:solidFill>
                <a:latin typeface="Calibri" pitchFamily="34" charset="0"/>
                <a:ea typeface="Calibri" pitchFamily="34" charset="-122"/>
                <a:cs typeface="Calibri" pitchFamily="34" charset="-120"/>
              </a:rPr>
              <a:t>THANK YOU!</a:t>
            </a:r>
            <a:endParaRPr lang="en-US" sz="4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5204</Words>
  <Application>Microsoft Office PowerPoint</Application>
  <PresentationFormat>Custom</PresentationFormat>
  <Paragraphs>465</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13</cp:revision>
  <dcterms:created xsi:type="dcterms:W3CDTF">2026-08-23T05:31:47Z</dcterms:created>
  <dcterms:modified xsi:type="dcterms:W3CDTF">2026-08-24T03:47:04Z</dcterms:modified>
</cp:coreProperties>
</file>